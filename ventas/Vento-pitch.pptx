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900883c-fa98-0b33-d129-c14108e255e6}">
          <p14:sldIdLst>
            <p14:sldId id="256"/>
          </p14:sldIdLst>
        </p14:section>
        <p14:section name="Problem" id="{099f276b-1223-087c-9a03-1806e0573696}">
          <p14:sldIdLst>
            <p14:sldId id="257"/>
          </p14:sldIdLst>
        </p14:section>
        <p14:section name="Product" id="{9089c52f-656e-0966-1b84-b18b89f03665}">
          <p14:sldIdLst>
            <p14:sldId id="258"/>
            <p14:sldId id="259"/>
            <p14:sldId id="260"/>
            <p14:sldId id="261"/>
            <p14:sldId id="262"/>
            <p14:sldId id="263"/>
          </p14:sldIdLst>
        </p14:section>
        <p14:section name="Market" id="{9beb6ed0-cfb0-cdc2-cd8a-00c4f6a414d8}">
          <p14:sldIdLst>
            <p14:sldId id="264"/>
            <p14:sldId id="265"/>
          </p14:sldIdLst>
        </p14:section>
        <p14:section name="Business" id="{0e9b0a2f-874a-697e-5f5c-6576bfe22c50}">
          <p14:sldIdLst>
            <p14:sldId id="266"/>
            <p14:sldId id="267"/>
            <p14:sldId id="268"/>
            <p14:sldId id="269"/>
            <p14:sldId id="270"/>
            <p14:sldId id="271"/>
          </p14:sldIdLst>
        </p14:section>
        <p14:section name="Vision" id="{a173ada9-8ca4-e66e-97b1-2f8d46acc2f1}">
          <p14:sldIdLst>
            <p14:sldId id="272"/>
            <p14:sldId id="273"/>
            <p14:sldId id="274"/>
            <p14:sldId id="275"/>
          </p14:sldIdLst>
        </p14:section>
        <p14:section name="Closing" id="{23e3a549-d719-4a0d-c146-b4b82dfe7794}">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Commands shown in English for the audience; Vento understands Colombian Spanish, including local beer and product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in the product. Bank notifications are forwarded to Vento (today with the free MacroDroid app on the business phone, or through the Vento server). Vento charges no transaction or verification fee; any fees set by banks or wallets are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Referral and partner programs are planned; validate conversion rates in the pilots.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Vision: hardware that turns Vento into the voice of the counter. Today the same experience works with a tablet running Vento and “Hola Vento”.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both founders’ names, photos and one line of background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ITCH_HERO">
    <p:bg>
      <p:bgPr>
        <a:solidFill>
          <a:srgbClr val="0B0A1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5120640" cy="1280160"/>
          </a:xfrm>
          <a:prstGeom prst="rect">
            <a:avLst/>
          </a:prstGeom>
          <a:noFill/>
          <a:ln/>
        </p:spPr>
        <p:txBody>
          <a:bodyPr wrap="square" rtlCol="0"/>
          <a:lstStyle>
            <a:lvl1pPr indent="0" marL="0">
              <a:buNone/>
              <a:defRPr lang="en-US" sz="6000" b="1" dirty="0">
                <a:solidFill>
                  <a:schemeClr val="bg1"/>
                </a:solidFill>
              </a:defRPr>
            </a:lvl1pPr>
          </a:lstStyle>
          <a:p>
            <a:pPr indent="0" marL="0">
              <a:buNone/>
            </a:pPr>
            <a:endParaRPr lang="en-US" sz="6000" dirty="0"/>
          </a:p>
        </p:txBody>
      </p:sp>
      <p:sp>
        <p:nvSpPr>
          <p:cNvPr id="3" name="Text 0"/>
          <p:cNvSpPr/>
          <p:nvPr>
            <p:ph idx="101" type="body" hasCustomPrompt="1"/>
          </p:nvPr>
        </p:nvSpPr>
        <p:spPr>
          <a:xfrm>
            <a:off x="640080" y="2788920"/>
            <a:ext cx="4754880" cy="1280160"/>
          </a:xfrm>
          <a:prstGeom prst="rect">
            <a:avLst/>
          </a:prstGeom>
          <a:noFill/>
          <a:ln/>
        </p:spPr>
        <p:txBody>
          <a:bodyPr wrap="square" rtlCol="0"/>
          <a:lstStyle>
            <a:lvl1pPr indent="0" marL="0">
              <a:buNone/>
              <a:defRPr lang="en-US" sz="2000" dirty="0">
                <a:solidFill>
                  <a:schemeClr val="accent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ITCH_CONTENT">
    <p:bg>
      <p:bgPr>
        <a:solidFill>
          <a:srgbClr val="0B0A1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66928"/>
            <a:ext cx="7863840" cy="64008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A8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A8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image" Target="../media/image-7-16.png"/><Relationship Id="rId17" Type="http://schemas.openxmlformats.org/officeDocument/2006/relationships/slideLayout" Target="../slideLayouts/slideLayout3.xml"/><Relationship Id="rId1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3.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3.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3.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Background light"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Vento logo" descr="preencoded.png">    </p:cNvPr>
          <p:cNvPicPr>
            <a:picLocks noChangeAspect="1"/>
          </p:cNvPicPr>
          <p:nvPr/>
        </p:nvPicPr>
        <p:blipFill>
          <a:blip r:embed="rId2"/>
          <a:stretch>
            <a:fillRect/>
          </a:stretch>
        </p:blipFill>
        <p:spPr>
          <a:xfrm>
            <a:off x="640080" y="548640"/>
            <a:ext cx="731520" cy="731520"/>
          </a:xfrm>
          <a:prstGeom prst="rect">
            <a:avLst/>
          </a:prstGeom>
        </p:spPr>
      </p:pic>
      <p:sp>
        <p:nvSpPr>
          <p:cNvPr id="4" name="Text 0"/>
          <p:cNvSpPr/>
          <p:nvPr>
            <p:ph idx="100" type="title" hasCustomPrompt="1"/>
          </p:nvPr>
        </p:nvSpPr>
        <p:spPr>
          <a:xfrm>
            <a:off x="640080" y="1417320"/>
            <a:ext cx="5120640" cy="1280160"/>
          </a:xfrm>
          <a:prstGeom prst="rect">
            <a:avLst/>
          </a:prstGeom>
          <a:noFill/>
          <a:ln/>
        </p:spPr>
        <p:txBody>
          <a:bodyPr wrap="square" lIns="0" tIns="0" rIns="0" bIns="0" rtlCol="0" anchor="b"/>
          <a:lstStyle/>
          <a:p>
            <a:pPr indent="0" marL="0">
              <a:buNone/>
            </a:pPr>
            <a:r>
              <a:rPr lang="en-US" sz="6000" b="1" dirty="0">
                <a:solidFill>
                  <a:schemeClr val="bg1"/>
                </a:solidFill>
              </a:rPr>
              <a:t>Vento</a:t>
            </a:r>
            <a:endParaRPr lang="en-US" sz="6000" dirty="0"/>
          </a:p>
        </p:txBody>
      </p:sp>
      <p:sp>
        <p:nvSpPr>
          <p:cNvPr id="5" name="Text 0"/>
          <p:cNvSpPr/>
          <p:nvPr>
            <p:ph idx="101" type="body" hasCustomPrompt="1"/>
          </p:nvPr>
        </p:nvSpPr>
        <p:spPr>
          <a:xfrm>
            <a:off x="640080" y="2788920"/>
            <a:ext cx="4754880" cy="1280160"/>
          </a:xfrm>
          <a:prstGeom prst="rect">
            <a:avLst/>
          </a:prstGeom>
          <a:noFill/>
          <a:ln/>
        </p:spPr>
        <p:txBody>
          <a:bodyPr wrap="square" lIns="0" tIns="0" rIns="0" bIns="0" rtlCol="0" anchor="t"/>
          <a:lstStyle/>
          <a:p>
            <a:pPr indent="0" marL="0">
              <a:spcAft>
                <a:spcPts val="1200"/>
              </a:spcAft>
              <a:buNone/>
            </a:pPr>
            <a:r>
              <a:rPr lang="en-US" sz="2000" b="1" dirty="0">
                <a:solidFill>
                  <a:schemeClr val="accent2"/>
                </a:solidFill>
              </a:rPr>
              <a:t>The voice-first operating system for Latin America’s small businesses.</a:t>
            </a:r>
            <a:endParaRPr lang="en-US" sz="2000" dirty="0"/>
          </a:p>
          <a:p>
            <a:pPr indent="0" marL="0">
              <a:buNone/>
            </a:pPr>
            <a:r>
              <a:rPr lang="en-US" sz="1400" dirty="0">
                <a:solidFill>
                  <a:srgbClr val="B9B5CF"/>
                </a:solidFill>
              </a:rPr>
              <a:t>Sell, verify payments, run inventory and talk to your business — from the phone you already own.</a:t>
            </a:r>
            <a:endParaRPr lang="en-US" sz="2000" dirty="0"/>
          </a:p>
        </p:txBody>
      </p:sp>
      <p:sp>
        <p:nvSpPr>
          <p:cNvPr id="6" name="Pill LIVE · WEB + ANDROID"/>
          <p:cNvSpPr/>
          <p:nvPr/>
        </p:nvSpPr>
        <p:spPr>
          <a:xfrm>
            <a:off x="640080" y="4343400"/>
            <a:ext cx="1920240" cy="292608"/>
          </a:xfrm>
          <a:prstGeom prst="roundRect">
            <a:avLst>
              <a:gd name="adj" fmla="val 50000"/>
            </a:avLst>
          </a:prstGeom>
          <a:solidFill>
            <a:srgbClr val="10251D"/>
          </a:solidFill>
          <a:ln w="9525">
            <a:solidFill>
              <a:srgbClr val="34D399"/>
            </a:solidFill>
            <a:prstDash val="solid"/>
          </a:ln>
        </p:spPr>
      </p:sp>
      <p:sp>
        <p:nvSpPr>
          <p:cNvPr id="7" name="Pill text LIVE · WEB + ANDROID"/>
          <p:cNvSpPr txBox="1"/>
          <p:nvPr/>
        </p:nvSpPr>
        <p:spPr>
          <a:xfrm>
            <a:off x="640080" y="4343400"/>
            <a:ext cx="1920240" cy="292608"/>
          </a:xfrm>
          <a:prstGeom prst="rect">
            <a:avLst/>
          </a:prstGeom>
          <a:noFill/>
          <a:ln/>
        </p:spPr>
        <p:txBody>
          <a:bodyPr wrap="square" lIns="0" tIns="0" rIns="0" bIns="0" rtlCol="0" anchor="ctr"/>
          <a:lstStyle/>
          <a:p>
            <a:pPr algn="ctr" indent="0" marL="0">
              <a:buNone/>
            </a:pPr>
            <a:r>
              <a:rPr lang="en-US" sz="900" b="1" spc="100" kern="0" dirty="0">
                <a:solidFill>
                  <a:srgbClr val="34D399"/>
                </a:solidFill>
              </a:rPr>
              <a:t>LIVE · WEB + ANDROID</a:t>
            </a:r>
            <a:endParaRPr lang="en-US" sz="900" dirty="0"/>
          </a:p>
        </p:txBody>
      </p:sp>
      <p:sp>
        <p:nvSpPr>
          <p:cNvPr id="8" name="Pill MADE IN COLOMBIA"/>
          <p:cNvSpPr/>
          <p:nvPr/>
        </p:nvSpPr>
        <p:spPr>
          <a:xfrm>
            <a:off x="2697480" y="4343400"/>
            <a:ext cx="1691640" cy="292608"/>
          </a:xfrm>
          <a:prstGeom prst="roundRect">
            <a:avLst>
              <a:gd name="adj" fmla="val 50000"/>
            </a:avLst>
          </a:prstGeom>
          <a:solidFill>
            <a:srgbClr val="211A3D"/>
          </a:solidFill>
          <a:ln w="9525">
            <a:solidFill>
              <a:srgbClr val="C4B5FD"/>
            </a:solidFill>
            <a:prstDash val="solid"/>
          </a:ln>
        </p:spPr>
      </p:sp>
      <p:sp>
        <p:nvSpPr>
          <p:cNvPr id="9" name="Pill text MADE IN COLOMBIA"/>
          <p:cNvSpPr txBox="1"/>
          <p:nvPr/>
        </p:nvSpPr>
        <p:spPr>
          <a:xfrm>
            <a:off x="2697480" y="4343400"/>
            <a:ext cx="1691640" cy="292608"/>
          </a:xfrm>
          <a:prstGeom prst="rect">
            <a:avLst/>
          </a:prstGeom>
          <a:noFill/>
          <a:ln/>
        </p:spPr>
        <p:txBody>
          <a:bodyPr wrap="square" lIns="0" tIns="0" rIns="0" bIns="0" rtlCol="0" anchor="ctr"/>
          <a:lstStyle/>
          <a:p>
            <a:pPr algn="ctr" indent="0" marL="0">
              <a:buNone/>
            </a:pPr>
            <a:r>
              <a:rPr lang="en-US" sz="900" b="1" spc="100" kern="0" dirty="0">
                <a:solidFill>
                  <a:srgbClr val="C4B5FD"/>
                </a:solidFill>
              </a:rPr>
              <a:t>MADE IN COLOMBIA</a:t>
            </a:r>
            <a:endParaRPr lang="en-US" sz="900" dirty="0"/>
          </a:p>
        </p:txBody>
      </p:sp>
      <p:sp>
        <p:nvSpPr>
          <p:cNvPr id="10" name="Tables screen frame"/>
          <p:cNvSpPr/>
          <p:nvPr/>
        </p:nvSpPr>
        <p:spPr>
          <a:xfrm>
            <a:off x="6336792" y="438912"/>
            <a:ext cx="2050531" cy="4288536"/>
          </a:xfrm>
          <a:prstGeom prst="roundRect">
            <a:avLst>
              <a:gd name="adj" fmla="val 9811"/>
            </a:avLst>
          </a:prstGeom>
          <a:solidFill>
            <a:srgbClr val="05050A"/>
          </a:solidFill>
          <a:ln w="19050">
            <a:solidFill>
              <a:srgbClr val="5B47A8"/>
            </a:solidFill>
            <a:prstDash val="solid"/>
          </a:ln>
          <a:effectLst>
            <a:outerShdw sx="100000" sy="100000" kx="0" ky="0" algn="bl" rotWithShape="0" blurRad="304800" dist="38100" dir="5400000">
              <a:srgbClr val="7C3AED">
                <a:alpha val="50000"/>
              </a:srgbClr>
            </a:outerShdw>
          </a:effectLst>
        </p:spPr>
      </p:sp>
      <p:pic>
        <p:nvPicPr>
          <p:cNvPr id="11" name="Tables screen" descr="preencoded.png">    </p:cNvPr>
          <p:cNvPicPr>
            <a:picLocks noChangeAspect="1"/>
          </p:cNvPicPr>
          <p:nvPr/>
        </p:nvPicPr>
        <p:blipFill>
          <a:blip r:embed="rId3"/>
          <a:stretch>
            <a:fillRect/>
          </a:stretch>
        </p:blipFill>
        <p:spPr>
          <a:xfrm>
            <a:off x="6400800" y="502920"/>
            <a:ext cx="1922515" cy="41605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Background light"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Kicker"/>
          <p:cNvSpPr txBox="1"/>
          <p:nvPr/>
        </p:nvSpPr>
        <p:spPr>
          <a:xfrm>
            <a:off x="640080" y="292608"/>
            <a:ext cx="5486400" cy="256032"/>
          </a:xfrm>
          <a:prstGeom prst="rect">
            <a:avLst/>
          </a:prstGeom>
          <a:noFill/>
          <a:ln/>
        </p:spPr>
        <p:txBody>
          <a:bodyPr wrap="square" lIns="0" tIns="0" rIns="0" bIns="0" rtlCol="0" anchor="ctr"/>
          <a:lstStyle/>
          <a:p>
            <a:pPr indent="0" marL="0">
              <a:buNone/>
            </a:pPr>
            <a:r>
              <a:rPr lang="en-US" sz="1050" b="1" spc="300" kern="0" dirty="0">
                <a:solidFill>
                  <a:srgbClr val="FB7185"/>
                </a:solidFill>
              </a:rPr>
              <a:t>THE PROBLEM</a:t>
            </a:r>
            <a:endParaRPr lang="en-US" sz="1050" dirty="0"/>
          </a:p>
        </p:txBody>
      </p:sp>
      <p:sp>
        <p:nvSpPr>
          <p:cNvPr id="4" name="Text 0"/>
          <p:cNvSpPr/>
          <p:nvPr>
            <p:ph idx="100" type="title" hasCustomPrompt="1"/>
          </p:nvPr>
        </p:nvSpPr>
        <p:spPr>
          <a:xfrm>
            <a:off x="640080" y="566928"/>
            <a:ext cx="7863840" cy="640080"/>
          </a:xfrm>
          <a:prstGeom prst="rect">
            <a:avLst/>
          </a:prstGeom>
          <a:noFill/>
          <a:ln/>
        </p:spPr>
        <p:txBody>
          <a:bodyPr wrap="square" lIns="0" tIns="0" rIns="0" bIns="0" rtlCol="0" anchor="ctr"/>
          <a:lstStyle/>
          <a:p>
            <a:pPr indent="0" marL="0">
              <a:buNone/>
            </a:pPr>
            <a:r>
              <a:rPr lang="en-US" sz="3000" b="1" dirty="0">
                <a:solidFill>
                  <a:schemeClr val="bg1"/>
                </a:solidFill>
              </a:rPr>
              <a:t>Run on paper. Paid by screenshot.</a:t>
            </a:r>
            <a:endParaRPr lang="en-US" sz="3000" dirty="0"/>
          </a:p>
        </p:txBody>
      </p:sp>
      <p:sp>
        <p:nvSpPr>
          <p:cNvPr id="5" name="Big stat card"/>
          <p:cNvSpPr/>
          <p:nvPr/>
        </p:nvSpPr>
        <p:spPr>
          <a:xfrm>
            <a:off x="640080" y="1417320"/>
            <a:ext cx="2834640" cy="3154680"/>
          </a:xfrm>
          <a:prstGeom prst="roundRect">
            <a:avLst>
              <a:gd name="adj" fmla="val 4516"/>
            </a:avLst>
          </a:prstGeom>
          <a:solidFill>
            <a:srgbClr val="1A1530"/>
          </a:solidFill>
          <a:ln w="9525">
            <a:solidFill>
              <a:srgbClr val="3B2F66"/>
            </a:solidFill>
            <a:prstDash val="solid"/>
          </a:ln>
        </p:spPr>
      </p:sp>
      <p:sp>
        <p:nvSpPr>
          <p:cNvPr id="6" name="Stat micro-businesses"/>
          <p:cNvSpPr txBox="1"/>
          <p:nvPr/>
        </p:nvSpPr>
        <p:spPr>
          <a:xfrm>
            <a:off x="868680" y="1600200"/>
            <a:ext cx="2468880" cy="91440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2.3M</a:t>
            </a:r>
            <a:endParaRPr lang="en-US" sz="6000" dirty="0"/>
          </a:p>
        </p:txBody>
      </p:sp>
      <p:sp>
        <p:nvSpPr>
          <p:cNvPr id="7" name="Stat label"/>
          <p:cNvSpPr txBox="1"/>
          <p:nvPr/>
        </p:nvSpPr>
        <p:spPr>
          <a:xfrm>
            <a:off x="868680" y="2560320"/>
            <a:ext cx="2423160" cy="731520"/>
          </a:xfrm>
          <a:prstGeom prst="rect">
            <a:avLst/>
          </a:prstGeom>
          <a:noFill/>
          <a:ln/>
        </p:spPr>
        <p:txBody>
          <a:bodyPr wrap="square" lIns="0" tIns="0" rIns="0" bIns="0" rtlCol="0" anchor="t"/>
          <a:lstStyle/>
          <a:p>
            <a:pPr indent="0" marL="0">
              <a:buNone/>
            </a:pPr>
            <a:r>
              <a:rPr lang="en-US" sz="1400" dirty="0">
                <a:solidFill>
                  <a:srgbClr val="C4B5FD"/>
                </a:solidFill>
              </a:rPr>
              <a:t>micro-businesses in Colombia’s 24 main cities alone.</a:t>
            </a:r>
            <a:endParaRPr lang="en-US" sz="1400" dirty="0"/>
          </a:p>
        </p:txBody>
      </p:sp>
      <p:sp>
        <p:nvSpPr>
          <p:cNvPr id="8" name="Stat note"/>
          <p:cNvSpPr txBox="1"/>
          <p:nvPr/>
        </p:nvSpPr>
        <p:spPr>
          <a:xfrm>
            <a:off x="868680" y="3429000"/>
            <a:ext cx="2423160" cy="914400"/>
          </a:xfrm>
          <a:prstGeom prst="rect">
            <a:avLst/>
          </a:prstGeom>
          <a:noFill/>
          <a:ln/>
        </p:spPr>
        <p:txBody>
          <a:bodyPr wrap="square" lIns="0" tIns="0" rIns="0" bIns="0" rtlCol="0" anchor="t"/>
          <a:lstStyle/>
          <a:p>
            <a:pPr indent="0" marL="0">
              <a:buNone/>
            </a:pPr>
            <a:r>
              <a:rPr lang="en-US" sz="1150" dirty="0">
                <a:solidFill>
                  <a:srgbClr val="A9A6BD"/>
                </a:solidFill>
              </a:rPr>
              <a:t>Bars, restaurants, corner stores, salons and workshops — most without a real system.</a:t>
            </a:r>
            <a:endParaRPr lang="en-US" sz="1150" dirty="0"/>
          </a:p>
        </p:txBody>
      </p:sp>
      <p:sp>
        <p:nvSpPr>
          <p:cNvPr id="9" name="Pain 1 circle"/>
          <p:cNvSpPr/>
          <p:nvPr/>
        </p:nvSpPr>
        <p:spPr>
          <a:xfrm>
            <a:off x="3794760" y="1463040"/>
            <a:ext cx="548640" cy="548640"/>
          </a:xfrm>
          <a:prstGeom prst="ellipse">
            <a:avLst/>
          </a:prstGeom>
          <a:solidFill>
            <a:srgbClr val="3B1F33"/>
          </a:solidFill>
          <a:ln w="12700">
            <a:solidFill>
              <a:srgbClr val="3B1F33"/>
            </a:solidFill>
            <a:prstDash val="solid"/>
          </a:ln>
        </p:spPr>
      </p:sp>
      <p:pic>
        <p:nvPicPr>
          <p:cNvPr id="10" name="Pain 1 icon" descr="preencoded.png">    </p:cNvPr>
          <p:cNvPicPr>
            <a:picLocks noChangeAspect="1"/>
          </p:cNvPicPr>
          <p:nvPr/>
        </p:nvPicPr>
        <p:blipFill>
          <a:blip r:embed="rId2"/>
          <a:stretch>
            <a:fillRect/>
          </a:stretch>
        </p:blipFill>
        <p:spPr>
          <a:xfrm>
            <a:off x="3931920" y="1600200"/>
            <a:ext cx="274320" cy="274320"/>
          </a:xfrm>
          <a:prstGeom prst="rect">
            <a:avLst/>
          </a:prstGeom>
        </p:spPr>
      </p:pic>
      <p:sp>
        <p:nvSpPr>
          <p:cNvPr id="11" name="Pain title 1"/>
          <p:cNvSpPr txBox="1"/>
          <p:nvPr/>
        </p:nvSpPr>
        <p:spPr>
          <a:xfrm>
            <a:off x="4526280" y="1417320"/>
            <a:ext cx="402336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Tabs on paper</a:t>
            </a:r>
            <a:endParaRPr lang="en-US" sz="1500" dirty="0"/>
          </a:p>
        </p:txBody>
      </p:sp>
      <p:sp>
        <p:nvSpPr>
          <p:cNvPr id="12" name="Pain text 1"/>
          <p:cNvSpPr txBox="1"/>
          <p:nvPr/>
        </p:nvSpPr>
        <p:spPr>
          <a:xfrm>
            <a:off x="4526280" y="1719072"/>
            <a:ext cx="4023360" cy="411480"/>
          </a:xfrm>
          <a:prstGeom prst="rect">
            <a:avLst/>
          </a:prstGeom>
          <a:noFill/>
          <a:ln/>
        </p:spPr>
        <p:txBody>
          <a:bodyPr wrap="square" lIns="0" tIns="0" rIns="0" bIns="0" rtlCol="0" anchor="t"/>
          <a:lstStyle/>
          <a:p>
            <a:pPr indent="0" marL="0">
              <a:buNone/>
            </a:pPr>
            <a:r>
              <a:rPr lang="en-US" sz="1150" dirty="0">
                <a:solidFill>
                  <a:srgbClr val="A9A6BD"/>
                </a:solidFill>
              </a:rPr>
              <a:t>Orders get lost, mis-charged or forgotten when the place fills up.</a:t>
            </a:r>
            <a:endParaRPr lang="en-US" sz="1150" dirty="0"/>
          </a:p>
        </p:txBody>
      </p:sp>
      <p:sp>
        <p:nvSpPr>
          <p:cNvPr id="13" name="Pain 2 circle"/>
          <p:cNvSpPr/>
          <p:nvPr/>
        </p:nvSpPr>
        <p:spPr>
          <a:xfrm>
            <a:off x="3794760" y="2267712"/>
            <a:ext cx="548640" cy="548640"/>
          </a:xfrm>
          <a:prstGeom prst="ellipse">
            <a:avLst/>
          </a:prstGeom>
          <a:solidFill>
            <a:srgbClr val="3B1F33"/>
          </a:solidFill>
          <a:ln w="12700">
            <a:solidFill>
              <a:srgbClr val="3B1F33"/>
            </a:solidFill>
            <a:prstDash val="solid"/>
          </a:ln>
        </p:spPr>
      </p:sp>
      <p:pic>
        <p:nvPicPr>
          <p:cNvPr id="14" name="Pain 2 icon" descr="preencoded.png">    </p:cNvPr>
          <p:cNvPicPr>
            <a:picLocks noChangeAspect="1"/>
          </p:cNvPicPr>
          <p:nvPr/>
        </p:nvPicPr>
        <p:blipFill>
          <a:blip r:embed="rId3"/>
          <a:stretch>
            <a:fillRect/>
          </a:stretch>
        </p:blipFill>
        <p:spPr>
          <a:xfrm>
            <a:off x="3931920" y="2404872"/>
            <a:ext cx="274320" cy="274320"/>
          </a:xfrm>
          <a:prstGeom prst="rect">
            <a:avLst/>
          </a:prstGeom>
        </p:spPr>
      </p:pic>
      <p:sp>
        <p:nvSpPr>
          <p:cNvPr id="15" name="Pain title 2"/>
          <p:cNvSpPr txBox="1"/>
          <p:nvPr/>
        </p:nvSpPr>
        <p:spPr>
          <a:xfrm>
            <a:off x="4526280" y="2221992"/>
            <a:ext cx="402336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Fake payment screenshots</a:t>
            </a:r>
            <a:endParaRPr lang="en-US" sz="1500" dirty="0"/>
          </a:p>
        </p:txBody>
      </p:sp>
      <p:sp>
        <p:nvSpPr>
          <p:cNvPr id="16" name="Pain text 2"/>
          <p:cNvSpPr txBox="1"/>
          <p:nvPr/>
        </p:nvSpPr>
        <p:spPr>
          <a:xfrm>
            <a:off x="4526280" y="2523744"/>
            <a:ext cx="4023360" cy="411480"/>
          </a:xfrm>
          <a:prstGeom prst="rect">
            <a:avLst/>
          </a:prstGeom>
          <a:noFill/>
          <a:ln/>
        </p:spPr>
        <p:txBody>
          <a:bodyPr wrap="square" lIns="0" tIns="0" rIns="0" bIns="0" rtlCol="0" anchor="t"/>
          <a:lstStyle/>
          <a:p>
            <a:pPr indent="0" marL="0">
              <a:buNone/>
            </a:pPr>
            <a:r>
              <a:rPr lang="en-US" sz="1150" dirty="0">
                <a:solidFill>
                  <a:srgbClr val="A9A6BD"/>
                </a:solidFill>
              </a:rPr>
              <a:t>Transfers are “confirmed” by looking at a screenshot that anyone can edit.</a:t>
            </a:r>
            <a:endParaRPr lang="en-US" sz="1150" dirty="0"/>
          </a:p>
        </p:txBody>
      </p:sp>
      <p:sp>
        <p:nvSpPr>
          <p:cNvPr id="17" name="Pain 3 circle"/>
          <p:cNvSpPr/>
          <p:nvPr/>
        </p:nvSpPr>
        <p:spPr>
          <a:xfrm>
            <a:off x="3794760" y="3072384"/>
            <a:ext cx="548640" cy="548640"/>
          </a:xfrm>
          <a:prstGeom prst="ellipse">
            <a:avLst/>
          </a:prstGeom>
          <a:solidFill>
            <a:srgbClr val="3B1F33"/>
          </a:solidFill>
          <a:ln w="12700">
            <a:solidFill>
              <a:srgbClr val="3B1F33"/>
            </a:solidFill>
            <a:prstDash val="solid"/>
          </a:ln>
        </p:spPr>
      </p:sp>
      <p:pic>
        <p:nvPicPr>
          <p:cNvPr id="18" name="Pain 3 icon" descr="preencoded.png">    </p:cNvPr>
          <p:cNvPicPr>
            <a:picLocks noChangeAspect="1"/>
          </p:cNvPicPr>
          <p:nvPr/>
        </p:nvPicPr>
        <p:blipFill>
          <a:blip r:embed="rId4"/>
          <a:stretch>
            <a:fillRect/>
          </a:stretch>
        </p:blipFill>
        <p:spPr>
          <a:xfrm>
            <a:off x="3931920" y="3209544"/>
            <a:ext cx="274320" cy="274320"/>
          </a:xfrm>
          <a:prstGeom prst="rect">
            <a:avLst/>
          </a:prstGeom>
        </p:spPr>
      </p:pic>
      <p:sp>
        <p:nvSpPr>
          <p:cNvPr id="19" name="Pain title 3"/>
          <p:cNvSpPr txBox="1"/>
          <p:nvPr/>
        </p:nvSpPr>
        <p:spPr>
          <a:xfrm>
            <a:off x="4526280" y="3026664"/>
            <a:ext cx="402336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Inventory by eye</a:t>
            </a:r>
            <a:endParaRPr lang="en-US" sz="1500" dirty="0"/>
          </a:p>
        </p:txBody>
      </p:sp>
      <p:sp>
        <p:nvSpPr>
          <p:cNvPr id="20" name="Pain text 3"/>
          <p:cNvSpPr txBox="1"/>
          <p:nvPr/>
        </p:nvSpPr>
        <p:spPr>
          <a:xfrm>
            <a:off x="4526280" y="3328416"/>
            <a:ext cx="4023360" cy="411480"/>
          </a:xfrm>
          <a:prstGeom prst="rect">
            <a:avLst/>
          </a:prstGeom>
          <a:noFill/>
          <a:ln/>
        </p:spPr>
        <p:txBody>
          <a:bodyPr wrap="square" lIns="0" tIns="0" rIns="0" bIns="0" rtlCol="0" anchor="t"/>
          <a:lstStyle/>
          <a:p>
            <a:pPr indent="0" marL="0">
              <a:buNone/>
            </a:pPr>
            <a:r>
              <a:rPr lang="en-US" sz="1150" dirty="0">
                <a:solidFill>
                  <a:srgbClr val="A9A6BD"/>
                </a:solidFill>
              </a:rPr>
              <a:t>Best sellers run out mid-shift; supplier invoices are typed by hand.</a:t>
            </a:r>
            <a:endParaRPr lang="en-US" sz="1150" dirty="0"/>
          </a:p>
        </p:txBody>
      </p:sp>
      <p:sp>
        <p:nvSpPr>
          <p:cNvPr id="21" name="Pain 4 circle"/>
          <p:cNvSpPr/>
          <p:nvPr/>
        </p:nvSpPr>
        <p:spPr>
          <a:xfrm>
            <a:off x="3794760" y="3877056"/>
            <a:ext cx="548640" cy="548640"/>
          </a:xfrm>
          <a:prstGeom prst="ellipse">
            <a:avLst/>
          </a:prstGeom>
          <a:solidFill>
            <a:srgbClr val="3B1F33"/>
          </a:solidFill>
          <a:ln w="12700">
            <a:solidFill>
              <a:srgbClr val="3B1F33"/>
            </a:solidFill>
            <a:prstDash val="solid"/>
          </a:ln>
        </p:spPr>
      </p:sp>
      <p:pic>
        <p:nvPicPr>
          <p:cNvPr id="22" name="Pain 4 icon" descr="preencoded.png">    </p:cNvPr>
          <p:cNvPicPr>
            <a:picLocks noChangeAspect="1"/>
          </p:cNvPicPr>
          <p:nvPr/>
        </p:nvPicPr>
        <p:blipFill>
          <a:blip r:embed="rId5"/>
          <a:stretch>
            <a:fillRect/>
          </a:stretch>
        </p:blipFill>
        <p:spPr>
          <a:xfrm>
            <a:off x="3931920" y="4014216"/>
            <a:ext cx="274320" cy="274320"/>
          </a:xfrm>
          <a:prstGeom prst="rect">
            <a:avLst/>
          </a:prstGeom>
        </p:spPr>
      </p:pic>
      <p:sp>
        <p:nvSpPr>
          <p:cNvPr id="23" name="Pain title 4"/>
          <p:cNvSpPr txBox="1"/>
          <p:nvPr/>
        </p:nvSpPr>
        <p:spPr>
          <a:xfrm>
            <a:off x="4526280" y="3831336"/>
            <a:ext cx="402336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Five apps, no system</a:t>
            </a:r>
            <a:endParaRPr lang="en-US" sz="1500" dirty="0"/>
          </a:p>
        </p:txBody>
      </p:sp>
      <p:sp>
        <p:nvSpPr>
          <p:cNvPr id="24" name="Pain text 4"/>
          <p:cNvSpPr txBox="1"/>
          <p:nvPr/>
        </p:nvSpPr>
        <p:spPr>
          <a:xfrm>
            <a:off x="4526280" y="4133088"/>
            <a:ext cx="4023360" cy="411480"/>
          </a:xfrm>
          <a:prstGeom prst="rect">
            <a:avLst/>
          </a:prstGeom>
          <a:noFill/>
          <a:ln/>
        </p:spPr>
        <p:txBody>
          <a:bodyPr wrap="square" lIns="0" tIns="0" rIns="0" bIns="0" rtlCol="0" anchor="t"/>
          <a:lstStyle/>
          <a:p>
            <a:pPr indent="0" marL="0">
              <a:buNone/>
            </a:pPr>
            <a:r>
              <a:rPr lang="en-US" sz="1150" dirty="0">
                <a:solidFill>
                  <a:srgbClr val="A9A6BD"/>
                </a:solidFill>
              </a:rPr>
              <a:t>POS, notebook, calculator, WhatsApp and spreadsheets that never talk.</a:t>
            </a:r>
            <a:endParaRPr lang="en-US" sz="1150" dirty="0"/>
          </a:p>
        </p:txBody>
      </p:sp>
      <p:sp>
        <p:nvSpPr>
          <p:cNvPr id="25" name="Source"/>
          <p:cNvSpPr txBox="1"/>
          <p:nvPr/>
        </p:nvSpPr>
        <p:spPr>
          <a:xfrm>
            <a:off x="640080" y="4773168"/>
            <a:ext cx="7498080" cy="228600"/>
          </a:xfrm>
          <a:prstGeom prst="rect">
            <a:avLst/>
          </a:prstGeom>
          <a:noFill/>
          <a:ln/>
        </p:spPr>
        <p:txBody>
          <a:bodyPr wrap="square" lIns="0" tIns="0" rIns="0" bIns="0" rtlCol="0" anchor="ctr"/>
          <a:lstStyle/>
          <a:p>
            <a:pPr indent="0" marL="0">
              <a:buNone/>
            </a:pPr>
            <a:r>
              <a:rPr lang="en-US" sz="850" dirty="0">
                <a:solidFill>
                  <a:srgbClr val="6E6A85"/>
                </a:solidFill>
              </a:rPr>
              <a:t>Source: DANE, Encuesta de Micronegocios (EMICRON) 2024 — 2,321,469 micro-businesses in 24 cities and metro areas.</a:t>
            </a:r>
            <a:endParaRPr lang="en-US" sz="85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A8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Background light"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Kicker"/>
          <p:cNvSpPr txBox="1"/>
          <p:nvPr/>
        </p:nvSpPr>
        <p:spPr>
          <a:xfrm>
            <a:off x="640080" y="292608"/>
            <a:ext cx="5486400" cy="256032"/>
          </a:xfrm>
          <a:prstGeom prst="rect">
            <a:avLst/>
          </a:prstGeom>
          <a:noFill/>
          <a:ln/>
        </p:spPr>
        <p:txBody>
          <a:bodyPr wrap="square" lIns="0" tIns="0" rIns="0" bIns="0" rtlCol="0" anchor="ctr"/>
          <a:lstStyle/>
          <a:p>
            <a:pPr indent="0" marL="0">
              <a:buNone/>
            </a:pPr>
            <a:r>
              <a:rPr lang="en-US" sz="1050" b="1" spc="300" kern="0" dirty="0">
                <a:solidFill>
                  <a:srgbClr val="34D399"/>
                </a:solidFill>
              </a:rPr>
              <a:t>THE SOLUTION</a:t>
            </a:r>
            <a:endParaRPr lang="en-US" sz="1050" dirty="0"/>
          </a:p>
        </p:txBody>
      </p:sp>
      <p:sp>
        <p:nvSpPr>
          <p:cNvPr id="4" name="Text 0"/>
          <p:cNvSpPr/>
          <p:nvPr>
            <p:ph idx="100" type="title" hasCustomPrompt="1"/>
          </p:nvPr>
        </p:nvSpPr>
        <p:spPr>
          <a:xfrm>
            <a:off x="640080" y="566928"/>
            <a:ext cx="7863840" cy="640080"/>
          </a:xfrm>
          <a:prstGeom prst="rect">
            <a:avLst/>
          </a:prstGeom>
          <a:noFill/>
          <a:ln/>
        </p:spPr>
        <p:txBody>
          <a:bodyPr wrap="square" lIns="0" tIns="0" rIns="0" bIns="0" rtlCol="0" anchor="ctr"/>
          <a:lstStyle/>
          <a:p>
            <a:pPr indent="0" marL="0">
              <a:buNone/>
            </a:pPr>
            <a:r>
              <a:rPr lang="en-US" sz="3000" b="1" dirty="0">
                <a:solidFill>
                  <a:schemeClr val="bg1"/>
                </a:solidFill>
              </a:rPr>
              <a:t>One app. It listens, sells and verifies.</a:t>
            </a:r>
            <a:endParaRPr lang="en-US" sz="3000" dirty="0"/>
          </a:p>
        </p:txBody>
      </p:sp>
      <p:sp>
        <p:nvSpPr>
          <p:cNvPr id="5" name="Pillar 1"/>
          <p:cNvSpPr/>
          <p:nvPr/>
        </p:nvSpPr>
        <p:spPr>
          <a:xfrm>
            <a:off x="640080" y="1417320"/>
            <a:ext cx="2514600" cy="1481328"/>
          </a:xfrm>
          <a:prstGeom prst="roundRect">
            <a:avLst>
              <a:gd name="adj" fmla="val 8642"/>
            </a:avLst>
          </a:prstGeom>
          <a:solidFill>
            <a:srgbClr val="17152A"/>
          </a:solidFill>
          <a:ln w="9525">
            <a:solidFill>
              <a:srgbClr val="2E2A48"/>
            </a:solidFill>
            <a:prstDash val="solid"/>
          </a:ln>
        </p:spPr>
      </p:sp>
      <p:sp>
        <p:nvSpPr>
          <p:cNvPr id="6" name="Pillar 1 circle"/>
          <p:cNvSpPr/>
          <p:nvPr/>
        </p:nvSpPr>
        <p:spPr>
          <a:xfrm>
            <a:off x="841248" y="1618488"/>
            <a:ext cx="502920" cy="502920"/>
          </a:xfrm>
          <a:prstGeom prst="ellipse">
            <a:avLst/>
          </a:prstGeom>
          <a:solidFill>
            <a:srgbClr val="7C3AED"/>
          </a:solidFill>
          <a:ln w="12700">
            <a:solidFill>
              <a:srgbClr val="7C3AED"/>
            </a:solidFill>
            <a:prstDash val="solid"/>
          </a:ln>
        </p:spPr>
      </p:sp>
      <p:pic>
        <p:nvPicPr>
          <p:cNvPr id="7" name="Pillar 1 icon" descr="preencoded.png">    </p:cNvPr>
          <p:cNvPicPr>
            <a:picLocks noChangeAspect="1"/>
          </p:cNvPicPr>
          <p:nvPr/>
        </p:nvPicPr>
        <p:blipFill>
          <a:blip r:embed="rId2"/>
          <a:stretch>
            <a:fillRect/>
          </a:stretch>
        </p:blipFill>
        <p:spPr>
          <a:xfrm>
            <a:off x="966978" y="1744218"/>
            <a:ext cx="251460" cy="251460"/>
          </a:xfrm>
          <a:prstGeom prst="rect">
            <a:avLst/>
          </a:prstGeom>
        </p:spPr>
      </p:pic>
      <p:sp>
        <p:nvSpPr>
          <p:cNvPr id="8" name="Pillar title 1"/>
          <p:cNvSpPr txBox="1"/>
          <p:nvPr/>
        </p:nvSpPr>
        <p:spPr>
          <a:xfrm>
            <a:off x="1481328" y="1691640"/>
            <a:ext cx="1600200"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Talk to it</a:t>
            </a:r>
            <a:endParaRPr lang="en-US" sz="1450" dirty="0"/>
          </a:p>
        </p:txBody>
      </p:sp>
      <p:sp>
        <p:nvSpPr>
          <p:cNvPr id="9" name="Pillar text 1"/>
          <p:cNvSpPr txBox="1"/>
          <p:nvPr/>
        </p:nvSpPr>
        <p:spPr>
          <a:xfrm>
            <a:off x="841248" y="2240280"/>
            <a:ext cx="2148840" cy="603504"/>
          </a:xfrm>
          <a:prstGeom prst="rect">
            <a:avLst/>
          </a:prstGeom>
          <a:noFill/>
          <a:ln/>
        </p:spPr>
        <p:txBody>
          <a:bodyPr wrap="square" lIns="0" tIns="0" rIns="0" bIns="0" rtlCol="0" anchor="t"/>
          <a:lstStyle/>
          <a:p>
            <a:pPr indent="0" marL="0">
              <a:buNone/>
            </a:pPr>
            <a:r>
              <a:rPr lang="en-US" sz="1050" dirty="0">
                <a:solidFill>
                  <a:srgbClr val="A9A6BD"/>
                </a:solidFill>
              </a:rPr>
              <a:t>“Hola Vento, table 3, two beers.” Hands-free orders, payments and questions.</a:t>
            </a:r>
            <a:endParaRPr lang="en-US" sz="1050" dirty="0"/>
          </a:p>
        </p:txBody>
      </p:sp>
      <p:sp>
        <p:nvSpPr>
          <p:cNvPr id="10" name="Pillar 2"/>
          <p:cNvSpPr/>
          <p:nvPr/>
        </p:nvSpPr>
        <p:spPr>
          <a:xfrm>
            <a:off x="3310128" y="1417320"/>
            <a:ext cx="2514600" cy="1481328"/>
          </a:xfrm>
          <a:prstGeom prst="roundRect">
            <a:avLst>
              <a:gd name="adj" fmla="val 8642"/>
            </a:avLst>
          </a:prstGeom>
          <a:solidFill>
            <a:srgbClr val="17152A"/>
          </a:solidFill>
          <a:ln w="9525">
            <a:solidFill>
              <a:srgbClr val="2E2A48"/>
            </a:solidFill>
            <a:prstDash val="solid"/>
          </a:ln>
        </p:spPr>
      </p:sp>
      <p:sp>
        <p:nvSpPr>
          <p:cNvPr id="11" name="Pillar 2 circle"/>
          <p:cNvSpPr/>
          <p:nvPr/>
        </p:nvSpPr>
        <p:spPr>
          <a:xfrm>
            <a:off x="3511296" y="1618488"/>
            <a:ext cx="502920" cy="502920"/>
          </a:xfrm>
          <a:prstGeom prst="ellipse">
            <a:avLst/>
          </a:prstGeom>
          <a:solidFill>
            <a:srgbClr val="34D399"/>
          </a:solidFill>
          <a:ln w="12700">
            <a:solidFill>
              <a:srgbClr val="34D399"/>
            </a:solidFill>
            <a:prstDash val="solid"/>
          </a:ln>
        </p:spPr>
      </p:sp>
      <p:pic>
        <p:nvPicPr>
          <p:cNvPr id="12" name="Pillar 2 icon" descr="preencoded.png">    </p:cNvPr>
          <p:cNvPicPr>
            <a:picLocks noChangeAspect="1"/>
          </p:cNvPicPr>
          <p:nvPr/>
        </p:nvPicPr>
        <p:blipFill>
          <a:blip r:embed="rId3"/>
          <a:stretch>
            <a:fillRect/>
          </a:stretch>
        </p:blipFill>
        <p:spPr>
          <a:xfrm>
            <a:off x="3637026" y="1744218"/>
            <a:ext cx="251460" cy="251460"/>
          </a:xfrm>
          <a:prstGeom prst="rect">
            <a:avLst/>
          </a:prstGeom>
        </p:spPr>
      </p:pic>
      <p:sp>
        <p:nvSpPr>
          <p:cNvPr id="13" name="Pillar title 2"/>
          <p:cNvSpPr txBox="1"/>
          <p:nvPr/>
        </p:nvSpPr>
        <p:spPr>
          <a:xfrm>
            <a:off x="4151376" y="1691640"/>
            <a:ext cx="1600200"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Verified payments</a:t>
            </a:r>
            <a:endParaRPr lang="en-US" sz="1450" dirty="0"/>
          </a:p>
        </p:txBody>
      </p:sp>
      <p:sp>
        <p:nvSpPr>
          <p:cNvPr id="14" name="Pillar text 2"/>
          <p:cNvSpPr txBox="1"/>
          <p:nvPr/>
        </p:nvSpPr>
        <p:spPr>
          <a:xfrm>
            <a:off x="3511296" y="2240280"/>
            <a:ext cx="2148840" cy="603504"/>
          </a:xfrm>
          <a:prstGeom prst="rect">
            <a:avLst/>
          </a:prstGeom>
          <a:noFill/>
          <a:ln/>
        </p:spPr>
        <p:txBody>
          <a:bodyPr wrap="square" lIns="0" tIns="0" rIns="0" bIns="0" rtlCol="0" anchor="t"/>
          <a:lstStyle/>
          <a:p>
            <a:pPr indent="0" marL="0">
              <a:buNone/>
            </a:pPr>
            <a:r>
              <a:rPr lang="en-US" sz="1050" dirty="0">
                <a:solidFill>
                  <a:srgbClr val="A9A6BD"/>
                </a:solidFill>
              </a:rPr>
              <a:t>Detects fake transfer screenshots and SMS. Zero fees from Vento.</a:t>
            </a:r>
            <a:endParaRPr lang="en-US" sz="1050" dirty="0"/>
          </a:p>
        </p:txBody>
      </p:sp>
      <p:sp>
        <p:nvSpPr>
          <p:cNvPr id="15" name="Pillar 3"/>
          <p:cNvSpPr/>
          <p:nvPr/>
        </p:nvSpPr>
        <p:spPr>
          <a:xfrm>
            <a:off x="5980176" y="1417320"/>
            <a:ext cx="2514600" cy="1481328"/>
          </a:xfrm>
          <a:prstGeom prst="roundRect">
            <a:avLst>
              <a:gd name="adj" fmla="val 8642"/>
            </a:avLst>
          </a:prstGeom>
          <a:solidFill>
            <a:srgbClr val="17152A"/>
          </a:solidFill>
          <a:ln w="9525">
            <a:solidFill>
              <a:srgbClr val="2E2A48"/>
            </a:solidFill>
            <a:prstDash val="solid"/>
          </a:ln>
        </p:spPr>
      </p:sp>
      <p:sp>
        <p:nvSpPr>
          <p:cNvPr id="16" name="Pillar 3 circle"/>
          <p:cNvSpPr/>
          <p:nvPr/>
        </p:nvSpPr>
        <p:spPr>
          <a:xfrm>
            <a:off x="6181344" y="1618488"/>
            <a:ext cx="502920" cy="502920"/>
          </a:xfrm>
          <a:prstGeom prst="ellipse">
            <a:avLst/>
          </a:prstGeom>
          <a:solidFill>
            <a:srgbClr val="7C3AED"/>
          </a:solidFill>
          <a:ln w="12700">
            <a:solidFill>
              <a:srgbClr val="7C3AED"/>
            </a:solidFill>
            <a:prstDash val="solid"/>
          </a:ln>
        </p:spPr>
      </p:sp>
      <p:pic>
        <p:nvPicPr>
          <p:cNvPr id="17" name="Pillar 3 icon" descr="preencoded.png">    </p:cNvPr>
          <p:cNvPicPr>
            <a:picLocks noChangeAspect="1"/>
          </p:cNvPicPr>
          <p:nvPr/>
        </p:nvPicPr>
        <p:blipFill>
          <a:blip r:embed="rId4"/>
          <a:stretch>
            <a:fillRect/>
          </a:stretch>
        </p:blipFill>
        <p:spPr>
          <a:xfrm>
            <a:off x="6307074" y="1744218"/>
            <a:ext cx="251460" cy="251460"/>
          </a:xfrm>
          <a:prstGeom prst="rect">
            <a:avLst/>
          </a:prstGeom>
        </p:spPr>
      </p:pic>
      <p:sp>
        <p:nvSpPr>
          <p:cNvPr id="18" name="Pillar title 3"/>
          <p:cNvSpPr txBox="1"/>
          <p:nvPr/>
        </p:nvSpPr>
        <p:spPr>
          <a:xfrm>
            <a:off x="6821424" y="1691640"/>
            <a:ext cx="1600200"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Vento AI</a:t>
            </a:r>
            <a:endParaRPr lang="en-US" sz="1450" dirty="0"/>
          </a:p>
        </p:txBody>
      </p:sp>
      <p:sp>
        <p:nvSpPr>
          <p:cNvPr id="19" name="Pillar text 3"/>
          <p:cNvSpPr txBox="1"/>
          <p:nvPr/>
        </p:nvSpPr>
        <p:spPr>
          <a:xfrm>
            <a:off x="6181344" y="2240280"/>
            <a:ext cx="2148840" cy="603504"/>
          </a:xfrm>
          <a:prstGeom prst="rect">
            <a:avLst/>
          </a:prstGeom>
          <a:noFill/>
          <a:ln/>
        </p:spPr>
        <p:txBody>
          <a:bodyPr wrap="square" lIns="0" tIns="0" rIns="0" bIns="0" rtlCol="0" anchor="t"/>
          <a:lstStyle/>
          <a:p>
            <a:pPr indent="0" marL="0">
              <a:buNone/>
            </a:pPr>
            <a:r>
              <a:rPr lang="en-US" sz="1050" dirty="0">
                <a:solidFill>
                  <a:srgbClr val="A9A6BD"/>
                </a:solidFill>
              </a:rPr>
              <a:t>Reads supplier invoices, answers with real numbers, predicts stock-outs.</a:t>
            </a:r>
            <a:endParaRPr lang="en-US" sz="1050" dirty="0"/>
          </a:p>
        </p:txBody>
      </p:sp>
      <p:sp>
        <p:nvSpPr>
          <p:cNvPr id="20" name="Pillar 4"/>
          <p:cNvSpPr/>
          <p:nvPr/>
        </p:nvSpPr>
        <p:spPr>
          <a:xfrm>
            <a:off x="640080" y="3063240"/>
            <a:ext cx="2514600" cy="1481328"/>
          </a:xfrm>
          <a:prstGeom prst="roundRect">
            <a:avLst>
              <a:gd name="adj" fmla="val 8642"/>
            </a:avLst>
          </a:prstGeom>
          <a:solidFill>
            <a:srgbClr val="17152A"/>
          </a:solidFill>
          <a:ln w="9525">
            <a:solidFill>
              <a:srgbClr val="2E2A48"/>
            </a:solidFill>
            <a:prstDash val="solid"/>
          </a:ln>
        </p:spPr>
      </p:sp>
      <p:sp>
        <p:nvSpPr>
          <p:cNvPr id="21" name="Pillar 4 circle"/>
          <p:cNvSpPr/>
          <p:nvPr/>
        </p:nvSpPr>
        <p:spPr>
          <a:xfrm>
            <a:off x="841248" y="3264408"/>
            <a:ext cx="502920" cy="502920"/>
          </a:xfrm>
          <a:prstGeom prst="ellipse">
            <a:avLst/>
          </a:prstGeom>
          <a:solidFill>
            <a:srgbClr val="7C3AED"/>
          </a:solidFill>
          <a:ln w="12700">
            <a:solidFill>
              <a:srgbClr val="7C3AED"/>
            </a:solidFill>
            <a:prstDash val="solid"/>
          </a:ln>
        </p:spPr>
      </p:sp>
      <p:pic>
        <p:nvPicPr>
          <p:cNvPr id="22" name="Pillar 4 icon" descr="preencoded.png">    </p:cNvPr>
          <p:cNvPicPr>
            <a:picLocks noChangeAspect="1"/>
          </p:cNvPicPr>
          <p:nvPr/>
        </p:nvPicPr>
        <p:blipFill>
          <a:blip r:embed="rId5"/>
          <a:stretch>
            <a:fillRect/>
          </a:stretch>
        </p:blipFill>
        <p:spPr>
          <a:xfrm>
            <a:off x="966978" y="3390138"/>
            <a:ext cx="251460" cy="251460"/>
          </a:xfrm>
          <a:prstGeom prst="rect">
            <a:avLst/>
          </a:prstGeom>
        </p:spPr>
      </p:pic>
      <p:sp>
        <p:nvSpPr>
          <p:cNvPr id="23" name="Pillar title 4"/>
          <p:cNvSpPr txBox="1"/>
          <p:nvPr/>
        </p:nvSpPr>
        <p:spPr>
          <a:xfrm>
            <a:off x="1481328" y="3337560"/>
            <a:ext cx="1600200"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QR ordering</a:t>
            </a:r>
            <a:endParaRPr lang="en-US" sz="1450" dirty="0"/>
          </a:p>
        </p:txBody>
      </p:sp>
      <p:sp>
        <p:nvSpPr>
          <p:cNvPr id="24" name="Pillar text 4"/>
          <p:cNvSpPr txBox="1"/>
          <p:nvPr/>
        </p:nvSpPr>
        <p:spPr>
          <a:xfrm>
            <a:off x="841248" y="3886200"/>
            <a:ext cx="2148840" cy="603504"/>
          </a:xfrm>
          <a:prstGeom prst="rect">
            <a:avLst/>
          </a:prstGeom>
          <a:noFill/>
          <a:ln/>
        </p:spPr>
        <p:txBody>
          <a:bodyPr wrap="square" lIns="0" tIns="0" rIns="0" bIns="0" rtlCol="0" anchor="t"/>
          <a:lstStyle/>
          <a:p>
            <a:pPr indent="0" marL="0">
              <a:buNone/>
            </a:pPr>
            <a:r>
              <a:rPr lang="en-US" sz="1050" dirty="0">
                <a:solidFill>
                  <a:srgbClr val="A9A6BD"/>
                </a:solidFill>
              </a:rPr>
              <a:t>Guests order from their table; it lands in the tab and the kitchen.</a:t>
            </a:r>
            <a:endParaRPr lang="en-US" sz="1050" dirty="0"/>
          </a:p>
        </p:txBody>
      </p:sp>
      <p:sp>
        <p:nvSpPr>
          <p:cNvPr id="25" name="Pillar 5"/>
          <p:cNvSpPr/>
          <p:nvPr/>
        </p:nvSpPr>
        <p:spPr>
          <a:xfrm>
            <a:off x="3310128" y="3063240"/>
            <a:ext cx="2514600" cy="1481328"/>
          </a:xfrm>
          <a:prstGeom prst="roundRect">
            <a:avLst>
              <a:gd name="adj" fmla="val 8642"/>
            </a:avLst>
          </a:prstGeom>
          <a:solidFill>
            <a:srgbClr val="17152A"/>
          </a:solidFill>
          <a:ln w="9525">
            <a:solidFill>
              <a:srgbClr val="2E2A48"/>
            </a:solidFill>
            <a:prstDash val="solid"/>
          </a:ln>
        </p:spPr>
      </p:sp>
      <p:sp>
        <p:nvSpPr>
          <p:cNvPr id="26" name="Pillar 5 circle"/>
          <p:cNvSpPr/>
          <p:nvPr/>
        </p:nvSpPr>
        <p:spPr>
          <a:xfrm>
            <a:off x="3511296" y="3264408"/>
            <a:ext cx="502920" cy="502920"/>
          </a:xfrm>
          <a:prstGeom prst="ellipse">
            <a:avLst/>
          </a:prstGeom>
          <a:solidFill>
            <a:srgbClr val="7C3AED"/>
          </a:solidFill>
          <a:ln w="12700">
            <a:solidFill>
              <a:srgbClr val="7C3AED"/>
            </a:solidFill>
            <a:prstDash val="solid"/>
          </a:ln>
        </p:spPr>
      </p:sp>
      <p:pic>
        <p:nvPicPr>
          <p:cNvPr id="27" name="Pillar 5 icon" descr="preencoded.png">    </p:cNvPr>
          <p:cNvPicPr>
            <a:picLocks noChangeAspect="1"/>
          </p:cNvPicPr>
          <p:nvPr/>
        </p:nvPicPr>
        <p:blipFill>
          <a:blip r:embed="rId6"/>
          <a:stretch>
            <a:fillRect/>
          </a:stretch>
        </p:blipFill>
        <p:spPr>
          <a:xfrm>
            <a:off x="3637026" y="3390138"/>
            <a:ext cx="251460" cy="251460"/>
          </a:xfrm>
          <a:prstGeom prst="rect">
            <a:avLst/>
          </a:prstGeom>
        </p:spPr>
      </p:pic>
      <p:sp>
        <p:nvSpPr>
          <p:cNvPr id="28" name="Pillar title 5"/>
          <p:cNvSpPr txBox="1"/>
          <p:nvPr/>
        </p:nvSpPr>
        <p:spPr>
          <a:xfrm>
            <a:off x="4151376" y="3337560"/>
            <a:ext cx="1600200"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Music on the TV</a:t>
            </a:r>
            <a:endParaRPr lang="en-US" sz="1450" dirty="0"/>
          </a:p>
        </p:txBody>
      </p:sp>
      <p:sp>
        <p:nvSpPr>
          <p:cNvPr id="29" name="Pillar text 5"/>
          <p:cNvSpPr txBox="1"/>
          <p:nvPr/>
        </p:nvSpPr>
        <p:spPr>
          <a:xfrm>
            <a:off x="3511296" y="3886200"/>
            <a:ext cx="2148840" cy="603504"/>
          </a:xfrm>
          <a:prstGeom prst="rect">
            <a:avLst/>
          </a:prstGeom>
          <a:noFill/>
          <a:ln/>
        </p:spPr>
        <p:txBody>
          <a:bodyPr wrap="square" lIns="0" tIns="0" rIns="0" bIns="0" rtlCol="0" anchor="t"/>
          <a:lstStyle/>
          <a:p>
            <a:pPr indent="0" marL="0">
              <a:buNone/>
            </a:pPr>
            <a:r>
              <a:rPr lang="en-US" sz="1050" dirty="0">
                <a:solidFill>
                  <a:srgbClr val="A9A6BD"/>
                </a:solidFill>
              </a:rPr>
              <a:t>Guests request songs by QR; they play on the venue’s TV, fairly queued.</a:t>
            </a:r>
            <a:endParaRPr lang="en-US" sz="1050" dirty="0"/>
          </a:p>
        </p:txBody>
      </p:sp>
      <p:sp>
        <p:nvSpPr>
          <p:cNvPr id="30" name="Pillar 6"/>
          <p:cNvSpPr/>
          <p:nvPr/>
        </p:nvSpPr>
        <p:spPr>
          <a:xfrm>
            <a:off x="5980176" y="3063240"/>
            <a:ext cx="2514600" cy="1481328"/>
          </a:xfrm>
          <a:prstGeom prst="roundRect">
            <a:avLst>
              <a:gd name="adj" fmla="val 8642"/>
            </a:avLst>
          </a:prstGeom>
          <a:solidFill>
            <a:srgbClr val="17152A"/>
          </a:solidFill>
          <a:ln w="9525">
            <a:solidFill>
              <a:srgbClr val="2E2A48"/>
            </a:solidFill>
            <a:prstDash val="solid"/>
          </a:ln>
        </p:spPr>
      </p:sp>
      <p:sp>
        <p:nvSpPr>
          <p:cNvPr id="31" name="Pillar 6 circle"/>
          <p:cNvSpPr/>
          <p:nvPr/>
        </p:nvSpPr>
        <p:spPr>
          <a:xfrm>
            <a:off x="6181344" y="3264408"/>
            <a:ext cx="502920" cy="502920"/>
          </a:xfrm>
          <a:prstGeom prst="ellipse">
            <a:avLst/>
          </a:prstGeom>
          <a:solidFill>
            <a:srgbClr val="7C3AED"/>
          </a:solidFill>
          <a:ln w="12700">
            <a:solidFill>
              <a:srgbClr val="7C3AED"/>
            </a:solidFill>
            <a:prstDash val="solid"/>
          </a:ln>
        </p:spPr>
      </p:sp>
      <p:pic>
        <p:nvPicPr>
          <p:cNvPr id="32" name="Pillar 6 icon" descr="preencoded.png">    </p:cNvPr>
          <p:cNvPicPr>
            <a:picLocks noChangeAspect="1"/>
          </p:cNvPicPr>
          <p:nvPr/>
        </p:nvPicPr>
        <p:blipFill>
          <a:blip r:embed="rId7"/>
          <a:stretch>
            <a:fillRect/>
          </a:stretch>
        </p:blipFill>
        <p:spPr>
          <a:xfrm>
            <a:off x="6307074" y="3390138"/>
            <a:ext cx="251460" cy="251460"/>
          </a:xfrm>
          <a:prstGeom prst="rect">
            <a:avLst/>
          </a:prstGeom>
        </p:spPr>
      </p:pic>
      <p:sp>
        <p:nvSpPr>
          <p:cNvPr id="33" name="Pillar title 6"/>
          <p:cNvSpPr txBox="1"/>
          <p:nvPr/>
        </p:nvSpPr>
        <p:spPr>
          <a:xfrm>
            <a:off x="6821424" y="3337560"/>
            <a:ext cx="1600200"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Pocket accountant</a:t>
            </a:r>
            <a:endParaRPr lang="en-US" sz="1450" dirty="0"/>
          </a:p>
        </p:txBody>
      </p:sp>
      <p:sp>
        <p:nvSpPr>
          <p:cNvPr id="34" name="Pillar text 6"/>
          <p:cNvSpPr txBox="1"/>
          <p:nvPr/>
        </p:nvSpPr>
        <p:spPr>
          <a:xfrm>
            <a:off x="6181344" y="3886200"/>
            <a:ext cx="2148840" cy="603504"/>
          </a:xfrm>
          <a:prstGeom prst="rect">
            <a:avLst/>
          </a:prstGeom>
          <a:noFill/>
          <a:ln/>
        </p:spPr>
        <p:txBody>
          <a:bodyPr wrap="square" lIns="0" tIns="0" rIns="0" bIns="0" rtlCol="0" anchor="t"/>
          <a:lstStyle/>
          <a:p>
            <a:pPr indent="0" marL="0">
              <a:buNone/>
            </a:pPr>
            <a:r>
              <a:rPr lang="en-US" sz="1050" dirty="0">
                <a:solidFill>
                  <a:srgbClr val="A9A6BD"/>
                </a:solidFill>
              </a:rPr>
              <a:t>Cash close, real profit, VAT and Excel exports for the accountant.</a:t>
            </a:r>
            <a:endParaRPr lang="en-US" sz="105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A8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Background light"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Kicker"/>
          <p:cNvSpPr txBox="1"/>
          <p:nvPr/>
        </p:nvSpPr>
        <p:spPr>
          <a:xfrm>
            <a:off x="640080" y="292608"/>
            <a:ext cx="5486400" cy="256032"/>
          </a:xfrm>
          <a:prstGeom prst="rect">
            <a:avLst/>
          </a:prstGeom>
          <a:noFill/>
          <a:ln/>
        </p:spPr>
        <p:txBody>
          <a:bodyPr wrap="square" lIns="0" tIns="0" rIns="0" bIns="0" rtlCol="0" anchor="ctr"/>
          <a:lstStyle/>
          <a:p>
            <a:pPr indent="0" marL="0">
              <a:buNone/>
            </a:pPr>
            <a:r>
              <a:rPr lang="en-US" sz="1050" b="1" spc="300" kern="0" dirty="0">
                <a:solidFill>
                  <a:srgbClr val="34D399"/>
                </a:solidFill>
              </a:rPr>
              <a:t>VOICE-FIRST · LIVE TODAY</a:t>
            </a:r>
            <a:endParaRPr lang="en-US" sz="1050" dirty="0"/>
          </a:p>
        </p:txBody>
      </p:sp>
      <p:sp>
        <p:nvSpPr>
          <p:cNvPr id="4" name="Text 0"/>
          <p:cNvSpPr/>
          <p:nvPr>
            <p:ph idx="100" type="title" hasCustomPrompt="1"/>
          </p:nvPr>
        </p:nvSpPr>
        <p:spPr>
          <a:xfrm>
            <a:off x="640080" y="566928"/>
            <a:ext cx="7863840" cy="640080"/>
          </a:xfrm>
          <a:prstGeom prst="rect">
            <a:avLst/>
          </a:prstGeom>
          <a:noFill/>
          <a:ln/>
        </p:spPr>
        <p:txBody>
          <a:bodyPr wrap="square" lIns="0" tIns="0" rIns="0" bIns="0" rtlCol="0" anchor="ctr"/>
          <a:lstStyle/>
          <a:p>
            <a:pPr indent="0" marL="0">
              <a:buNone/>
            </a:pPr>
            <a:r>
              <a:rPr lang="en-US" sz="3000" b="1" dirty="0">
                <a:solidFill>
                  <a:schemeClr val="bg1"/>
                </a:solidFill>
              </a:rPr>
              <a:t>Hands-free: just say “Hola Vento”</a:t>
            </a:r>
            <a:endParaRPr lang="en-US" sz="3000" dirty="0"/>
          </a:p>
        </p:txBody>
      </p:sp>
      <p:sp>
        <p:nvSpPr>
          <p:cNvPr id="5" name="Voice demo"/>
          <p:cNvSpPr/>
          <p:nvPr/>
        </p:nvSpPr>
        <p:spPr>
          <a:xfrm>
            <a:off x="640080" y="1417320"/>
            <a:ext cx="3931920" cy="3154680"/>
          </a:xfrm>
          <a:prstGeom prst="roundRect">
            <a:avLst>
              <a:gd name="adj" fmla="val 4058"/>
            </a:avLst>
          </a:prstGeom>
          <a:solidFill>
            <a:srgbClr val="1A1530"/>
          </a:solidFill>
          <a:ln w="9525">
            <a:solidFill>
              <a:srgbClr val="3B2F66"/>
            </a:solidFill>
            <a:prstDash val="solid"/>
          </a:ln>
        </p:spPr>
      </p:sp>
      <p:sp>
        <p:nvSpPr>
          <p:cNvPr id="6" name="Mic circle"/>
          <p:cNvSpPr/>
          <p:nvPr/>
        </p:nvSpPr>
        <p:spPr>
          <a:xfrm>
            <a:off x="914400" y="1691640"/>
            <a:ext cx="731520" cy="731520"/>
          </a:xfrm>
          <a:prstGeom prst="ellipse">
            <a:avLst/>
          </a:prstGeom>
          <a:solidFill>
            <a:srgbClr val="7C3AED"/>
          </a:solidFill>
          <a:ln w="12700">
            <a:solidFill>
              <a:srgbClr val="7C3AED"/>
            </a:solidFill>
            <a:prstDash val="solid"/>
          </a:ln>
        </p:spPr>
      </p:sp>
      <p:pic>
        <p:nvPicPr>
          <p:cNvPr id="7" name="Mic icon" descr="preencoded.png">    </p:cNvPr>
          <p:cNvPicPr>
            <a:picLocks noChangeAspect="1"/>
          </p:cNvPicPr>
          <p:nvPr/>
        </p:nvPicPr>
        <p:blipFill>
          <a:blip r:embed="rId2"/>
          <a:stretch>
            <a:fillRect/>
          </a:stretch>
        </p:blipFill>
        <p:spPr>
          <a:xfrm>
            <a:off x="1097280" y="1874520"/>
            <a:ext cx="365760" cy="365760"/>
          </a:xfrm>
          <a:prstGeom prst="rect">
            <a:avLst/>
          </a:prstGeom>
        </p:spPr>
      </p:pic>
      <p:sp>
        <p:nvSpPr>
          <p:cNvPr id="8" name="Voice phrase"/>
          <p:cNvSpPr txBox="1"/>
          <p:nvPr/>
        </p:nvSpPr>
        <p:spPr>
          <a:xfrm>
            <a:off x="914400" y="2606040"/>
            <a:ext cx="3474720" cy="685800"/>
          </a:xfrm>
          <a:prstGeom prst="rect">
            <a:avLst/>
          </a:prstGeom>
          <a:noFill/>
          <a:ln/>
        </p:spPr>
        <p:txBody>
          <a:bodyPr wrap="square" lIns="0" tIns="0" rIns="0" bIns="0" rtlCol="0" anchor="t"/>
          <a:lstStyle/>
          <a:p>
            <a:pPr indent="0" marL="0">
              <a:buNone/>
            </a:pPr>
            <a:r>
              <a:rPr lang="en-US" sz="2100" b="1" i="1" dirty="0">
                <a:solidFill>
                  <a:srgbClr val="FFFFFF"/>
                </a:solidFill>
                <a:latin typeface="Arial" pitchFamily="34" charset="0"/>
                <a:ea typeface="Arial" pitchFamily="34" charset="-122"/>
                <a:cs typeface="Arial" pitchFamily="34" charset="-120"/>
              </a:rPr>
              <a:t>“Hola Vento, table 3, two Póker.”</a:t>
            </a:r>
            <a:endParaRPr lang="en-US" sz="2100" dirty="0"/>
          </a:p>
        </p:txBody>
      </p:sp>
      <p:sp>
        <p:nvSpPr>
          <p:cNvPr id="9" name="Voice result"/>
          <p:cNvSpPr txBox="1"/>
          <p:nvPr/>
        </p:nvSpPr>
        <p:spPr>
          <a:xfrm>
            <a:off x="914400" y="3383280"/>
            <a:ext cx="3474720" cy="320040"/>
          </a:xfrm>
          <a:prstGeom prst="rect">
            <a:avLst/>
          </a:prstGeom>
          <a:noFill/>
          <a:ln/>
        </p:spPr>
        <p:txBody>
          <a:bodyPr wrap="square" lIns="0" tIns="0" rIns="0" bIns="0" rtlCol="0" anchor="ctr"/>
          <a:lstStyle/>
          <a:p>
            <a:pPr indent="0" marL="0">
              <a:buNone/>
            </a:pPr>
            <a:r>
              <a:rPr lang="en-US" sz="1500" b="1" dirty="0">
                <a:solidFill>
                  <a:srgbClr val="34D399"/>
                </a:solidFill>
              </a:rPr>
              <a:t>✓ 2 Póker added to Table 3</a:t>
            </a:r>
            <a:endParaRPr lang="en-US" sz="1500" dirty="0"/>
          </a:p>
        </p:txBody>
      </p:sp>
      <p:sp>
        <p:nvSpPr>
          <p:cNvPr id="10" name="Voice note"/>
          <p:cNvSpPr txBox="1"/>
          <p:nvPr/>
        </p:nvSpPr>
        <p:spPr>
          <a:xfrm>
            <a:off x="914400" y="3794760"/>
            <a:ext cx="3474720" cy="548640"/>
          </a:xfrm>
          <a:prstGeom prst="rect">
            <a:avLst/>
          </a:prstGeom>
          <a:noFill/>
          <a:ln/>
        </p:spPr>
        <p:txBody>
          <a:bodyPr wrap="square" lIns="0" tIns="0" rIns="0" bIns="0" rtlCol="0" anchor="t"/>
          <a:lstStyle/>
          <a:p>
            <a:pPr indent="0" marL="0">
              <a:buNone/>
            </a:pPr>
            <a:r>
              <a:rPr lang="en-US" sz="1150" dirty="0">
                <a:solidFill>
                  <a:srgbClr val="A9A6BD"/>
                </a:solidFill>
              </a:rPr>
              <a:t>Stays attentive after each command — no need to repeat the wake word.</a:t>
            </a:r>
            <a:endParaRPr lang="en-US" sz="1150" dirty="0"/>
          </a:p>
        </p:txBody>
      </p:sp>
      <p:sp>
        <p:nvSpPr>
          <p:cNvPr id="11" name="Command 1"/>
          <p:cNvSpPr/>
          <p:nvPr/>
        </p:nvSpPr>
        <p:spPr>
          <a:xfrm>
            <a:off x="4800600" y="1417320"/>
            <a:ext cx="3703320" cy="548640"/>
          </a:xfrm>
          <a:prstGeom prst="roundRect">
            <a:avLst>
              <a:gd name="adj" fmla="val 23333"/>
            </a:avLst>
          </a:prstGeom>
          <a:solidFill>
            <a:srgbClr val="211E36"/>
          </a:solidFill>
          <a:ln w="9525">
            <a:solidFill>
              <a:srgbClr val="2E2A48"/>
            </a:solidFill>
            <a:prstDash val="solid"/>
          </a:ln>
        </p:spPr>
      </p:sp>
      <p:sp>
        <p:nvSpPr>
          <p:cNvPr id="12" name="Command phrase 1"/>
          <p:cNvSpPr txBox="1"/>
          <p:nvPr/>
        </p:nvSpPr>
        <p:spPr>
          <a:xfrm>
            <a:off x="4983480" y="1463040"/>
            <a:ext cx="3383280" cy="256032"/>
          </a:xfrm>
          <a:prstGeom prst="rect">
            <a:avLst/>
          </a:prstGeom>
          <a:noFill/>
          <a:ln/>
        </p:spPr>
        <p:txBody>
          <a:bodyPr wrap="square" lIns="0" tIns="0" rIns="0" bIns="0" rtlCol="0" anchor="ctr"/>
          <a:lstStyle/>
          <a:p>
            <a:pPr indent="0" marL="0">
              <a:buNone/>
            </a:pPr>
            <a:r>
              <a:rPr lang="en-US" sz="1250" b="1" dirty="0">
                <a:solidFill>
                  <a:srgbClr val="C4B5FD"/>
                </a:solidFill>
              </a:rPr>
              <a:t>“Undo the last order”</a:t>
            </a:r>
            <a:endParaRPr lang="en-US" sz="1250" dirty="0"/>
          </a:p>
        </p:txBody>
      </p:sp>
      <p:sp>
        <p:nvSpPr>
          <p:cNvPr id="13" name="Command effect 1"/>
          <p:cNvSpPr txBox="1"/>
          <p:nvPr/>
        </p:nvSpPr>
        <p:spPr>
          <a:xfrm>
            <a:off x="4983480" y="1709928"/>
            <a:ext cx="3383280" cy="219456"/>
          </a:xfrm>
          <a:prstGeom prst="rect">
            <a:avLst/>
          </a:prstGeom>
          <a:noFill/>
          <a:ln/>
        </p:spPr>
        <p:txBody>
          <a:bodyPr wrap="square" lIns="0" tIns="0" rIns="0" bIns="0" rtlCol="0" anchor="ctr"/>
          <a:lstStyle/>
          <a:p>
            <a:pPr indent="0" marL="0">
              <a:buNone/>
            </a:pPr>
            <a:r>
              <a:rPr lang="en-US" sz="1050" dirty="0">
                <a:solidFill>
                  <a:srgbClr val="A9A6BD"/>
                </a:solidFill>
              </a:rPr>
              <a:t>Reverts instantly.</a:t>
            </a:r>
            <a:endParaRPr lang="en-US" sz="1050" dirty="0"/>
          </a:p>
        </p:txBody>
      </p:sp>
      <p:sp>
        <p:nvSpPr>
          <p:cNvPr id="14" name="Command 2"/>
          <p:cNvSpPr/>
          <p:nvPr/>
        </p:nvSpPr>
        <p:spPr>
          <a:xfrm>
            <a:off x="4800600" y="2057400"/>
            <a:ext cx="3703320" cy="548640"/>
          </a:xfrm>
          <a:prstGeom prst="roundRect">
            <a:avLst>
              <a:gd name="adj" fmla="val 23333"/>
            </a:avLst>
          </a:prstGeom>
          <a:solidFill>
            <a:srgbClr val="211E36"/>
          </a:solidFill>
          <a:ln w="9525">
            <a:solidFill>
              <a:srgbClr val="2E2A48"/>
            </a:solidFill>
            <a:prstDash val="solid"/>
          </a:ln>
        </p:spPr>
      </p:sp>
      <p:sp>
        <p:nvSpPr>
          <p:cNvPr id="15" name="Command phrase 2"/>
          <p:cNvSpPr txBox="1"/>
          <p:nvPr/>
        </p:nvSpPr>
        <p:spPr>
          <a:xfrm>
            <a:off x="4983480" y="2103120"/>
            <a:ext cx="3383280" cy="256032"/>
          </a:xfrm>
          <a:prstGeom prst="rect">
            <a:avLst/>
          </a:prstGeom>
          <a:noFill/>
          <a:ln/>
        </p:spPr>
        <p:txBody>
          <a:bodyPr wrap="square" lIns="0" tIns="0" rIns="0" bIns="0" rtlCol="0" anchor="ctr"/>
          <a:lstStyle/>
          <a:p>
            <a:pPr indent="0" marL="0">
              <a:buNone/>
            </a:pPr>
            <a:r>
              <a:rPr lang="en-US" sz="1250" b="1" dirty="0">
                <a:solidFill>
                  <a:srgbClr val="C4B5FD"/>
                </a:solidFill>
              </a:rPr>
              <a:t>“Table 3 pays 20 thousand”</a:t>
            </a:r>
            <a:endParaRPr lang="en-US" sz="1250" dirty="0"/>
          </a:p>
        </p:txBody>
      </p:sp>
      <p:sp>
        <p:nvSpPr>
          <p:cNvPr id="16" name="Command effect 2"/>
          <p:cNvSpPr txBox="1"/>
          <p:nvPr/>
        </p:nvSpPr>
        <p:spPr>
          <a:xfrm>
            <a:off x="4983480" y="2350008"/>
            <a:ext cx="3383280" cy="219456"/>
          </a:xfrm>
          <a:prstGeom prst="rect">
            <a:avLst/>
          </a:prstGeom>
          <a:noFill/>
          <a:ln/>
        </p:spPr>
        <p:txBody>
          <a:bodyPr wrap="square" lIns="0" tIns="0" rIns="0" bIns="0" rtlCol="0" anchor="ctr"/>
          <a:lstStyle/>
          <a:p>
            <a:pPr indent="0" marL="0">
              <a:buNone/>
            </a:pPr>
            <a:r>
              <a:rPr lang="en-US" sz="1050" dirty="0">
                <a:solidFill>
                  <a:srgbClr val="A9A6BD"/>
                </a:solidFill>
              </a:rPr>
              <a:t>Logs a partial payment, says what’s left.</a:t>
            </a:r>
            <a:endParaRPr lang="en-US" sz="1050" dirty="0"/>
          </a:p>
        </p:txBody>
      </p:sp>
      <p:sp>
        <p:nvSpPr>
          <p:cNvPr id="17" name="Command 3"/>
          <p:cNvSpPr/>
          <p:nvPr/>
        </p:nvSpPr>
        <p:spPr>
          <a:xfrm>
            <a:off x="4800600" y="2697480"/>
            <a:ext cx="3703320" cy="548640"/>
          </a:xfrm>
          <a:prstGeom prst="roundRect">
            <a:avLst>
              <a:gd name="adj" fmla="val 23333"/>
            </a:avLst>
          </a:prstGeom>
          <a:solidFill>
            <a:srgbClr val="211E36"/>
          </a:solidFill>
          <a:ln w="9525">
            <a:solidFill>
              <a:srgbClr val="2E2A48"/>
            </a:solidFill>
            <a:prstDash val="solid"/>
          </a:ln>
        </p:spPr>
      </p:sp>
      <p:sp>
        <p:nvSpPr>
          <p:cNvPr id="18" name="Command phrase 3"/>
          <p:cNvSpPr txBox="1"/>
          <p:nvPr/>
        </p:nvSpPr>
        <p:spPr>
          <a:xfrm>
            <a:off x="4983480" y="2743200"/>
            <a:ext cx="3383280" cy="256032"/>
          </a:xfrm>
          <a:prstGeom prst="rect">
            <a:avLst/>
          </a:prstGeom>
          <a:noFill/>
          <a:ln/>
        </p:spPr>
        <p:txBody>
          <a:bodyPr wrap="square" lIns="0" tIns="0" rIns="0" bIns="0" rtlCol="0" anchor="ctr"/>
          <a:lstStyle/>
          <a:p>
            <a:pPr indent="0" marL="0">
              <a:buNone/>
            </a:pPr>
            <a:r>
              <a:rPr lang="en-US" sz="1250" b="1" dirty="0">
                <a:solidFill>
                  <a:srgbClr val="C4B5FD"/>
                </a:solidFill>
              </a:rPr>
              <a:t>“Juan owes me 20 thousand”</a:t>
            </a:r>
            <a:endParaRPr lang="en-US" sz="1250" dirty="0"/>
          </a:p>
        </p:txBody>
      </p:sp>
      <p:sp>
        <p:nvSpPr>
          <p:cNvPr id="19" name="Command effect 3"/>
          <p:cNvSpPr txBox="1"/>
          <p:nvPr/>
        </p:nvSpPr>
        <p:spPr>
          <a:xfrm>
            <a:off x="4983480" y="2990088"/>
            <a:ext cx="3383280" cy="219456"/>
          </a:xfrm>
          <a:prstGeom prst="rect">
            <a:avLst/>
          </a:prstGeom>
          <a:noFill/>
          <a:ln/>
        </p:spPr>
        <p:txBody>
          <a:bodyPr wrap="square" lIns="0" tIns="0" rIns="0" bIns="0" rtlCol="0" anchor="ctr"/>
          <a:lstStyle/>
          <a:p>
            <a:pPr indent="0" marL="0">
              <a:buNone/>
            </a:pPr>
            <a:r>
              <a:rPr lang="en-US" sz="1050" dirty="0">
                <a:solidFill>
                  <a:srgbClr val="A9A6BD"/>
                </a:solidFill>
              </a:rPr>
              <a:t>Goes to the credit notebook, dated.</a:t>
            </a:r>
            <a:endParaRPr lang="en-US" sz="1050" dirty="0"/>
          </a:p>
        </p:txBody>
      </p:sp>
      <p:sp>
        <p:nvSpPr>
          <p:cNvPr id="20" name="Command 4"/>
          <p:cNvSpPr/>
          <p:nvPr/>
        </p:nvSpPr>
        <p:spPr>
          <a:xfrm>
            <a:off x="4800600" y="3337560"/>
            <a:ext cx="3703320" cy="548640"/>
          </a:xfrm>
          <a:prstGeom prst="roundRect">
            <a:avLst>
              <a:gd name="adj" fmla="val 23333"/>
            </a:avLst>
          </a:prstGeom>
          <a:solidFill>
            <a:srgbClr val="211E36"/>
          </a:solidFill>
          <a:ln w="9525">
            <a:solidFill>
              <a:srgbClr val="2E2A48"/>
            </a:solidFill>
            <a:prstDash val="solid"/>
          </a:ln>
        </p:spPr>
      </p:sp>
      <p:sp>
        <p:nvSpPr>
          <p:cNvPr id="21" name="Command phrase 4"/>
          <p:cNvSpPr txBox="1"/>
          <p:nvPr/>
        </p:nvSpPr>
        <p:spPr>
          <a:xfrm>
            <a:off x="4983480" y="3383280"/>
            <a:ext cx="3383280" cy="256032"/>
          </a:xfrm>
          <a:prstGeom prst="rect">
            <a:avLst/>
          </a:prstGeom>
          <a:noFill/>
          <a:ln/>
        </p:spPr>
        <p:txBody>
          <a:bodyPr wrap="square" lIns="0" tIns="0" rIns="0" bIns="0" rtlCol="0" anchor="ctr"/>
          <a:lstStyle/>
          <a:p>
            <a:pPr indent="0" marL="0">
              <a:buNone/>
            </a:pPr>
            <a:r>
              <a:rPr lang="en-US" sz="1250" b="1" dirty="0">
                <a:solidFill>
                  <a:srgbClr val="C4B5FD"/>
                </a:solidFill>
              </a:rPr>
              <a:t>“How many Póker are left?”</a:t>
            </a:r>
            <a:endParaRPr lang="en-US" sz="1250" dirty="0"/>
          </a:p>
        </p:txBody>
      </p:sp>
      <p:sp>
        <p:nvSpPr>
          <p:cNvPr id="22" name="Command effect 4"/>
          <p:cNvSpPr txBox="1"/>
          <p:nvPr/>
        </p:nvSpPr>
        <p:spPr>
          <a:xfrm>
            <a:off x="4983480" y="3630168"/>
            <a:ext cx="3383280" cy="219456"/>
          </a:xfrm>
          <a:prstGeom prst="rect">
            <a:avLst/>
          </a:prstGeom>
          <a:noFill/>
          <a:ln/>
        </p:spPr>
        <p:txBody>
          <a:bodyPr wrap="square" lIns="0" tIns="0" rIns="0" bIns="0" rtlCol="0" anchor="ctr"/>
          <a:lstStyle/>
          <a:p>
            <a:pPr indent="0" marL="0">
              <a:buNone/>
            </a:pPr>
            <a:r>
              <a:rPr lang="en-US" sz="1050" dirty="0">
                <a:solidFill>
                  <a:srgbClr val="A9A6BD"/>
                </a:solidFill>
              </a:rPr>
              <a:t>Answers from live inventory.</a:t>
            </a:r>
            <a:endParaRPr lang="en-US" sz="1050" dirty="0"/>
          </a:p>
        </p:txBody>
      </p:sp>
      <p:sp>
        <p:nvSpPr>
          <p:cNvPr id="23" name="Command 5"/>
          <p:cNvSpPr/>
          <p:nvPr/>
        </p:nvSpPr>
        <p:spPr>
          <a:xfrm>
            <a:off x="4800600" y="3977640"/>
            <a:ext cx="3703320" cy="548640"/>
          </a:xfrm>
          <a:prstGeom prst="roundRect">
            <a:avLst>
              <a:gd name="adj" fmla="val 23333"/>
            </a:avLst>
          </a:prstGeom>
          <a:solidFill>
            <a:srgbClr val="211E36"/>
          </a:solidFill>
          <a:ln w="9525">
            <a:solidFill>
              <a:srgbClr val="2E2A48"/>
            </a:solidFill>
            <a:prstDash val="solid"/>
          </a:ln>
        </p:spPr>
      </p:sp>
      <p:sp>
        <p:nvSpPr>
          <p:cNvPr id="24" name="Command phrase 5"/>
          <p:cNvSpPr txBox="1"/>
          <p:nvPr/>
        </p:nvSpPr>
        <p:spPr>
          <a:xfrm>
            <a:off x="4983480" y="4023360"/>
            <a:ext cx="3383280" cy="256032"/>
          </a:xfrm>
          <a:prstGeom prst="rect">
            <a:avLst/>
          </a:prstGeom>
          <a:noFill/>
          <a:ln/>
        </p:spPr>
        <p:txBody>
          <a:bodyPr wrap="square" lIns="0" tIns="0" rIns="0" bIns="0" rtlCol="0" anchor="ctr"/>
          <a:lstStyle/>
          <a:p>
            <a:pPr indent="0" marL="0">
              <a:buNone/>
            </a:pPr>
            <a:r>
              <a:rPr lang="en-US" sz="1250" b="1" dirty="0">
                <a:solidFill>
                  <a:srgbClr val="C4B5FD"/>
                </a:solidFill>
              </a:rPr>
              <a:t>“How much did I sell today?”</a:t>
            </a:r>
            <a:endParaRPr lang="en-US" sz="1250" dirty="0"/>
          </a:p>
        </p:txBody>
      </p:sp>
      <p:sp>
        <p:nvSpPr>
          <p:cNvPr id="25" name="Command effect 5"/>
          <p:cNvSpPr txBox="1"/>
          <p:nvPr/>
        </p:nvSpPr>
        <p:spPr>
          <a:xfrm>
            <a:off x="4983480" y="4270248"/>
            <a:ext cx="3383280" cy="219456"/>
          </a:xfrm>
          <a:prstGeom prst="rect">
            <a:avLst/>
          </a:prstGeom>
          <a:noFill/>
          <a:ln/>
        </p:spPr>
        <p:txBody>
          <a:bodyPr wrap="square" lIns="0" tIns="0" rIns="0" bIns="0" rtlCol="0" anchor="ctr"/>
          <a:lstStyle/>
          <a:p>
            <a:pPr indent="0" marL="0">
              <a:buNone/>
            </a:pPr>
            <a:r>
              <a:rPr lang="en-US" sz="1050" dirty="0">
                <a:solidFill>
                  <a:srgbClr val="A9A6BD"/>
                </a:solidFill>
              </a:rPr>
              <a:t>Answers out loud with real data.</a:t>
            </a:r>
            <a:endParaRPr lang="en-US" sz="105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A8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Background light"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Kicker"/>
          <p:cNvSpPr txBox="1"/>
          <p:nvPr/>
        </p:nvSpPr>
        <p:spPr>
          <a:xfrm>
            <a:off x="640080" y="292608"/>
            <a:ext cx="5486400" cy="256032"/>
          </a:xfrm>
          <a:prstGeom prst="rect">
            <a:avLst/>
          </a:prstGeom>
          <a:noFill/>
          <a:ln/>
        </p:spPr>
        <p:txBody>
          <a:bodyPr wrap="square" lIns="0" tIns="0" rIns="0" bIns="0" rtlCol="0" anchor="ctr"/>
          <a:lstStyle/>
          <a:p>
            <a:pPr indent="0" marL="0">
              <a:buNone/>
            </a:pPr>
            <a:r>
              <a:rPr lang="en-US" sz="1050" b="1" spc="300" kern="0" dirty="0">
                <a:solidFill>
                  <a:srgbClr val="34D399"/>
                </a:solidFill>
              </a:rPr>
              <a:t>VERIFIED PAYMENTS · LIVE TODAY</a:t>
            </a:r>
            <a:endParaRPr lang="en-US" sz="1050" dirty="0"/>
          </a:p>
        </p:txBody>
      </p:sp>
      <p:sp>
        <p:nvSpPr>
          <p:cNvPr id="4" name="Text 0"/>
          <p:cNvSpPr/>
          <p:nvPr>
            <p:ph idx="100" type="title" hasCustomPrompt="1"/>
          </p:nvPr>
        </p:nvSpPr>
        <p:spPr>
          <a:xfrm>
            <a:off x="640080" y="566928"/>
            <a:ext cx="7863840" cy="640080"/>
          </a:xfrm>
          <a:prstGeom prst="rect">
            <a:avLst/>
          </a:prstGeom>
          <a:noFill/>
          <a:ln/>
        </p:spPr>
        <p:txBody>
          <a:bodyPr wrap="square" lIns="0" tIns="0" rIns="0" bIns="0" rtlCol="0" anchor="ctr"/>
          <a:lstStyle/>
          <a:p>
            <a:pPr indent="0" marL="0">
              <a:buNone/>
            </a:pPr>
            <a:r>
              <a:rPr lang="en-US" sz="3000" b="1" dirty="0">
                <a:solidFill>
                  <a:schemeClr val="bg1"/>
                </a:solidFill>
              </a:rPr>
              <a:t>No fake screenshots. No fees.</a:t>
            </a:r>
            <a:endParaRPr lang="en-US" sz="3000" dirty="0"/>
          </a:p>
        </p:txBody>
      </p:sp>
      <p:sp>
        <p:nvSpPr>
          <p:cNvPr id="5" name="Flow 1"/>
          <p:cNvSpPr/>
          <p:nvPr/>
        </p:nvSpPr>
        <p:spPr>
          <a:xfrm>
            <a:off x="640080" y="1417320"/>
            <a:ext cx="2468880" cy="1417320"/>
          </a:xfrm>
          <a:prstGeom prst="roundRect">
            <a:avLst>
              <a:gd name="adj" fmla="val 9032"/>
            </a:avLst>
          </a:prstGeom>
          <a:solidFill>
            <a:srgbClr val="17152A"/>
          </a:solidFill>
          <a:ln w="9525">
            <a:solidFill>
              <a:srgbClr val="2E2A48"/>
            </a:solidFill>
            <a:prstDash val="solid"/>
          </a:ln>
        </p:spPr>
      </p:sp>
      <p:sp>
        <p:nvSpPr>
          <p:cNvPr id="6" name="Flow 1 circle"/>
          <p:cNvSpPr/>
          <p:nvPr/>
        </p:nvSpPr>
        <p:spPr>
          <a:xfrm>
            <a:off x="822960" y="1572768"/>
            <a:ext cx="475488" cy="475488"/>
          </a:xfrm>
          <a:prstGeom prst="ellipse">
            <a:avLst/>
          </a:prstGeom>
          <a:solidFill>
            <a:srgbClr val="7C3AED"/>
          </a:solidFill>
          <a:ln w="12700">
            <a:solidFill>
              <a:srgbClr val="7C3AED"/>
            </a:solidFill>
            <a:prstDash val="solid"/>
          </a:ln>
        </p:spPr>
      </p:sp>
      <p:pic>
        <p:nvPicPr>
          <p:cNvPr id="7" name="Flow 1 icon" descr="preencoded.png">    </p:cNvPr>
          <p:cNvPicPr>
            <a:picLocks noChangeAspect="1"/>
          </p:cNvPicPr>
          <p:nvPr/>
        </p:nvPicPr>
        <p:blipFill>
          <a:blip r:embed="rId2"/>
          <a:stretch>
            <a:fillRect/>
          </a:stretch>
        </p:blipFill>
        <p:spPr>
          <a:xfrm>
            <a:off x="941832" y="1691640"/>
            <a:ext cx="237744" cy="237744"/>
          </a:xfrm>
          <a:prstGeom prst="rect">
            <a:avLst/>
          </a:prstGeom>
        </p:spPr>
      </p:pic>
      <p:sp>
        <p:nvSpPr>
          <p:cNvPr id="8" name="Flow title 1"/>
          <p:cNvSpPr txBox="1"/>
          <p:nvPr/>
        </p:nvSpPr>
        <p:spPr>
          <a:xfrm>
            <a:off x="1417320" y="1600200"/>
            <a:ext cx="1600200" cy="41148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1. Show your QR</a:t>
            </a:r>
            <a:endParaRPr lang="en-US" sz="1350" dirty="0"/>
          </a:p>
        </p:txBody>
      </p:sp>
      <p:sp>
        <p:nvSpPr>
          <p:cNvPr id="9" name="Flow text 1"/>
          <p:cNvSpPr txBox="1"/>
          <p:nvPr/>
        </p:nvSpPr>
        <p:spPr>
          <a:xfrm>
            <a:off x="822960" y="2176272"/>
            <a:ext cx="2148840" cy="603504"/>
          </a:xfrm>
          <a:prstGeom prst="rect">
            <a:avLst/>
          </a:prstGeom>
          <a:noFill/>
          <a:ln/>
        </p:spPr>
        <p:txBody>
          <a:bodyPr wrap="square" lIns="0" tIns="0" rIns="0" bIns="0" rtlCol="0" anchor="t"/>
          <a:lstStyle/>
          <a:p>
            <a:pPr indent="0" marL="0">
              <a:buNone/>
            </a:pPr>
            <a:r>
              <a:rPr lang="en-US" sz="1050" dirty="0">
                <a:solidFill>
                  <a:srgbClr val="A9A6BD"/>
                </a:solidFill>
              </a:rPr>
              <a:t>The business’s Nequi / Bre-B QR prints on the tab and receipt.</a:t>
            </a:r>
            <a:endParaRPr lang="en-US" sz="1050" dirty="0"/>
          </a:p>
        </p:txBody>
      </p:sp>
      <p:pic>
        <p:nvPicPr>
          <p:cNvPr id="10" name="Arrow 1" descr="preencoded.png">    </p:cNvPr>
          <p:cNvPicPr>
            <a:picLocks noChangeAspect="1"/>
          </p:cNvPicPr>
          <p:nvPr/>
        </p:nvPicPr>
        <p:blipFill>
          <a:blip r:embed="rId3"/>
          <a:stretch>
            <a:fillRect/>
          </a:stretch>
        </p:blipFill>
        <p:spPr>
          <a:xfrm>
            <a:off x="3154680" y="2011680"/>
            <a:ext cx="146304" cy="201168"/>
          </a:xfrm>
          <a:prstGeom prst="rect">
            <a:avLst/>
          </a:prstGeom>
        </p:spPr>
      </p:pic>
      <p:sp>
        <p:nvSpPr>
          <p:cNvPr id="11" name="Flow 2"/>
          <p:cNvSpPr/>
          <p:nvPr/>
        </p:nvSpPr>
        <p:spPr>
          <a:xfrm>
            <a:off x="3337560" y="1417320"/>
            <a:ext cx="2468880" cy="1417320"/>
          </a:xfrm>
          <a:prstGeom prst="roundRect">
            <a:avLst>
              <a:gd name="adj" fmla="val 9032"/>
            </a:avLst>
          </a:prstGeom>
          <a:solidFill>
            <a:srgbClr val="17152A"/>
          </a:solidFill>
          <a:ln w="9525">
            <a:solidFill>
              <a:srgbClr val="2E2A48"/>
            </a:solidFill>
            <a:prstDash val="solid"/>
          </a:ln>
        </p:spPr>
      </p:sp>
      <p:sp>
        <p:nvSpPr>
          <p:cNvPr id="12" name="Flow 2 circle"/>
          <p:cNvSpPr/>
          <p:nvPr/>
        </p:nvSpPr>
        <p:spPr>
          <a:xfrm>
            <a:off x="3520440" y="1572768"/>
            <a:ext cx="475488" cy="475488"/>
          </a:xfrm>
          <a:prstGeom prst="ellipse">
            <a:avLst/>
          </a:prstGeom>
          <a:solidFill>
            <a:srgbClr val="7C3AED"/>
          </a:solidFill>
          <a:ln w="12700">
            <a:solidFill>
              <a:srgbClr val="7C3AED"/>
            </a:solidFill>
            <a:prstDash val="solid"/>
          </a:ln>
        </p:spPr>
      </p:sp>
      <p:pic>
        <p:nvPicPr>
          <p:cNvPr id="13" name="Flow 2 icon" descr="preencoded.png">    </p:cNvPr>
          <p:cNvPicPr>
            <a:picLocks noChangeAspect="1"/>
          </p:cNvPicPr>
          <p:nvPr/>
        </p:nvPicPr>
        <p:blipFill>
          <a:blip r:embed="rId4"/>
          <a:stretch>
            <a:fillRect/>
          </a:stretch>
        </p:blipFill>
        <p:spPr>
          <a:xfrm>
            <a:off x="3639312" y="1691640"/>
            <a:ext cx="237744" cy="237744"/>
          </a:xfrm>
          <a:prstGeom prst="rect">
            <a:avLst/>
          </a:prstGeom>
        </p:spPr>
      </p:pic>
      <p:sp>
        <p:nvSpPr>
          <p:cNvPr id="14" name="Flow title 2"/>
          <p:cNvSpPr txBox="1"/>
          <p:nvPr/>
        </p:nvSpPr>
        <p:spPr>
          <a:xfrm>
            <a:off x="4114800" y="1600200"/>
            <a:ext cx="1600200" cy="41148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2. Customer pays</a:t>
            </a:r>
            <a:endParaRPr lang="en-US" sz="1350" dirty="0"/>
          </a:p>
        </p:txBody>
      </p:sp>
      <p:sp>
        <p:nvSpPr>
          <p:cNvPr id="15" name="Flow text 2"/>
          <p:cNvSpPr txBox="1"/>
          <p:nvPr/>
        </p:nvSpPr>
        <p:spPr>
          <a:xfrm>
            <a:off x="3520440" y="2176272"/>
            <a:ext cx="2148840" cy="603504"/>
          </a:xfrm>
          <a:prstGeom prst="rect">
            <a:avLst/>
          </a:prstGeom>
          <a:noFill/>
          <a:ln/>
        </p:spPr>
        <p:txBody>
          <a:bodyPr wrap="square" lIns="0" tIns="0" rIns="0" bIns="0" rtlCol="0" anchor="t"/>
          <a:lstStyle/>
          <a:p>
            <a:pPr indent="0" marL="0">
              <a:buNone/>
            </a:pPr>
            <a:r>
              <a:rPr lang="en-US" sz="1050" dirty="0">
                <a:solidFill>
                  <a:srgbClr val="A9A6BD"/>
                </a:solidFill>
              </a:rPr>
              <a:t>From Nequi, DaviPlata or any Bre-B bank app.</a:t>
            </a:r>
            <a:endParaRPr lang="en-US" sz="1050" dirty="0"/>
          </a:p>
        </p:txBody>
      </p:sp>
      <p:pic>
        <p:nvPicPr>
          <p:cNvPr id="16" name="Arrow 2" descr="preencoded.png">    </p:cNvPr>
          <p:cNvPicPr>
            <a:picLocks noChangeAspect="1"/>
          </p:cNvPicPr>
          <p:nvPr/>
        </p:nvPicPr>
        <p:blipFill>
          <a:blip r:embed="rId5"/>
          <a:stretch>
            <a:fillRect/>
          </a:stretch>
        </p:blipFill>
        <p:spPr>
          <a:xfrm>
            <a:off x="5852160" y="2011680"/>
            <a:ext cx="146304" cy="201168"/>
          </a:xfrm>
          <a:prstGeom prst="rect">
            <a:avLst/>
          </a:prstGeom>
        </p:spPr>
      </p:pic>
      <p:sp>
        <p:nvSpPr>
          <p:cNvPr id="17" name="Flow 3"/>
          <p:cNvSpPr/>
          <p:nvPr/>
        </p:nvSpPr>
        <p:spPr>
          <a:xfrm>
            <a:off x="6035040" y="1417320"/>
            <a:ext cx="2468880" cy="1417320"/>
          </a:xfrm>
          <a:prstGeom prst="roundRect">
            <a:avLst>
              <a:gd name="adj" fmla="val 9032"/>
            </a:avLst>
          </a:prstGeom>
          <a:solidFill>
            <a:srgbClr val="17152A"/>
          </a:solidFill>
          <a:ln w="9525">
            <a:solidFill>
              <a:srgbClr val="2E2A48"/>
            </a:solidFill>
            <a:prstDash val="solid"/>
          </a:ln>
        </p:spPr>
      </p:sp>
      <p:sp>
        <p:nvSpPr>
          <p:cNvPr id="18" name="Flow 3 circle"/>
          <p:cNvSpPr/>
          <p:nvPr/>
        </p:nvSpPr>
        <p:spPr>
          <a:xfrm>
            <a:off x="6217920" y="1572768"/>
            <a:ext cx="475488" cy="475488"/>
          </a:xfrm>
          <a:prstGeom prst="ellipse">
            <a:avLst/>
          </a:prstGeom>
          <a:solidFill>
            <a:srgbClr val="7C3AED"/>
          </a:solidFill>
          <a:ln w="12700">
            <a:solidFill>
              <a:srgbClr val="7C3AED"/>
            </a:solidFill>
            <a:prstDash val="solid"/>
          </a:ln>
        </p:spPr>
      </p:sp>
      <p:pic>
        <p:nvPicPr>
          <p:cNvPr id="19" name="Flow 3 icon" descr="preencoded.png">    </p:cNvPr>
          <p:cNvPicPr>
            <a:picLocks noChangeAspect="1"/>
          </p:cNvPicPr>
          <p:nvPr/>
        </p:nvPicPr>
        <p:blipFill>
          <a:blip r:embed="rId6"/>
          <a:stretch>
            <a:fillRect/>
          </a:stretch>
        </p:blipFill>
        <p:spPr>
          <a:xfrm>
            <a:off x="6336792" y="1691640"/>
            <a:ext cx="237744" cy="237744"/>
          </a:xfrm>
          <a:prstGeom prst="rect">
            <a:avLst/>
          </a:prstGeom>
        </p:spPr>
      </p:pic>
      <p:sp>
        <p:nvSpPr>
          <p:cNvPr id="20" name="Flow title 3"/>
          <p:cNvSpPr txBox="1"/>
          <p:nvPr/>
        </p:nvSpPr>
        <p:spPr>
          <a:xfrm>
            <a:off x="6812280" y="1600200"/>
            <a:ext cx="1600200" cy="41148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3. Vento confirms</a:t>
            </a:r>
            <a:endParaRPr lang="en-US" sz="1350" dirty="0"/>
          </a:p>
        </p:txBody>
      </p:sp>
      <p:sp>
        <p:nvSpPr>
          <p:cNvPr id="21" name="Flow text 3"/>
          <p:cNvSpPr txBox="1"/>
          <p:nvPr/>
        </p:nvSpPr>
        <p:spPr>
          <a:xfrm>
            <a:off x="6217920" y="2176272"/>
            <a:ext cx="2148840" cy="603504"/>
          </a:xfrm>
          <a:prstGeom prst="rect">
            <a:avLst/>
          </a:prstGeom>
          <a:noFill/>
          <a:ln/>
        </p:spPr>
        <p:txBody>
          <a:bodyPr wrap="square" lIns="0" tIns="0" rIns="0" bIns="0" rtlCol="0" anchor="t"/>
          <a:lstStyle/>
          <a:p>
            <a:pPr indent="0" marL="0">
              <a:buNone/>
            </a:pPr>
            <a:r>
              <a:rPr lang="en-US" sz="1050" dirty="0">
                <a:solidFill>
                  <a:srgbClr val="A9A6BD"/>
                </a:solidFill>
              </a:rPr>
              <a:t>The bank’s own notification reaches Vento: amount, sender and which table.</a:t>
            </a:r>
            <a:endParaRPr lang="en-US" sz="1050" dirty="0"/>
          </a:p>
        </p:txBody>
      </p:sp>
      <p:sp>
        <p:nvSpPr>
          <p:cNvPr id="22" name="Checks intro"/>
          <p:cNvSpPr txBox="1"/>
          <p:nvPr/>
        </p:nvSpPr>
        <p:spPr>
          <a:xfrm>
            <a:off x="640080" y="2999232"/>
            <a:ext cx="7863840" cy="274320"/>
          </a:xfrm>
          <a:prstGeom prst="rect">
            <a:avLst/>
          </a:prstGeom>
          <a:noFill/>
          <a:ln/>
        </p:spPr>
        <p:txBody>
          <a:bodyPr wrap="square" lIns="0" tIns="0" rIns="0" bIns="0" rtlCol="0" anchor="ctr"/>
          <a:lstStyle/>
          <a:p>
            <a:pPr indent="0" marL="0">
              <a:buNone/>
            </a:pPr>
            <a:r>
              <a:rPr lang="en-US" sz="1200" b="1" dirty="0">
                <a:solidFill>
                  <a:srgbClr val="C4B5FD"/>
                </a:solidFill>
              </a:rPr>
              <a:t>Every screenshot is read on-device and cross-checked against money that actually arrived:</a:t>
            </a:r>
            <a:endParaRPr lang="en-US" sz="1200" dirty="0"/>
          </a:p>
        </p:txBody>
      </p:sp>
      <p:sp>
        <p:nvSpPr>
          <p:cNvPr id="23" name="Check dot 1"/>
          <p:cNvSpPr/>
          <p:nvPr/>
        </p:nvSpPr>
        <p:spPr>
          <a:xfrm>
            <a:off x="640080" y="3447288"/>
            <a:ext cx="146304" cy="146304"/>
          </a:xfrm>
          <a:prstGeom prst="ellipse">
            <a:avLst/>
          </a:prstGeom>
          <a:solidFill>
            <a:srgbClr val="34D399"/>
          </a:solidFill>
          <a:ln w="12700">
            <a:solidFill>
              <a:srgbClr val="34D399"/>
            </a:solidFill>
            <a:prstDash val="solid"/>
          </a:ln>
        </p:spPr>
      </p:sp>
      <p:sp>
        <p:nvSpPr>
          <p:cNvPr id="24" name="Check title 1"/>
          <p:cNvSpPr txBox="1"/>
          <p:nvPr/>
        </p:nvSpPr>
        <p:spPr>
          <a:xfrm>
            <a:off x="896112" y="3383280"/>
            <a:ext cx="233172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Matches a real deposit</a:t>
            </a:r>
            <a:endParaRPr lang="en-US" sz="1200" dirty="0"/>
          </a:p>
        </p:txBody>
      </p:sp>
      <p:sp>
        <p:nvSpPr>
          <p:cNvPr id="25" name="Check text 1"/>
          <p:cNvSpPr txBox="1"/>
          <p:nvPr/>
        </p:nvSpPr>
        <p:spPr>
          <a:xfrm>
            <a:off x="896112" y="3648456"/>
            <a:ext cx="2331720" cy="237744"/>
          </a:xfrm>
          <a:prstGeom prst="rect">
            <a:avLst/>
          </a:prstGeom>
          <a:noFill/>
          <a:ln/>
        </p:spPr>
        <p:txBody>
          <a:bodyPr wrap="square" lIns="0" tIns="0" rIns="0" bIns="0" rtlCol="0" anchor="ctr"/>
          <a:lstStyle/>
          <a:p>
            <a:pPr indent="0" marL="0">
              <a:buNone/>
            </a:pPr>
            <a:r>
              <a:rPr lang="en-US" sz="1000" dirty="0">
                <a:solidFill>
                  <a:srgbClr val="A9A6BD"/>
                </a:solidFill>
              </a:rPr>
              <a:t>Same amount &amp; time → accept</a:t>
            </a:r>
            <a:endParaRPr lang="en-US" sz="1000" dirty="0"/>
          </a:p>
        </p:txBody>
      </p:sp>
      <p:sp>
        <p:nvSpPr>
          <p:cNvPr id="26" name="Check dot 2"/>
          <p:cNvSpPr/>
          <p:nvPr/>
        </p:nvSpPr>
        <p:spPr>
          <a:xfrm>
            <a:off x="3337560" y="3447288"/>
            <a:ext cx="146304" cy="146304"/>
          </a:xfrm>
          <a:prstGeom prst="ellipse">
            <a:avLst/>
          </a:prstGeom>
          <a:solidFill>
            <a:srgbClr val="FB7185"/>
          </a:solidFill>
          <a:ln w="12700">
            <a:solidFill>
              <a:srgbClr val="FB7185"/>
            </a:solidFill>
            <a:prstDash val="solid"/>
          </a:ln>
        </p:spPr>
      </p:sp>
      <p:sp>
        <p:nvSpPr>
          <p:cNvPr id="27" name="Check title 2"/>
          <p:cNvSpPr txBox="1"/>
          <p:nvPr/>
        </p:nvSpPr>
        <p:spPr>
          <a:xfrm>
            <a:off x="3593592" y="3383280"/>
            <a:ext cx="233172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Reference already used</a:t>
            </a:r>
            <a:endParaRPr lang="en-US" sz="1200" dirty="0"/>
          </a:p>
        </p:txBody>
      </p:sp>
      <p:sp>
        <p:nvSpPr>
          <p:cNvPr id="28" name="Check text 2"/>
          <p:cNvSpPr txBox="1"/>
          <p:nvPr/>
        </p:nvSpPr>
        <p:spPr>
          <a:xfrm>
            <a:off x="3593592" y="3648456"/>
            <a:ext cx="2331720" cy="237744"/>
          </a:xfrm>
          <a:prstGeom prst="rect">
            <a:avLst/>
          </a:prstGeom>
          <a:noFill/>
          <a:ln/>
        </p:spPr>
        <p:txBody>
          <a:bodyPr wrap="square" lIns="0" tIns="0" rIns="0" bIns="0" rtlCol="0" anchor="ctr"/>
          <a:lstStyle/>
          <a:p>
            <a:pPr indent="0" marL="0">
              <a:buNone/>
            </a:pPr>
            <a:r>
              <a:rPr lang="en-US" sz="1000" dirty="0">
                <a:solidFill>
                  <a:srgbClr val="A9A6BD"/>
                </a:solidFill>
              </a:rPr>
              <a:t>Same receipt shown twice → fake</a:t>
            </a:r>
            <a:endParaRPr lang="en-US" sz="1000" dirty="0"/>
          </a:p>
        </p:txBody>
      </p:sp>
      <p:sp>
        <p:nvSpPr>
          <p:cNvPr id="29" name="Check dot 3"/>
          <p:cNvSpPr/>
          <p:nvPr/>
        </p:nvSpPr>
        <p:spPr>
          <a:xfrm>
            <a:off x="6035040" y="3447288"/>
            <a:ext cx="146304" cy="146304"/>
          </a:xfrm>
          <a:prstGeom prst="ellipse">
            <a:avLst/>
          </a:prstGeom>
          <a:solidFill>
            <a:srgbClr val="FB7185"/>
          </a:solidFill>
          <a:ln w="12700">
            <a:solidFill>
              <a:srgbClr val="FB7185"/>
            </a:solidFill>
            <a:prstDash val="solid"/>
          </a:ln>
        </p:spPr>
      </p:sp>
      <p:sp>
        <p:nvSpPr>
          <p:cNvPr id="30" name="Check title 3"/>
          <p:cNvSpPr txBox="1"/>
          <p:nvPr/>
        </p:nvSpPr>
        <p:spPr>
          <a:xfrm>
            <a:off x="6291072" y="3383280"/>
            <a:ext cx="233172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Paid to another number</a:t>
            </a:r>
            <a:endParaRPr lang="en-US" sz="1200" dirty="0"/>
          </a:p>
        </p:txBody>
      </p:sp>
      <p:sp>
        <p:nvSpPr>
          <p:cNvPr id="31" name="Check text 3"/>
          <p:cNvSpPr txBox="1"/>
          <p:nvPr/>
        </p:nvSpPr>
        <p:spPr>
          <a:xfrm>
            <a:off x="6291072" y="3648456"/>
            <a:ext cx="2331720" cy="237744"/>
          </a:xfrm>
          <a:prstGeom prst="rect">
            <a:avLst/>
          </a:prstGeom>
          <a:noFill/>
          <a:ln/>
        </p:spPr>
        <p:txBody>
          <a:bodyPr wrap="square" lIns="0" tIns="0" rIns="0" bIns="0" rtlCol="0" anchor="ctr"/>
          <a:lstStyle/>
          <a:p>
            <a:pPr indent="0" marL="0">
              <a:buNone/>
            </a:pPr>
            <a:r>
              <a:rPr lang="en-US" sz="1000" dirty="0">
                <a:solidFill>
                  <a:srgbClr val="A9A6BD"/>
                </a:solidFill>
              </a:rPr>
              <a:t>Money never reached you → fake</a:t>
            </a:r>
            <a:endParaRPr lang="en-US" sz="1000" dirty="0"/>
          </a:p>
        </p:txBody>
      </p:sp>
      <p:sp>
        <p:nvSpPr>
          <p:cNvPr id="32" name="Check dot 4"/>
          <p:cNvSpPr/>
          <p:nvPr/>
        </p:nvSpPr>
        <p:spPr>
          <a:xfrm>
            <a:off x="640080" y="4069080"/>
            <a:ext cx="146304" cy="146304"/>
          </a:xfrm>
          <a:prstGeom prst="ellipse">
            <a:avLst/>
          </a:prstGeom>
          <a:solidFill>
            <a:srgbClr val="FB7185"/>
          </a:solidFill>
          <a:ln w="12700">
            <a:solidFill>
              <a:srgbClr val="FB7185"/>
            </a:solidFill>
            <a:prstDash val="solid"/>
          </a:ln>
        </p:spPr>
      </p:sp>
      <p:sp>
        <p:nvSpPr>
          <p:cNvPr id="33" name="Check title 4"/>
          <p:cNvSpPr txBox="1"/>
          <p:nvPr/>
        </p:nvSpPr>
        <p:spPr>
          <a:xfrm>
            <a:off x="896112" y="4005072"/>
            <a:ext cx="233172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Future or old date</a:t>
            </a:r>
            <a:endParaRPr lang="en-US" sz="1200" dirty="0"/>
          </a:p>
        </p:txBody>
      </p:sp>
      <p:sp>
        <p:nvSpPr>
          <p:cNvPr id="34" name="Check text 4"/>
          <p:cNvSpPr txBox="1"/>
          <p:nvPr/>
        </p:nvSpPr>
        <p:spPr>
          <a:xfrm>
            <a:off x="896112" y="4270248"/>
            <a:ext cx="2331720" cy="237744"/>
          </a:xfrm>
          <a:prstGeom prst="rect">
            <a:avLst/>
          </a:prstGeom>
          <a:noFill/>
          <a:ln/>
        </p:spPr>
        <p:txBody>
          <a:bodyPr wrap="square" lIns="0" tIns="0" rIns="0" bIns="0" rtlCol="0" anchor="ctr"/>
          <a:lstStyle/>
          <a:p>
            <a:pPr indent="0" marL="0">
              <a:buNone/>
            </a:pPr>
            <a:r>
              <a:rPr lang="en-US" sz="1000" dirty="0">
                <a:solidFill>
                  <a:srgbClr val="A9A6BD"/>
                </a:solidFill>
              </a:rPr>
              <a:t>Edited screenshot → flagged</a:t>
            </a:r>
            <a:endParaRPr lang="en-US" sz="1000" dirty="0"/>
          </a:p>
        </p:txBody>
      </p:sp>
      <p:sp>
        <p:nvSpPr>
          <p:cNvPr id="35" name="Check dot 5"/>
          <p:cNvSpPr/>
          <p:nvPr/>
        </p:nvSpPr>
        <p:spPr>
          <a:xfrm>
            <a:off x="3337560" y="4069080"/>
            <a:ext cx="146304" cy="146304"/>
          </a:xfrm>
          <a:prstGeom prst="ellipse">
            <a:avLst/>
          </a:prstGeom>
          <a:solidFill>
            <a:srgbClr val="F5A524"/>
          </a:solidFill>
          <a:ln w="12700">
            <a:solidFill>
              <a:srgbClr val="F5A524"/>
            </a:solidFill>
            <a:prstDash val="solid"/>
          </a:ln>
        </p:spPr>
      </p:sp>
      <p:sp>
        <p:nvSpPr>
          <p:cNvPr id="36" name="Check title 5"/>
          <p:cNvSpPr txBox="1"/>
          <p:nvPr/>
        </p:nvSpPr>
        <p:spPr>
          <a:xfrm>
            <a:off x="3593592" y="4005072"/>
            <a:ext cx="233172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Not arrived yet</a:t>
            </a:r>
            <a:endParaRPr lang="en-US" sz="1200" dirty="0"/>
          </a:p>
        </p:txBody>
      </p:sp>
      <p:sp>
        <p:nvSpPr>
          <p:cNvPr id="37" name="Check text 5"/>
          <p:cNvSpPr txBox="1"/>
          <p:nvPr/>
        </p:nvSpPr>
        <p:spPr>
          <a:xfrm>
            <a:off x="3593592" y="4270248"/>
            <a:ext cx="2331720" cy="237744"/>
          </a:xfrm>
          <a:prstGeom prst="rect">
            <a:avLst/>
          </a:prstGeom>
          <a:noFill/>
          <a:ln/>
        </p:spPr>
        <p:txBody>
          <a:bodyPr wrap="square" lIns="0" tIns="0" rIns="0" bIns="0" rtlCol="0" anchor="ctr"/>
          <a:lstStyle/>
          <a:p>
            <a:pPr indent="0" marL="0">
              <a:buNone/>
            </a:pPr>
            <a:r>
              <a:rPr lang="en-US" sz="1000" dirty="0">
                <a:solidFill>
                  <a:srgbClr val="A9A6BD"/>
                </a:solidFill>
              </a:rPr>
              <a:t>Don’t hand over → alert on arrival</a:t>
            </a:r>
            <a:endParaRPr lang="en-US" sz="1000" dirty="0"/>
          </a:p>
        </p:txBody>
      </p:sp>
      <p:sp>
        <p:nvSpPr>
          <p:cNvPr id="38" name="Check dot 6"/>
          <p:cNvSpPr/>
          <p:nvPr/>
        </p:nvSpPr>
        <p:spPr>
          <a:xfrm>
            <a:off x="6035040" y="4069080"/>
            <a:ext cx="146304" cy="146304"/>
          </a:xfrm>
          <a:prstGeom prst="ellipse">
            <a:avLst/>
          </a:prstGeom>
          <a:solidFill>
            <a:srgbClr val="FB7185"/>
          </a:solidFill>
          <a:ln w="12700">
            <a:solidFill>
              <a:srgbClr val="FB7185"/>
            </a:solidFill>
            <a:prstDash val="solid"/>
          </a:ln>
        </p:spPr>
      </p:sp>
      <p:sp>
        <p:nvSpPr>
          <p:cNvPr id="39" name="Check title 6"/>
          <p:cNvSpPr txBox="1"/>
          <p:nvPr/>
        </p:nvSpPr>
        <p:spPr>
          <a:xfrm>
            <a:off x="6291072" y="4005072"/>
            <a:ext cx="233172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SMS from a phone number</a:t>
            </a:r>
            <a:endParaRPr lang="en-US" sz="1200" dirty="0"/>
          </a:p>
        </p:txBody>
      </p:sp>
      <p:sp>
        <p:nvSpPr>
          <p:cNvPr id="40" name="Check text 6"/>
          <p:cNvSpPr txBox="1"/>
          <p:nvPr/>
        </p:nvSpPr>
        <p:spPr>
          <a:xfrm>
            <a:off x="6291072" y="4270248"/>
            <a:ext cx="2331720" cy="237744"/>
          </a:xfrm>
          <a:prstGeom prst="rect">
            <a:avLst/>
          </a:prstGeom>
          <a:noFill/>
          <a:ln/>
        </p:spPr>
        <p:txBody>
          <a:bodyPr wrap="square" lIns="0" tIns="0" rIns="0" bIns="0" rtlCol="0" anchor="ctr"/>
          <a:lstStyle/>
          <a:p>
            <a:pPr indent="0" marL="0">
              <a:buNone/>
            </a:pPr>
            <a:r>
              <a:rPr lang="en-US" sz="1000" dirty="0">
                <a:solidFill>
                  <a:srgbClr val="A9A6BD"/>
                </a:solidFill>
              </a:rPr>
              <a:t>Banks don’t text from phones → fake</a:t>
            </a:r>
            <a:endParaRPr lang="en-US" sz="10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A8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Background light"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Kicker"/>
          <p:cNvSpPr txBox="1"/>
          <p:nvPr/>
        </p:nvSpPr>
        <p:spPr>
          <a:xfrm>
            <a:off x="640080" y="292608"/>
            <a:ext cx="5486400" cy="256032"/>
          </a:xfrm>
          <a:prstGeom prst="rect">
            <a:avLst/>
          </a:prstGeom>
          <a:noFill/>
          <a:ln/>
        </p:spPr>
        <p:txBody>
          <a:bodyPr wrap="square" lIns="0" tIns="0" rIns="0" bIns="0" rtlCol="0" anchor="ctr"/>
          <a:lstStyle/>
          <a:p>
            <a:pPr indent="0" marL="0">
              <a:buNone/>
            </a:pPr>
            <a:r>
              <a:rPr lang="en-US" sz="1050" b="1" spc="300" kern="0" dirty="0">
                <a:solidFill>
                  <a:srgbClr val="34D399"/>
                </a:solidFill>
              </a:rPr>
              <a:t>VENTO AI</a:t>
            </a:r>
            <a:endParaRPr lang="en-US" sz="1050" dirty="0"/>
          </a:p>
        </p:txBody>
      </p:sp>
      <p:sp>
        <p:nvSpPr>
          <p:cNvPr id="4" name="Text 0"/>
          <p:cNvSpPr/>
          <p:nvPr>
            <p:ph idx="100" type="title" hasCustomPrompt="1"/>
          </p:nvPr>
        </p:nvSpPr>
        <p:spPr>
          <a:xfrm>
            <a:off x="640080" y="566928"/>
            <a:ext cx="7863840" cy="640080"/>
          </a:xfrm>
          <a:prstGeom prst="rect">
            <a:avLst/>
          </a:prstGeom>
          <a:noFill/>
          <a:ln/>
        </p:spPr>
        <p:txBody>
          <a:bodyPr wrap="square" lIns="0" tIns="0" rIns="0" bIns="0" rtlCol="0" anchor="ctr"/>
          <a:lstStyle/>
          <a:p>
            <a:pPr indent="0" marL="0">
              <a:buNone/>
            </a:pPr>
            <a:r>
              <a:rPr lang="en-US" sz="3000" b="1" dirty="0">
                <a:solidFill>
                  <a:schemeClr val="bg1"/>
                </a:solidFill>
              </a:rPr>
              <a:t>An AI that knows the business</a:t>
            </a:r>
            <a:endParaRPr lang="en-US" sz="3000" dirty="0"/>
          </a:p>
        </p:txBody>
      </p:sp>
      <p:sp>
        <p:nvSpPr>
          <p:cNvPr id="5" name="Vento AI chat frame"/>
          <p:cNvSpPr/>
          <p:nvPr/>
        </p:nvSpPr>
        <p:spPr>
          <a:xfrm>
            <a:off x="6748272" y="1261872"/>
            <a:ext cx="1712507" cy="3557016"/>
          </a:xfrm>
          <a:prstGeom prst="roundRect">
            <a:avLst>
              <a:gd name="adj" fmla="val 11747"/>
            </a:avLst>
          </a:prstGeom>
          <a:solidFill>
            <a:srgbClr val="05050A"/>
          </a:solidFill>
          <a:ln w="19050">
            <a:solidFill>
              <a:srgbClr val="5B47A8"/>
            </a:solidFill>
            <a:prstDash val="solid"/>
          </a:ln>
          <a:effectLst>
            <a:outerShdw sx="100000" sy="100000" kx="0" ky="0" algn="bl" rotWithShape="0" blurRad="304800" dist="38100" dir="5400000">
              <a:srgbClr val="7C3AED">
                <a:alpha val="50000"/>
              </a:srgbClr>
            </a:outerShdw>
          </a:effectLst>
        </p:spPr>
      </p:sp>
      <p:pic>
        <p:nvPicPr>
          <p:cNvPr id="6" name="Vento AI chat" descr="preencoded.png">    </p:cNvPr>
          <p:cNvPicPr>
            <a:picLocks noChangeAspect="1"/>
          </p:cNvPicPr>
          <p:nvPr/>
        </p:nvPicPr>
        <p:blipFill>
          <a:blip r:embed="rId2"/>
          <a:stretch>
            <a:fillRect/>
          </a:stretch>
        </p:blipFill>
        <p:spPr>
          <a:xfrm>
            <a:off x="6812280" y="1325880"/>
            <a:ext cx="1584491" cy="3429000"/>
          </a:xfrm>
          <a:prstGeom prst="rect">
            <a:avLst/>
          </a:prstGeom>
        </p:spPr>
      </p:pic>
      <p:sp>
        <p:nvSpPr>
          <p:cNvPr id="7" name="AI stat 1"/>
          <p:cNvSpPr/>
          <p:nvPr/>
        </p:nvSpPr>
        <p:spPr>
          <a:xfrm>
            <a:off x="640080" y="1417320"/>
            <a:ext cx="2880360" cy="1508760"/>
          </a:xfrm>
          <a:prstGeom prst="roundRect">
            <a:avLst>
              <a:gd name="adj" fmla="val 8485"/>
            </a:avLst>
          </a:prstGeom>
          <a:solidFill>
            <a:srgbClr val="1A1530"/>
          </a:solidFill>
          <a:ln w="9525">
            <a:solidFill>
              <a:srgbClr val="3B2F66"/>
            </a:solidFill>
            <a:prstDash val="solid"/>
          </a:ln>
        </p:spPr>
      </p:sp>
      <p:sp>
        <p:nvSpPr>
          <p:cNvPr id="8" name="AI stat value"/>
          <p:cNvSpPr txBox="1"/>
          <p:nvPr/>
        </p:nvSpPr>
        <p:spPr>
          <a:xfrm>
            <a:off x="868680" y="1536192"/>
            <a:ext cx="2468880" cy="731520"/>
          </a:xfrm>
          <a:prstGeom prst="rect">
            <a:avLst/>
          </a:prstGeom>
          <a:noFill/>
          <a:ln/>
        </p:spPr>
        <p:txBody>
          <a:bodyPr wrap="square" lIns="0" tIns="0" rIns="0" bIns="0" rtlCol="0" anchor="ctr"/>
          <a:lstStyle/>
          <a:p>
            <a:pPr indent="0" marL="0">
              <a:buNone/>
            </a:pPr>
            <a:r>
              <a:rPr lang="en-US" sz="4600" b="1" dirty="0">
                <a:solidFill>
                  <a:srgbClr val="34D399"/>
                </a:solidFill>
                <a:latin typeface="Arial" pitchFamily="34" charset="0"/>
                <a:ea typeface="Arial" pitchFamily="34" charset="-122"/>
                <a:cs typeface="Arial" pitchFamily="34" charset="-120"/>
              </a:rPr>
              <a:t>2.4 s</a:t>
            </a:r>
            <a:endParaRPr lang="en-US" sz="4600" dirty="0"/>
          </a:p>
        </p:txBody>
      </p:sp>
      <p:sp>
        <p:nvSpPr>
          <p:cNvPr id="9" name="AI stat label"/>
          <p:cNvSpPr txBox="1"/>
          <p:nvPr/>
        </p:nvSpPr>
        <p:spPr>
          <a:xfrm>
            <a:off x="868680" y="2286000"/>
            <a:ext cx="2514600" cy="548640"/>
          </a:xfrm>
          <a:prstGeom prst="rect">
            <a:avLst/>
          </a:prstGeom>
          <a:noFill/>
          <a:ln/>
        </p:spPr>
        <p:txBody>
          <a:bodyPr wrap="square" lIns="0" tIns="0" rIns="0" bIns="0" rtlCol="0" anchor="t"/>
          <a:lstStyle/>
          <a:p>
            <a:pPr indent="0" marL="0">
              <a:buNone/>
            </a:pPr>
            <a:r>
              <a:rPr lang="en-US" sz="1100" dirty="0">
                <a:solidFill>
                  <a:srgbClr val="A9A6BD"/>
                </a:solidFill>
              </a:rPr>
              <a:t>to read a supplier invoice on-device, no internet (internal test)</a:t>
            </a:r>
            <a:endParaRPr lang="en-US" sz="1100" dirty="0"/>
          </a:p>
        </p:txBody>
      </p:sp>
      <p:sp>
        <p:nvSpPr>
          <p:cNvPr id="10" name="AI stat 2"/>
          <p:cNvSpPr/>
          <p:nvPr/>
        </p:nvSpPr>
        <p:spPr>
          <a:xfrm>
            <a:off x="3703320" y="1417320"/>
            <a:ext cx="2788920" cy="1508760"/>
          </a:xfrm>
          <a:prstGeom prst="roundRect">
            <a:avLst>
              <a:gd name="adj" fmla="val 8485"/>
            </a:avLst>
          </a:prstGeom>
          <a:solidFill>
            <a:srgbClr val="1A1530"/>
          </a:solidFill>
          <a:ln w="9525">
            <a:solidFill>
              <a:srgbClr val="3B2F66"/>
            </a:solidFill>
            <a:prstDash val="solid"/>
          </a:ln>
        </p:spPr>
      </p:sp>
      <p:sp>
        <p:nvSpPr>
          <p:cNvPr id="11" name="AI stat 2 value"/>
          <p:cNvSpPr txBox="1"/>
          <p:nvPr/>
        </p:nvSpPr>
        <p:spPr>
          <a:xfrm>
            <a:off x="3931920" y="1536192"/>
            <a:ext cx="2468880" cy="731520"/>
          </a:xfrm>
          <a:prstGeom prst="rect">
            <a:avLst/>
          </a:prstGeom>
          <a:noFill/>
          <a:ln/>
        </p:spPr>
        <p:txBody>
          <a:bodyPr wrap="square" lIns="0" tIns="0" rIns="0" bIns="0" rtlCol="0" anchor="ctr"/>
          <a:lstStyle/>
          <a:p>
            <a:pPr indent="0" marL="0">
              <a:buNone/>
            </a:pPr>
            <a:r>
              <a:rPr lang="en-US" sz="2600" b="1" dirty="0">
                <a:solidFill>
                  <a:srgbClr val="C4B5FD"/>
                </a:solidFill>
                <a:latin typeface="Arial" pitchFamily="34" charset="0"/>
                <a:ea typeface="Arial" pitchFamily="34" charset="-122"/>
                <a:cs typeface="Arial" pitchFamily="34" charset="-120"/>
              </a:rPr>
              <a:t>Dual-engine</a:t>
            </a:r>
            <a:endParaRPr lang="en-US" sz="2600" dirty="0"/>
          </a:p>
        </p:txBody>
      </p:sp>
      <p:sp>
        <p:nvSpPr>
          <p:cNvPr id="12" name="AI stat 2 label"/>
          <p:cNvSpPr txBox="1"/>
          <p:nvPr/>
        </p:nvSpPr>
        <p:spPr>
          <a:xfrm>
            <a:off x="3931920" y="2286000"/>
            <a:ext cx="2423160" cy="548640"/>
          </a:xfrm>
          <a:prstGeom prst="rect">
            <a:avLst/>
          </a:prstGeom>
          <a:noFill/>
          <a:ln/>
        </p:spPr>
        <p:txBody>
          <a:bodyPr wrap="square" lIns="0" tIns="0" rIns="0" bIns="0" rtlCol="0" anchor="t"/>
          <a:lstStyle/>
          <a:p>
            <a:pPr indent="0" marL="0">
              <a:buNone/>
            </a:pPr>
            <a:r>
              <a:rPr lang="en-US" sz="1100" dirty="0">
                <a:solidFill>
                  <a:srgbClr val="A9A6BD"/>
                </a:solidFill>
              </a:rPr>
              <a:t>on-device and cloud readers race; the fastest result wins</a:t>
            </a:r>
            <a:endParaRPr lang="en-US" sz="1100" dirty="0"/>
          </a:p>
        </p:txBody>
      </p:sp>
      <p:sp>
        <p:nvSpPr>
          <p:cNvPr id="13" name="AI bullets"/>
          <p:cNvSpPr txBox="1"/>
          <p:nvPr/>
        </p:nvSpPr>
        <p:spPr>
          <a:xfrm>
            <a:off x="640080" y="3154680"/>
            <a:ext cx="5852160" cy="15544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F2F1F7"/>
                </a:solidFill>
              </a:rPr>
              <a:t>Scans invoices → stock, VAT and true unit cost, automatically</a:t>
            </a:r>
            <a:endParaRPr lang="en-US" sz="1250" dirty="0"/>
          </a:p>
          <a:p>
            <a:pPr marL="342900" indent="-342900">
              <a:spcAft>
                <a:spcPts val="600"/>
              </a:spcAft>
              <a:buSzPct val="100000"/>
              <a:buChar char="•"/>
            </a:pPr>
            <a:r>
              <a:rPr lang="en-US" sz="1250" dirty="0">
                <a:solidFill>
                  <a:srgbClr val="F2F1F7"/>
                </a:solidFill>
              </a:rPr>
              <a:t>Answers “what did I sell today?” with the business’s real data</a:t>
            </a:r>
            <a:endParaRPr lang="en-US" sz="1250" dirty="0"/>
          </a:p>
          <a:p>
            <a:pPr marL="342900" indent="-342900">
              <a:spcAft>
                <a:spcPts val="600"/>
              </a:spcAft>
              <a:buSzPct val="100000"/>
              <a:buChar char="•"/>
            </a:pPr>
            <a:r>
              <a:rPr lang="en-US" sz="1250" dirty="0">
                <a:solidFill>
                  <a:srgbClr val="F2F1F7"/>
                </a:solidFill>
              </a:rPr>
              <a:t>Flags stock-outs, price increases and delayed orders; predicts how long stock lasts</a:t>
            </a:r>
            <a:endParaRPr lang="en-US" sz="1250" dirty="0"/>
          </a:p>
          <a:p>
            <a:pPr marL="342900" indent="-342900">
              <a:spcAft>
                <a:spcPts val="600"/>
              </a:spcAft>
              <a:buSzPct val="100000"/>
              <a:buChar char="•"/>
            </a:pPr>
            <a:r>
              <a:rPr lang="en-US" sz="1250" dirty="0">
                <a:solidFill>
                  <a:srgbClr val="F2F1F7"/>
                </a:solidFill>
              </a:rPr>
              <a:t>Pre-configured: the business never handles an API key</a:t>
            </a:r>
            <a:endParaRPr lang="en-US" sz="125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A8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Background light"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Kicker"/>
          <p:cNvSpPr txBox="1"/>
          <p:nvPr/>
        </p:nvSpPr>
        <p:spPr>
          <a:xfrm>
            <a:off x="640080" y="292608"/>
            <a:ext cx="5486400" cy="256032"/>
          </a:xfrm>
          <a:prstGeom prst="rect">
            <a:avLst/>
          </a:prstGeom>
          <a:noFill/>
          <a:ln/>
        </p:spPr>
        <p:txBody>
          <a:bodyPr wrap="square" lIns="0" tIns="0" rIns="0" bIns="0" rtlCol="0" anchor="ctr"/>
          <a:lstStyle/>
          <a:p>
            <a:pPr indent="0" marL="0">
              <a:buNone/>
            </a:pPr>
            <a:r>
              <a:rPr lang="en-US" sz="1050" b="1" spc="300" kern="0" dirty="0">
                <a:solidFill>
                  <a:srgbClr val="34D399"/>
                </a:solidFill>
              </a:rPr>
              <a:t>BREADTH</a:t>
            </a:r>
            <a:endParaRPr lang="en-US" sz="1050" dirty="0"/>
          </a:p>
        </p:txBody>
      </p:sp>
      <p:sp>
        <p:nvSpPr>
          <p:cNvPr id="4" name="Text 0"/>
          <p:cNvSpPr/>
          <p:nvPr>
            <p:ph idx="100" type="title" hasCustomPrompt="1"/>
          </p:nvPr>
        </p:nvSpPr>
        <p:spPr>
          <a:xfrm>
            <a:off x="640080" y="566928"/>
            <a:ext cx="7863840" cy="640080"/>
          </a:xfrm>
          <a:prstGeom prst="rect">
            <a:avLst/>
          </a:prstGeom>
          <a:noFill/>
          <a:ln/>
        </p:spPr>
        <p:txBody>
          <a:bodyPr wrap="square" lIns="0" tIns="0" rIns="0" bIns="0" rtlCol="0" anchor="ctr"/>
          <a:lstStyle/>
          <a:p>
            <a:pPr indent="0" marL="0">
              <a:buNone/>
            </a:pPr>
            <a:r>
              <a:rPr lang="en-US" sz="3000" b="1" dirty="0">
                <a:solidFill>
                  <a:schemeClr val="bg1"/>
                </a:solidFill>
              </a:rPr>
              <a:t>Five apps, replaced by one</a:t>
            </a:r>
            <a:endParaRPr lang="en-US" sz="3000" dirty="0"/>
          </a:p>
        </p:txBody>
      </p:sp>
      <p:sp>
        <p:nvSpPr>
          <p:cNvPr id="5" name="Feature 1"/>
          <p:cNvSpPr/>
          <p:nvPr/>
        </p:nvSpPr>
        <p:spPr>
          <a:xfrm>
            <a:off x="640080" y="1371600"/>
            <a:ext cx="2542032" cy="548640"/>
          </a:xfrm>
          <a:prstGeom prst="roundRect">
            <a:avLst>
              <a:gd name="adj" fmla="val 23333"/>
            </a:avLst>
          </a:prstGeom>
          <a:solidFill>
            <a:srgbClr val="17152A"/>
          </a:solidFill>
          <a:ln w="9525">
            <a:solidFill>
              <a:srgbClr val="2E2A48"/>
            </a:solidFill>
            <a:prstDash val="solid"/>
          </a:ln>
        </p:spPr>
      </p:sp>
      <p:pic>
        <p:nvPicPr>
          <p:cNvPr id="6" name="Feature check 1" descr="preencoded.png">    </p:cNvPr>
          <p:cNvPicPr>
            <a:picLocks noChangeAspect="1"/>
          </p:cNvPicPr>
          <p:nvPr/>
        </p:nvPicPr>
        <p:blipFill>
          <a:blip r:embed="rId2"/>
          <a:stretch>
            <a:fillRect/>
          </a:stretch>
        </p:blipFill>
        <p:spPr>
          <a:xfrm>
            <a:off x="768096" y="1527048"/>
            <a:ext cx="237744" cy="237744"/>
          </a:xfrm>
          <a:prstGeom prst="rect">
            <a:avLst/>
          </a:prstGeom>
        </p:spPr>
      </p:pic>
      <p:sp>
        <p:nvSpPr>
          <p:cNvPr id="7" name="Feature text 1"/>
          <p:cNvSpPr txBox="1"/>
          <p:nvPr/>
        </p:nvSpPr>
        <p:spPr>
          <a:xfrm>
            <a:off x="1097280" y="1417320"/>
            <a:ext cx="2011680" cy="457200"/>
          </a:xfrm>
          <a:prstGeom prst="rect">
            <a:avLst/>
          </a:prstGeom>
          <a:noFill/>
          <a:ln/>
        </p:spPr>
        <p:txBody>
          <a:bodyPr wrap="square" lIns="0" tIns="0" rIns="0" bIns="0" rtlCol="0" anchor="ctr"/>
          <a:lstStyle/>
          <a:p>
            <a:pPr indent="0" marL="0">
              <a:buNone/>
            </a:pPr>
            <a:r>
              <a:rPr lang="en-US" sz="1100" b="1" dirty="0">
                <a:solidFill>
                  <a:srgbClr val="FFFFFF"/>
                </a:solidFill>
              </a:rPr>
              <a:t>Voice orders in Colombian Spanish</a:t>
            </a:r>
            <a:endParaRPr lang="en-US" sz="1100" dirty="0"/>
          </a:p>
        </p:txBody>
      </p:sp>
      <p:sp>
        <p:nvSpPr>
          <p:cNvPr id="8" name="Feature 2"/>
          <p:cNvSpPr/>
          <p:nvPr/>
        </p:nvSpPr>
        <p:spPr>
          <a:xfrm>
            <a:off x="3310128" y="1371600"/>
            <a:ext cx="2542032" cy="548640"/>
          </a:xfrm>
          <a:prstGeom prst="roundRect">
            <a:avLst>
              <a:gd name="adj" fmla="val 23333"/>
            </a:avLst>
          </a:prstGeom>
          <a:solidFill>
            <a:srgbClr val="17152A"/>
          </a:solidFill>
          <a:ln w="9525">
            <a:solidFill>
              <a:srgbClr val="2E2A48"/>
            </a:solidFill>
            <a:prstDash val="solid"/>
          </a:ln>
        </p:spPr>
      </p:sp>
      <p:pic>
        <p:nvPicPr>
          <p:cNvPr id="9" name="Feature check 2" descr="preencoded.png">    </p:cNvPr>
          <p:cNvPicPr>
            <a:picLocks noChangeAspect="1"/>
          </p:cNvPicPr>
          <p:nvPr/>
        </p:nvPicPr>
        <p:blipFill>
          <a:blip r:embed="rId3"/>
          <a:stretch>
            <a:fillRect/>
          </a:stretch>
        </p:blipFill>
        <p:spPr>
          <a:xfrm>
            <a:off x="3438144" y="1527048"/>
            <a:ext cx="237744" cy="237744"/>
          </a:xfrm>
          <a:prstGeom prst="rect">
            <a:avLst/>
          </a:prstGeom>
        </p:spPr>
      </p:pic>
      <p:sp>
        <p:nvSpPr>
          <p:cNvPr id="10" name="Feature text 2"/>
          <p:cNvSpPr txBox="1"/>
          <p:nvPr/>
        </p:nvSpPr>
        <p:spPr>
          <a:xfrm>
            <a:off x="3767328" y="1417320"/>
            <a:ext cx="2011680" cy="457200"/>
          </a:xfrm>
          <a:prstGeom prst="rect">
            <a:avLst/>
          </a:prstGeom>
          <a:noFill/>
          <a:ln/>
        </p:spPr>
        <p:txBody>
          <a:bodyPr wrap="square" lIns="0" tIns="0" rIns="0" bIns="0" rtlCol="0" anchor="ctr"/>
          <a:lstStyle/>
          <a:p>
            <a:pPr indent="0" marL="0">
              <a:buNone/>
            </a:pPr>
            <a:r>
              <a:rPr lang="en-US" sz="1100" b="1" dirty="0">
                <a:solidFill>
                  <a:srgbClr val="FFFFFF"/>
                </a:solidFill>
              </a:rPr>
              <a:t>Fake-payment detection</a:t>
            </a:r>
            <a:endParaRPr lang="en-US" sz="1100" dirty="0"/>
          </a:p>
        </p:txBody>
      </p:sp>
      <p:sp>
        <p:nvSpPr>
          <p:cNvPr id="11" name="Feature 3"/>
          <p:cNvSpPr/>
          <p:nvPr/>
        </p:nvSpPr>
        <p:spPr>
          <a:xfrm>
            <a:off x="5980176" y="1371600"/>
            <a:ext cx="2542032" cy="548640"/>
          </a:xfrm>
          <a:prstGeom prst="roundRect">
            <a:avLst>
              <a:gd name="adj" fmla="val 23333"/>
            </a:avLst>
          </a:prstGeom>
          <a:solidFill>
            <a:srgbClr val="17152A"/>
          </a:solidFill>
          <a:ln w="9525">
            <a:solidFill>
              <a:srgbClr val="2E2A48"/>
            </a:solidFill>
            <a:prstDash val="solid"/>
          </a:ln>
        </p:spPr>
      </p:sp>
      <p:pic>
        <p:nvPicPr>
          <p:cNvPr id="12" name="Feature check 3" descr="preencoded.png">    </p:cNvPr>
          <p:cNvPicPr>
            <a:picLocks noChangeAspect="1"/>
          </p:cNvPicPr>
          <p:nvPr/>
        </p:nvPicPr>
        <p:blipFill>
          <a:blip r:embed="rId4"/>
          <a:stretch>
            <a:fillRect/>
          </a:stretch>
        </p:blipFill>
        <p:spPr>
          <a:xfrm>
            <a:off x="6108192" y="1527048"/>
            <a:ext cx="237744" cy="237744"/>
          </a:xfrm>
          <a:prstGeom prst="rect">
            <a:avLst/>
          </a:prstGeom>
        </p:spPr>
      </p:pic>
      <p:sp>
        <p:nvSpPr>
          <p:cNvPr id="13" name="Feature text 3"/>
          <p:cNvSpPr txBox="1"/>
          <p:nvPr/>
        </p:nvSpPr>
        <p:spPr>
          <a:xfrm>
            <a:off x="6437376" y="1417320"/>
            <a:ext cx="2011680" cy="457200"/>
          </a:xfrm>
          <a:prstGeom prst="rect">
            <a:avLst/>
          </a:prstGeom>
          <a:noFill/>
          <a:ln/>
        </p:spPr>
        <p:txBody>
          <a:bodyPr wrap="square" lIns="0" tIns="0" rIns="0" bIns="0" rtlCol="0" anchor="ctr"/>
          <a:lstStyle/>
          <a:p>
            <a:pPr indent="0" marL="0">
              <a:buNone/>
            </a:pPr>
            <a:r>
              <a:rPr lang="en-US" sz="1100" b="1" dirty="0">
                <a:solidFill>
                  <a:srgbClr val="FFFFFF"/>
                </a:solidFill>
              </a:rPr>
              <a:t>AI invoice reading, even offline</a:t>
            </a:r>
            <a:endParaRPr lang="en-US" sz="1100" dirty="0"/>
          </a:p>
        </p:txBody>
      </p:sp>
      <p:sp>
        <p:nvSpPr>
          <p:cNvPr id="14" name="Feature 4"/>
          <p:cNvSpPr/>
          <p:nvPr/>
        </p:nvSpPr>
        <p:spPr>
          <a:xfrm>
            <a:off x="640080" y="2029968"/>
            <a:ext cx="2542032" cy="548640"/>
          </a:xfrm>
          <a:prstGeom prst="roundRect">
            <a:avLst>
              <a:gd name="adj" fmla="val 23333"/>
            </a:avLst>
          </a:prstGeom>
          <a:solidFill>
            <a:srgbClr val="17152A"/>
          </a:solidFill>
          <a:ln w="9525">
            <a:solidFill>
              <a:srgbClr val="2E2A48"/>
            </a:solidFill>
            <a:prstDash val="solid"/>
          </a:ln>
        </p:spPr>
      </p:sp>
      <p:pic>
        <p:nvPicPr>
          <p:cNvPr id="15" name="Feature check 4" descr="preencoded.png">    </p:cNvPr>
          <p:cNvPicPr>
            <a:picLocks noChangeAspect="1"/>
          </p:cNvPicPr>
          <p:nvPr/>
        </p:nvPicPr>
        <p:blipFill>
          <a:blip r:embed="rId5"/>
          <a:stretch>
            <a:fillRect/>
          </a:stretch>
        </p:blipFill>
        <p:spPr>
          <a:xfrm>
            <a:off x="768096" y="2185416"/>
            <a:ext cx="237744" cy="237744"/>
          </a:xfrm>
          <a:prstGeom prst="rect">
            <a:avLst/>
          </a:prstGeom>
        </p:spPr>
      </p:pic>
      <p:sp>
        <p:nvSpPr>
          <p:cNvPr id="16" name="Feature text 4"/>
          <p:cNvSpPr txBox="1"/>
          <p:nvPr/>
        </p:nvSpPr>
        <p:spPr>
          <a:xfrm>
            <a:off x="1097280" y="2075688"/>
            <a:ext cx="2011680" cy="457200"/>
          </a:xfrm>
          <a:prstGeom prst="rect">
            <a:avLst/>
          </a:prstGeom>
          <a:noFill/>
          <a:ln/>
        </p:spPr>
        <p:txBody>
          <a:bodyPr wrap="square" lIns="0" tIns="0" rIns="0" bIns="0" rtlCol="0" anchor="ctr"/>
          <a:lstStyle/>
          <a:p>
            <a:pPr indent="0" marL="0">
              <a:buNone/>
            </a:pPr>
            <a:r>
              <a:rPr lang="en-US" sz="1100" b="1" dirty="0">
                <a:solidFill>
                  <a:srgbClr val="FFFFFF"/>
                </a:solidFill>
              </a:rPr>
              <a:t>Tables, split bills, partial payments</a:t>
            </a:r>
            <a:endParaRPr lang="en-US" sz="1100" dirty="0"/>
          </a:p>
        </p:txBody>
      </p:sp>
      <p:sp>
        <p:nvSpPr>
          <p:cNvPr id="17" name="Feature 5"/>
          <p:cNvSpPr/>
          <p:nvPr/>
        </p:nvSpPr>
        <p:spPr>
          <a:xfrm>
            <a:off x="3310128" y="2029968"/>
            <a:ext cx="2542032" cy="548640"/>
          </a:xfrm>
          <a:prstGeom prst="roundRect">
            <a:avLst>
              <a:gd name="adj" fmla="val 23333"/>
            </a:avLst>
          </a:prstGeom>
          <a:solidFill>
            <a:srgbClr val="17152A"/>
          </a:solidFill>
          <a:ln w="9525">
            <a:solidFill>
              <a:srgbClr val="2E2A48"/>
            </a:solidFill>
            <a:prstDash val="solid"/>
          </a:ln>
        </p:spPr>
      </p:sp>
      <p:pic>
        <p:nvPicPr>
          <p:cNvPr id="18" name="Feature check 5" descr="preencoded.png">    </p:cNvPr>
          <p:cNvPicPr>
            <a:picLocks noChangeAspect="1"/>
          </p:cNvPicPr>
          <p:nvPr/>
        </p:nvPicPr>
        <p:blipFill>
          <a:blip r:embed="rId6"/>
          <a:stretch>
            <a:fillRect/>
          </a:stretch>
        </p:blipFill>
        <p:spPr>
          <a:xfrm>
            <a:off x="3438144" y="2185416"/>
            <a:ext cx="237744" cy="237744"/>
          </a:xfrm>
          <a:prstGeom prst="rect">
            <a:avLst/>
          </a:prstGeom>
        </p:spPr>
      </p:pic>
      <p:sp>
        <p:nvSpPr>
          <p:cNvPr id="19" name="Feature text 5"/>
          <p:cNvSpPr txBox="1"/>
          <p:nvPr/>
        </p:nvSpPr>
        <p:spPr>
          <a:xfrm>
            <a:off x="3767328" y="2075688"/>
            <a:ext cx="2011680" cy="457200"/>
          </a:xfrm>
          <a:prstGeom prst="rect">
            <a:avLst/>
          </a:prstGeom>
          <a:noFill/>
          <a:ln/>
        </p:spPr>
        <p:txBody>
          <a:bodyPr wrap="square" lIns="0" tIns="0" rIns="0" bIns="0" rtlCol="0" anchor="ctr"/>
          <a:lstStyle/>
          <a:p>
            <a:pPr indent="0" marL="0">
              <a:buNone/>
            </a:pPr>
            <a:r>
              <a:rPr lang="en-US" sz="1100" b="1" dirty="0">
                <a:solidFill>
                  <a:srgbClr val="FFFFFF"/>
                </a:solidFill>
              </a:rPr>
              <a:t>Credit notebook (fiados) by voice</a:t>
            </a:r>
            <a:endParaRPr lang="en-US" sz="1100" dirty="0"/>
          </a:p>
        </p:txBody>
      </p:sp>
      <p:sp>
        <p:nvSpPr>
          <p:cNvPr id="20" name="Feature 6"/>
          <p:cNvSpPr/>
          <p:nvPr/>
        </p:nvSpPr>
        <p:spPr>
          <a:xfrm>
            <a:off x="5980176" y="2029968"/>
            <a:ext cx="2542032" cy="548640"/>
          </a:xfrm>
          <a:prstGeom prst="roundRect">
            <a:avLst>
              <a:gd name="adj" fmla="val 23333"/>
            </a:avLst>
          </a:prstGeom>
          <a:solidFill>
            <a:srgbClr val="17152A"/>
          </a:solidFill>
          <a:ln w="9525">
            <a:solidFill>
              <a:srgbClr val="2E2A48"/>
            </a:solidFill>
            <a:prstDash val="solid"/>
          </a:ln>
        </p:spPr>
      </p:sp>
      <p:pic>
        <p:nvPicPr>
          <p:cNvPr id="21" name="Feature check 6" descr="preencoded.png">    </p:cNvPr>
          <p:cNvPicPr>
            <a:picLocks noChangeAspect="1"/>
          </p:cNvPicPr>
          <p:nvPr/>
        </p:nvPicPr>
        <p:blipFill>
          <a:blip r:embed="rId7"/>
          <a:stretch>
            <a:fillRect/>
          </a:stretch>
        </p:blipFill>
        <p:spPr>
          <a:xfrm>
            <a:off x="6108192" y="2185416"/>
            <a:ext cx="237744" cy="237744"/>
          </a:xfrm>
          <a:prstGeom prst="rect">
            <a:avLst/>
          </a:prstGeom>
        </p:spPr>
      </p:pic>
      <p:sp>
        <p:nvSpPr>
          <p:cNvPr id="22" name="Feature text 6"/>
          <p:cNvSpPr txBox="1"/>
          <p:nvPr/>
        </p:nvSpPr>
        <p:spPr>
          <a:xfrm>
            <a:off x="6437376" y="2075688"/>
            <a:ext cx="2011680" cy="457200"/>
          </a:xfrm>
          <a:prstGeom prst="rect">
            <a:avLst/>
          </a:prstGeom>
          <a:noFill/>
          <a:ln/>
        </p:spPr>
        <p:txBody>
          <a:bodyPr wrap="square" lIns="0" tIns="0" rIns="0" bIns="0" rtlCol="0" anchor="ctr"/>
          <a:lstStyle/>
          <a:p>
            <a:pPr indent="0" marL="0">
              <a:buNone/>
            </a:pPr>
            <a:r>
              <a:rPr lang="en-US" sz="1100" b="1" dirty="0">
                <a:solidFill>
                  <a:srgbClr val="FFFFFF"/>
                </a:solidFill>
              </a:rPr>
              <a:t>Inventory with alerts &amp; forecasting</a:t>
            </a:r>
            <a:endParaRPr lang="en-US" sz="1100" dirty="0"/>
          </a:p>
        </p:txBody>
      </p:sp>
      <p:sp>
        <p:nvSpPr>
          <p:cNvPr id="23" name="Feature 7"/>
          <p:cNvSpPr/>
          <p:nvPr/>
        </p:nvSpPr>
        <p:spPr>
          <a:xfrm>
            <a:off x="640080" y="2688336"/>
            <a:ext cx="2542032" cy="548640"/>
          </a:xfrm>
          <a:prstGeom prst="roundRect">
            <a:avLst>
              <a:gd name="adj" fmla="val 23333"/>
            </a:avLst>
          </a:prstGeom>
          <a:solidFill>
            <a:srgbClr val="17152A"/>
          </a:solidFill>
          <a:ln w="9525">
            <a:solidFill>
              <a:srgbClr val="2E2A48"/>
            </a:solidFill>
            <a:prstDash val="solid"/>
          </a:ln>
        </p:spPr>
      </p:sp>
      <p:pic>
        <p:nvPicPr>
          <p:cNvPr id="24" name="Feature check 7" descr="preencoded.png">    </p:cNvPr>
          <p:cNvPicPr>
            <a:picLocks noChangeAspect="1"/>
          </p:cNvPicPr>
          <p:nvPr/>
        </p:nvPicPr>
        <p:blipFill>
          <a:blip r:embed="rId8"/>
          <a:stretch>
            <a:fillRect/>
          </a:stretch>
        </p:blipFill>
        <p:spPr>
          <a:xfrm>
            <a:off x="768096" y="2843784"/>
            <a:ext cx="237744" cy="237744"/>
          </a:xfrm>
          <a:prstGeom prst="rect">
            <a:avLst/>
          </a:prstGeom>
        </p:spPr>
      </p:pic>
      <p:sp>
        <p:nvSpPr>
          <p:cNvPr id="25" name="Feature text 7"/>
          <p:cNvSpPr txBox="1"/>
          <p:nvPr/>
        </p:nvSpPr>
        <p:spPr>
          <a:xfrm>
            <a:off x="1097280" y="2734056"/>
            <a:ext cx="2011680" cy="457200"/>
          </a:xfrm>
          <a:prstGeom prst="rect">
            <a:avLst/>
          </a:prstGeom>
          <a:noFill/>
          <a:ln/>
        </p:spPr>
        <p:txBody>
          <a:bodyPr wrap="square" lIns="0" tIns="0" rIns="0" bIns="0" rtlCol="0" anchor="ctr"/>
          <a:lstStyle/>
          <a:p>
            <a:pPr indent="0" marL="0">
              <a:buNone/>
            </a:pPr>
            <a:r>
              <a:rPr lang="en-US" sz="1100" b="1" dirty="0">
                <a:solidFill>
                  <a:srgbClr val="FFFFFF"/>
                </a:solidFill>
              </a:rPr>
              <a:t>QR menu &amp; table ordering</a:t>
            </a:r>
            <a:endParaRPr lang="en-US" sz="1100" dirty="0"/>
          </a:p>
        </p:txBody>
      </p:sp>
      <p:sp>
        <p:nvSpPr>
          <p:cNvPr id="26" name="Feature 8"/>
          <p:cNvSpPr/>
          <p:nvPr/>
        </p:nvSpPr>
        <p:spPr>
          <a:xfrm>
            <a:off x="3310128" y="2688336"/>
            <a:ext cx="2542032" cy="548640"/>
          </a:xfrm>
          <a:prstGeom prst="roundRect">
            <a:avLst>
              <a:gd name="adj" fmla="val 23333"/>
            </a:avLst>
          </a:prstGeom>
          <a:solidFill>
            <a:srgbClr val="17152A"/>
          </a:solidFill>
          <a:ln w="9525">
            <a:solidFill>
              <a:srgbClr val="2E2A48"/>
            </a:solidFill>
            <a:prstDash val="solid"/>
          </a:ln>
        </p:spPr>
      </p:sp>
      <p:pic>
        <p:nvPicPr>
          <p:cNvPr id="27" name="Feature check 8" descr="preencoded.png">    </p:cNvPr>
          <p:cNvPicPr>
            <a:picLocks noChangeAspect="1"/>
          </p:cNvPicPr>
          <p:nvPr/>
        </p:nvPicPr>
        <p:blipFill>
          <a:blip r:embed="rId9"/>
          <a:stretch>
            <a:fillRect/>
          </a:stretch>
        </p:blipFill>
        <p:spPr>
          <a:xfrm>
            <a:off x="3438144" y="2843784"/>
            <a:ext cx="237744" cy="237744"/>
          </a:xfrm>
          <a:prstGeom prst="rect">
            <a:avLst/>
          </a:prstGeom>
        </p:spPr>
      </p:pic>
      <p:sp>
        <p:nvSpPr>
          <p:cNvPr id="28" name="Feature text 8"/>
          <p:cNvSpPr txBox="1"/>
          <p:nvPr/>
        </p:nvSpPr>
        <p:spPr>
          <a:xfrm>
            <a:off x="3767328" y="2734056"/>
            <a:ext cx="2011680" cy="457200"/>
          </a:xfrm>
          <a:prstGeom prst="rect">
            <a:avLst/>
          </a:prstGeom>
          <a:noFill/>
          <a:ln/>
        </p:spPr>
        <p:txBody>
          <a:bodyPr wrap="square" lIns="0" tIns="0" rIns="0" bIns="0" rtlCol="0" anchor="ctr"/>
          <a:lstStyle/>
          <a:p>
            <a:pPr indent="0" marL="0">
              <a:buNone/>
            </a:pPr>
            <a:r>
              <a:rPr lang="en-US" sz="1100" b="1" dirty="0">
                <a:solidFill>
                  <a:srgbClr val="FFFFFF"/>
                </a:solidFill>
              </a:rPr>
              <a:t>Guest music queue on the TV</a:t>
            </a:r>
            <a:endParaRPr lang="en-US" sz="1100" dirty="0"/>
          </a:p>
        </p:txBody>
      </p:sp>
      <p:sp>
        <p:nvSpPr>
          <p:cNvPr id="29" name="Feature 9"/>
          <p:cNvSpPr/>
          <p:nvPr/>
        </p:nvSpPr>
        <p:spPr>
          <a:xfrm>
            <a:off x="5980176" y="2688336"/>
            <a:ext cx="2542032" cy="548640"/>
          </a:xfrm>
          <a:prstGeom prst="roundRect">
            <a:avLst>
              <a:gd name="adj" fmla="val 23333"/>
            </a:avLst>
          </a:prstGeom>
          <a:solidFill>
            <a:srgbClr val="17152A"/>
          </a:solidFill>
          <a:ln w="9525">
            <a:solidFill>
              <a:srgbClr val="2E2A48"/>
            </a:solidFill>
            <a:prstDash val="solid"/>
          </a:ln>
        </p:spPr>
      </p:sp>
      <p:pic>
        <p:nvPicPr>
          <p:cNvPr id="30" name="Feature check 9" descr="preencoded.png">    </p:cNvPr>
          <p:cNvPicPr>
            <a:picLocks noChangeAspect="1"/>
          </p:cNvPicPr>
          <p:nvPr/>
        </p:nvPicPr>
        <p:blipFill>
          <a:blip r:embed="rId10"/>
          <a:stretch>
            <a:fillRect/>
          </a:stretch>
        </p:blipFill>
        <p:spPr>
          <a:xfrm>
            <a:off x="6108192" y="2843784"/>
            <a:ext cx="237744" cy="237744"/>
          </a:xfrm>
          <a:prstGeom prst="rect">
            <a:avLst/>
          </a:prstGeom>
        </p:spPr>
      </p:pic>
      <p:sp>
        <p:nvSpPr>
          <p:cNvPr id="31" name="Feature text 9"/>
          <p:cNvSpPr txBox="1"/>
          <p:nvPr/>
        </p:nvSpPr>
        <p:spPr>
          <a:xfrm>
            <a:off x="6437376" y="2734056"/>
            <a:ext cx="2011680" cy="457200"/>
          </a:xfrm>
          <a:prstGeom prst="rect">
            <a:avLst/>
          </a:prstGeom>
          <a:noFill/>
          <a:ln/>
        </p:spPr>
        <p:txBody>
          <a:bodyPr wrap="square" lIns="0" tIns="0" rIns="0" bIns="0" rtlCol="0" anchor="ctr"/>
          <a:lstStyle/>
          <a:p>
            <a:pPr indent="0" marL="0">
              <a:buNone/>
            </a:pPr>
            <a:r>
              <a:rPr lang="en-US" sz="1100" b="1" dirty="0">
                <a:solidFill>
                  <a:srgbClr val="FFFFFF"/>
                </a:solidFill>
              </a:rPr>
              <a:t>Kitchen / bar display</a:t>
            </a:r>
            <a:endParaRPr lang="en-US" sz="1100" dirty="0"/>
          </a:p>
        </p:txBody>
      </p:sp>
      <p:sp>
        <p:nvSpPr>
          <p:cNvPr id="32" name="Feature 10"/>
          <p:cNvSpPr/>
          <p:nvPr/>
        </p:nvSpPr>
        <p:spPr>
          <a:xfrm>
            <a:off x="640080" y="3346704"/>
            <a:ext cx="2542032" cy="548640"/>
          </a:xfrm>
          <a:prstGeom prst="roundRect">
            <a:avLst>
              <a:gd name="adj" fmla="val 23333"/>
            </a:avLst>
          </a:prstGeom>
          <a:solidFill>
            <a:srgbClr val="17152A"/>
          </a:solidFill>
          <a:ln w="9525">
            <a:solidFill>
              <a:srgbClr val="2E2A48"/>
            </a:solidFill>
            <a:prstDash val="solid"/>
          </a:ln>
        </p:spPr>
      </p:sp>
      <p:pic>
        <p:nvPicPr>
          <p:cNvPr id="33" name="Feature check 10" descr="preencoded.png">    </p:cNvPr>
          <p:cNvPicPr>
            <a:picLocks noChangeAspect="1"/>
          </p:cNvPicPr>
          <p:nvPr/>
        </p:nvPicPr>
        <p:blipFill>
          <a:blip r:embed="rId11"/>
          <a:stretch>
            <a:fillRect/>
          </a:stretch>
        </p:blipFill>
        <p:spPr>
          <a:xfrm>
            <a:off x="768096" y="3502152"/>
            <a:ext cx="237744" cy="237744"/>
          </a:xfrm>
          <a:prstGeom prst="rect">
            <a:avLst/>
          </a:prstGeom>
        </p:spPr>
      </p:pic>
      <p:sp>
        <p:nvSpPr>
          <p:cNvPr id="34" name="Feature text 10"/>
          <p:cNvSpPr txBox="1"/>
          <p:nvPr/>
        </p:nvSpPr>
        <p:spPr>
          <a:xfrm>
            <a:off x="1097280" y="3392424"/>
            <a:ext cx="2011680" cy="457200"/>
          </a:xfrm>
          <a:prstGeom prst="rect">
            <a:avLst/>
          </a:prstGeom>
          <a:noFill/>
          <a:ln/>
        </p:spPr>
        <p:txBody>
          <a:bodyPr wrap="square" lIns="0" tIns="0" rIns="0" bIns="0" rtlCol="0" anchor="ctr"/>
          <a:lstStyle/>
          <a:p>
            <a:pPr indent="0" marL="0">
              <a:buNone/>
            </a:pPr>
            <a:r>
              <a:rPr lang="en-US" sz="1100" b="1" dirty="0">
                <a:solidFill>
                  <a:srgbClr val="FFFFFF"/>
                </a:solidFill>
              </a:rPr>
              <a:t>Waiter app, roles &amp; permissions</a:t>
            </a:r>
            <a:endParaRPr lang="en-US" sz="1100" dirty="0"/>
          </a:p>
        </p:txBody>
      </p:sp>
      <p:sp>
        <p:nvSpPr>
          <p:cNvPr id="35" name="Feature 11"/>
          <p:cNvSpPr/>
          <p:nvPr/>
        </p:nvSpPr>
        <p:spPr>
          <a:xfrm>
            <a:off x="3310128" y="3346704"/>
            <a:ext cx="2542032" cy="548640"/>
          </a:xfrm>
          <a:prstGeom prst="roundRect">
            <a:avLst>
              <a:gd name="adj" fmla="val 23333"/>
            </a:avLst>
          </a:prstGeom>
          <a:solidFill>
            <a:srgbClr val="17152A"/>
          </a:solidFill>
          <a:ln w="9525">
            <a:solidFill>
              <a:srgbClr val="2E2A48"/>
            </a:solidFill>
            <a:prstDash val="solid"/>
          </a:ln>
        </p:spPr>
      </p:sp>
      <p:pic>
        <p:nvPicPr>
          <p:cNvPr id="36" name="Feature check 11" descr="preencoded.png">    </p:cNvPr>
          <p:cNvPicPr>
            <a:picLocks noChangeAspect="1"/>
          </p:cNvPicPr>
          <p:nvPr/>
        </p:nvPicPr>
        <p:blipFill>
          <a:blip r:embed="rId12"/>
          <a:stretch>
            <a:fillRect/>
          </a:stretch>
        </p:blipFill>
        <p:spPr>
          <a:xfrm>
            <a:off x="3438144" y="3502152"/>
            <a:ext cx="237744" cy="237744"/>
          </a:xfrm>
          <a:prstGeom prst="rect">
            <a:avLst/>
          </a:prstGeom>
        </p:spPr>
      </p:pic>
      <p:sp>
        <p:nvSpPr>
          <p:cNvPr id="37" name="Feature text 11"/>
          <p:cNvSpPr txBox="1"/>
          <p:nvPr/>
        </p:nvSpPr>
        <p:spPr>
          <a:xfrm>
            <a:off x="3767328" y="3392424"/>
            <a:ext cx="2011680" cy="457200"/>
          </a:xfrm>
          <a:prstGeom prst="rect">
            <a:avLst/>
          </a:prstGeom>
          <a:noFill/>
          <a:ln/>
        </p:spPr>
        <p:txBody>
          <a:bodyPr wrap="square" lIns="0" tIns="0" rIns="0" bIns="0" rtlCol="0" anchor="ctr"/>
          <a:lstStyle/>
          <a:p>
            <a:pPr indent="0" marL="0">
              <a:buNone/>
            </a:pPr>
            <a:r>
              <a:rPr lang="en-US" sz="1100" b="1" dirty="0">
                <a:solidFill>
                  <a:srgbClr val="FFFFFF"/>
                </a:solidFill>
              </a:rPr>
              <a:t>Cash close, profit, VAT, Excel</a:t>
            </a:r>
            <a:endParaRPr lang="en-US" sz="1100" dirty="0"/>
          </a:p>
        </p:txBody>
      </p:sp>
      <p:sp>
        <p:nvSpPr>
          <p:cNvPr id="38" name="Feature 12"/>
          <p:cNvSpPr/>
          <p:nvPr/>
        </p:nvSpPr>
        <p:spPr>
          <a:xfrm>
            <a:off x="5980176" y="3346704"/>
            <a:ext cx="2542032" cy="548640"/>
          </a:xfrm>
          <a:prstGeom prst="roundRect">
            <a:avLst>
              <a:gd name="adj" fmla="val 23333"/>
            </a:avLst>
          </a:prstGeom>
          <a:solidFill>
            <a:srgbClr val="17152A"/>
          </a:solidFill>
          <a:ln w="9525">
            <a:solidFill>
              <a:srgbClr val="2E2A48"/>
            </a:solidFill>
            <a:prstDash val="solid"/>
          </a:ln>
        </p:spPr>
      </p:sp>
      <p:pic>
        <p:nvPicPr>
          <p:cNvPr id="39" name="Feature check 12" descr="preencoded.png">    </p:cNvPr>
          <p:cNvPicPr>
            <a:picLocks noChangeAspect="1"/>
          </p:cNvPicPr>
          <p:nvPr/>
        </p:nvPicPr>
        <p:blipFill>
          <a:blip r:embed="rId13"/>
          <a:stretch>
            <a:fillRect/>
          </a:stretch>
        </p:blipFill>
        <p:spPr>
          <a:xfrm>
            <a:off x="6108192" y="3502152"/>
            <a:ext cx="237744" cy="237744"/>
          </a:xfrm>
          <a:prstGeom prst="rect">
            <a:avLst/>
          </a:prstGeom>
        </p:spPr>
      </p:pic>
      <p:sp>
        <p:nvSpPr>
          <p:cNvPr id="40" name="Feature text 12"/>
          <p:cNvSpPr txBox="1"/>
          <p:nvPr/>
        </p:nvSpPr>
        <p:spPr>
          <a:xfrm>
            <a:off x="6437376" y="3392424"/>
            <a:ext cx="2011680" cy="457200"/>
          </a:xfrm>
          <a:prstGeom prst="rect">
            <a:avLst/>
          </a:prstGeom>
          <a:noFill/>
          <a:ln/>
        </p:spPr>
        <p:txBody>
          <a:bodyPr wrap="square" lIns="0" tIns="0" rIns="0" bIns="0" rtlCol="0" anchor="ctr"/>
          <a:lstStyle/>
          <a:p>
            <a:pPr indent="0" marL="0">
              <a:buNone/>
            </a:pPr>
            <a:r>
              <a:rPr lang="en-US" sz="1100" b="1" dirty="0">
                <a:solidFill>
                  <a:srgbClr val="FFFFFF"/>
                </a:solidFill>
              </a:rPr>
              <a:t>Delivery, tips, receipts with tax ID</a:t>
            </a:r>
            <a:endParaRPr lang="en-US" sz="1100" dirty="0"/>
          </a:p>
        </p:txBody>
      </p:sp>
      <p:sp>
        <p:nvSpPr>
          <p:cNvPr id="41" name="Feature 13"/>
          <p:cNvSpPr/>
          <p:nvPr/>
        </p:nvSpPr>
        <p:spPr>
          <a:xfrm>
            <a:off x="640080" y="4005072"/>
            <a:ext cx="2542032" cy="548640"/>
          </a:xfrm>
          <a:prstGeom prst="roundRect">
            <a:avLst>
              <a:gd name="adj" fmla="val 23333"/>
            </a:avLst>
          </a:prstGeom>
          <a:solidFill>
            <a:srgbClr val="17152A"/>
          </a:solidFill>
          <a:ln w="9525">
            <a:solidFill>
              <a:srgbClr val="2E2A48"/>
            </a:solidFill>
            <a:prstDash val="solid"/>
          </a:ln>
        </p:spPr>
      </p:sp>
      <p:pic>
        <p:nvPicPr>
          <p:cNvPr id="42" name="Feature check 13" descr="preencoded.png">    </p:cNvPr>
          <p:cNvPicPr>
            <a:picLocks noChangeAspect="1"/>
          </p:cNvPicPr>
          <p:nvPr/>
        </p:nvPicPr>
        <p:blipFill>
          <a:blip r:embed="rId14"/>
          <a:stretch>
            <a:fillRect/>
          </a:stretch>
        </p:blipFill>
        <p:spPr>
          <a:xfrm>
            <a:off x="768096" y="4160520"/>
            <a:ext cx="237744" cy="237744"/>
          </a:xfrm>
          <a:prstGeom prst="rect">
            <a:avLst/>
          </a:prstGeom>
        </p:spPr>
      </p:pic>
      <p:sp>
        <p:nvSpPr>
          <p:cNvPr id="43" name="Feature text 13"/>
          <p:cNvSpPr txBox="1"/>
          <p:nvPr/>
        </p:nvSpPr>
        <p:spPr>
          <a:xfrm>
            <a:off x="1097280" y="4050792"/>
            <a:ext cx="2011680" cy="457200"/>
          </a:xfrm>
          <a:prstGeom prst="rect">
            <a:avLst/>
          </a:prstGeom>
          <a:noFill/>
          <a:ln/>
        </p:spPr>
        <p:txBody>
          <a:bodyPr wrap="square" lIns="0" tIns="0" rIns="0" bIns="0" rtlCol="0" anchor="ctr"/>
          <a:lstStyle/>
          <a:p>
            <a:pPr indent="0" marL="0">
              <a:buNone/>
            </a:pPr>
            <a:r>
              <a:rPr lang="en-US" sz="1100" b="1" dirty="0">
                <a:solidFill>
                  <a:srgbClr val="FFFFFF"/>
                </a:solidFill>
              </a:rPr>
              <a:t>Barcode selling &amp; quick sale</a:t>
            </a:r>
            <a:endParaRPr lang="en-US" sz="1100" dirty="0"/>
          </a:p>
        </p:txBody>
      </p:sp>
      <p:sp>
        <p:nvSpPr>
          <p:cNvPr id="44" name="Feature 14"/>
          <p:cNvSpPr/>
          <p:nvPr/>
        </p:nvSpPr>
        <p:spPr>
          <a:xfrm>
            <a:off x="3310128" y="4005072"/>
            <a:ext cx="2542032" cy="548640"/>
          </a:xfrm>
          <a:prstGeom prst="roundRect">
            <a:avLst>
              <a:gd name="adj" fmla="val 23333"/>
            </a:avLst>
          </a:prstGeom>
          <a:solidFill>
            <a:srgbClr val="17152A"/>
          </a:solidFill>
          <a:ln w="9525">
            <a:solidFill>
              <a:srgbClr val="2E2A48"/>
            </a:solidFill>
            <a:prstDash val="solid"/>
          </a:ln>
        </p:spPr>
      </p:sp>
      <p:pic>
        <p:nvPicPr>
          <p:cNvPr id="45" name="Feature check 14" descr="preencoded.png">    </p:cNvPr>
          <p:cNvPicPr>
            <a:picLocks noChangeAspect="1"/>
          </p:cNvPicPr>
          <p:nvPr/>
        </p:nvPicPr>
        <p:blipFill>
          <a:blip r:embed="rId15"/>
          <a:stretch>
            <a:fillRect/>
          </a:stretch>
        </p:blipFill>
        <p:spPr>
          <a:xfrm>
            <a:off x="3438144" y="4160520"/>
            <a:ext cx="237744" cy="237744"/>
          </a:xfrm>
          <a:prstGeom prst="rect">
            <a:avLst/>
          </a:prstGeom>
        </p:spPr>
      </p:pic>
      <p:sp>
        <p:nvSpPr>
          <p:cNvPr id="46" name="Feature text 14"/>
          <p:cNvSpPr txBox="1"/>
          <p:nvPr/>
        </p:nvSpPr>
        <p:spPr>
          <a:xfrm>
            <a:off x="3767328" y="4050792"/>
            <a:ext cx="2011680" cy="457200"/>
          </a:xfrm>
          <a:prstGeom prst="rect">
            <a:avLst/>
          </a:prstGeom>
          <a:noFill/>
          <a:ln/>
        </p:spPr>
        <p:txBody>
          <a:bodyPr wrap="square" lIns="0" tIns="0" rIns="0" bIns="0" rtlCol="0" anchor="ctr"/>
          <a:lstStyle/>
          <a:p>
            <a:pPr indent="0" marL="0">
              <a:buNone/>
            </a:pPr>
            <a:r>
              <a:rPr lang="en-US" sz="1100" b="1" dirty="0">
                <a:solidFill>
                  <a:srgbClr val="FFFFFF"/>
                </a:solidFill>
              </a:rPr>
              <a:t>Floor map, merge &amp; split tables</a:t>
            </a:r>
            <a:endParaRPr lang="en-US" sz="1100" dirty="0"/>
          </a:p>
        </p:txBody>
      </p:sp>
      <p:sp>
        <p:nvSpPr>
          <p:cNvPr id="47" name="Feature 15"/>
          <p:cNvSpPr/>
          <p:nvPr/>
        </p:nvSpPr>
        <p:spPr>
          <a:xfrm>
            <a:off x="5980176" y="4005072"/>
            <a:ext cx="2542032" cy="548640"/>
          </a:xfrm>
          <a:prstGeom prst="roundRect">
            <a:avLst>
              <a:gd name="adj" fmla="val 23333"/>
            </a:avLst>
          </a:prstGeom>
          <a:solidFill>
            <a:srgbClr val="17152A"/>
          </a:solidFill>
          <a:ln w="9525">
            <a:solidFill>
              <a:srgbClr val="2E2A48"/>
            </a:solidFill>
            <a:prstDash val="solid"/>
          </a:ln>
        </p:spPr>
      </p:sp>
      <p:pic>
        <p:nvPicPr>
          <p:cNvPr id="48" name="Feature check 15" descr="preencoded.png">    </p:cNvPr>
          <p:cNvPicPr>
            <a:picLocks noChangeAspect="1"/>
          </p:cNvPicPr>
          <p:nvPr/>
        </p:nvPicPr>
        <p:blipFill>
          <a:blip r:embed="rId16"/>
          <a:stretch>
            <a:fillRect/>
          </a:stretch>
        </p:blipFill>
        <p:spPr>
          <a:xfrm>
            <a:off x="6108192" y="4160520"/>
            <a:ext cx="237744" cy="237744"/>
          </a:xfrm>
          <a:prstGeom prst="rect">
            <a:avLst/>
          </a:prstGeom>
        </p:spPr>
      </p:pic>
      <p:sp>
        <p:nvSpPr>
          <p:cNvPr id="49" name="Feature text 15"/>
          <p:cNvSpPr txBox="1"/>
          <p:nvPr/>
        </p:nvSpPr>
        <p:spPr>
          <a:xfrm>
            <a:off x="6437376" y="4050792"/>
            <a:ext cx="2011680" cy="457200"/>
          </a:xfrm>
          <a:prstGeom prst="rect">
            <a:avLst/>
          </a:prstGeom>
          <a:noFill/>
          <a:ln/>
        </p:spPr>
        <p:txBody>
          <a:bodyPr wrap="square" lIns="0" tIns="0" rIns="0" bIns="0" rtlCol="0" anchor="ctr"/>
          <a:lstStyle/>
          <a:p>
            <a:pPr indent="0" marL="0">
              <a:buNone/>
            </a:pPr>
            <a:r>
              <a:rPr lang="en-US" sz="1100" b="1" dirty="0">
                <a:solidFill>
                  <a:srgbClr val="FFFFFF"/>
                </a:solidFill>
              </a:rPr>
              <a:t>Multi-device, multi-branch, cloud backup</a:t>
            </a:r>
            <a:endParaRPr lang="en-US" sz="11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A8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Background light"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Kicker"/>
          <p:cNvSpPr txBox="1"/>
          <p:nvPr/>
        </p:nvSpPr>
        <p:spPr>
          <a:xfrm>
            <a:off x="640080" y="292608"/>
            <a:ext cx="5486400" cy="256032"/>
          </a:xfrm>
          <a:prstGeom prst="rect">
            <a:avLst/>
          </a:prstGeom>
          <a:noFill/>
          <a:ln/>
        </p:spPr>
        <p:txBody>
          <a:bodyPr wrap="square" lIns="0" tIns="0" rIns="0" bIns="0" rtlCol="0" anchor="ctr"/>
          <a:lstStyle/>
          <a:p>
            <a:pPr indent="0" marL="0">
              <a:buNone/>
            </a:pPr>
            <a:r>
              <a:rPr lang="en-US" sz="1050" b="1" spc="300" kern="0" dirty="0">
                <a:solidFill>
                  <a:srgbClr val="34D399"/>
                </a:solidFill>
              </a:rPr>
              <a:t>NO HARDWARE TO BUY</a:t>
            </a:r>
            <a:endParaRPr lang="en-US" sz="1050" dirty="0"/>
          </a:p>
        </p:txBody>
      </p:sp>
      <p:sp>
        <p:nvSpPr>
          <p:cNvPr id="4" name="Text 0"/>
          <p:cNvSpPr/>
          <p:nvPr>
            <p:ph idx="100" type="title" hasCustomPrompt="1"/>
          </p:nvPr>
        </p:nvSpPr>
        <p:spPr>
          <a:xfrm>
            <a:off x="640080" y="566928"/>
            <a:ext cx="7863840" cy="640080"/>
          </a:xfrm>
          <a:prstGeom prst="rect">
            <a:avLst/>
          </a:prstGeom>
          <a:noFill/>
          <a:ln/>
        </p:spPr>
        <p:txBody>
          <a:bodyPr wrap="square" lIns="0" tIns="0" rIns="0" bIns="0" rtlCol="0" anchor="ctr"/>
          <a:lstStyle/>
          <a:p>
            <a:pPr indent="0" marL="0">
              <a:buNone/>
            </a:pPr>
            <a:r>
              <a:rPr lang="en-US" sz="3000" b="1" dirty="0">
                <a:solidFill>
                  <a:schemeClr val="bg1"/>
                </a:solidFill>
              </a:rPr>
              <a:t>Runs on any screen they already own</a:t>
            </a:r>
            <a:endParaRPr lang="en-US" sz="3000" dirty="0"/>
          </a:p>
        </p:txBody>
      </p:sp>
      <p:sp>
        <p:nvSpPr>
          <p:cNvPr id="5" name="Smart TV / TV box frame"/>
          <p:cNvSpPr/>
          <p:nvPr/>
        </p:nvSpPr>
        <p:spPr>
          <a:xfrm>
            <a:off x="585216" y="1408176"/>
            <a:ext cx="2905760" cy="1682496"/>
          </a:xfrm>
          <a:prstGeom prst="roundRect">
            <a:avLst>
              <a:gd name="adj" fmla="val 4348"/>
            </a:avLst>
          </a:prstGeom>
          <a:solidFill>
            <a:srgbClr val="05050A"/>
          </a:solidFill>
          <a:ln w="15875">
            <a:solidFill>
              <a:srgbClr val="5B47A8"/>
            </a:solidFill>
            <a:prstDash val="solid"/>
          </a:ln>
        </p:spPr>
      </p:sp>
      <p:pic>
        <p:nvPicPr>
          <p:cNvPr id="6" name="Smart TV / TV box" descr="preencoded.png">    </p:cNvPr>
          <p:cNvPicPr>
            <a:picLocks noChangeAspect="1"/>
          </p:cNvPicPr>
          <p:nvPr/>
        </p:nvPicPr>
        <p:blipFill>
          <a:blip r:embed="rId2"/>
          <a:stretch>
            <a:fillRect/>
          </a:stretch>
        </p:blipFill>
        <p:spPr>
          <a:xfrm>
            <a:off x="640080" y="1463040"/>
            <a:ext cx="2796032" cy="1572768"/>
          </a:xfrm>
          <a:prstGeom prst="rect">
            <a:avLst/>
          </a:prstGeom>
        </p:spPr>
      </p:pic>
      <p:sp>
        <p:nvSpPr>
          <p:cNvPr id="7" name="Smart TV / TV box label"/>
          <p:cNvSpPr txBox="1"/>
          <p:nvPr/>
        </p:nvSpPr>
        <p:spPr>
          <a:xfrm>
            <a:off x="640080" y="3172968"/>
            <a:ext cx="2796032"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Smart TV / TV box</a:t>
            </a:r>
            <a:endParaRPr lang="en-US" sz="1200" dirty="0"/>
          </a:p>
        </p:txBody>
      </p:sp>
      <p:sp>
        <p:nvSpPr>
          <p:cNvPr id="8" name="Laptop / PC frame"/>
          <p:cNvSpPr/>
          <p:nvPr/>
        </p:nvSpPr>
        <p:spPr>
          <a:xfrm>
            <a:off x="3564128" y="1408176"/>
            <a:ext cx="2626157" cy="1682496"/>
          </a:xfrm>
          <a:prstGeom prst="roundRect">
            <a:avLst>
              <a:gd name="adj" fmla="val 4348"/>
            </a:avLst>
          </a:prstGeom>
          <a:solidFill>
            <a:srgbClr val="05050A"/>
          </a:solidFill>
          <a:ln w="15875">
            <a:solidFill>
              <a:srgbClr val="5B47A8"/>
            </a:solidFill>
            <a:prstDash val="solid"/>
          </a:ln>
        </p:spPr>
      </p:sp>
      <p:pic>
        <p:nvPicPr>
          <p:cNvPr id="9" name="Laptop / PC" descr="preencoded.png">    </p:cNvPr>
          <p:cNvPicPr>
            <a:picLocks noChangeAspect="1"/>
          </p:cNvPicPr>
          <p:nvPr/>
        </p:nvPicPr>
        <p:blipFill>
          <a:blip r:embed="rId3"/>
          <a:stretch>
            <a:fillRect/>
          </a:stretch>
        </p:blipFill>
        <p:spPr>
          <a:xfrm>
            <a:off x="3618992" y="1463040"/>
            <a:ext cx="2516429" cy="1572768"/>
          </a:xfrm>
          <a:prstGeom prst="rect">
            <a:avLst/>
          </a:prstGeom>
        </p:spPr>
      </p:pic>
      <p:sp>
        <p:nvSpPr>
          <p:cNvPr id="10" name="Laptop / PC label"/>
          <p:cNvSpPr txBox="1"/>
          <p:nvPr/>
        </p:nvSpPr>
        <p:spPr>
          <a:xfrm>
            <a:off x="3618992" y="3172968"/>
            <a:ext cx="2516429"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Laptop / PC</a:t>
            </a:r>
            <a:endParaRPr lang="en-US" sz="1200" dirty="0"/>
          </a:p>
        </p:txBody>
      </p:sp>
      <p:sp>
        <p:nvSpPr>
          <p:cNvPr id="11" name="Tablet frame"/>
          <p:cNvSpPr/>
          <p:nvPr/>
        </p:nvSpPr>
        <p:spPr>
          <a:xfrm>
            <a:off x="6263437" y="1408176"/>
            <a:ext cx="1202668" cy="1682496"/>
          </a:xfrm>
          <a:prstGeom prst="roundRect">
            <a:avLst>
              <a:gd name="adj" fmla="val 6082"/>
            </a:avLst>
          </a:prstGeom>
          <a:solidFill>
            <a:srgbClr val="05050A"/>
          </a:solidFill>
          <a:ln w="15875">
            <a:solidFill>
              <a:srgbClr val="5B47A8"/>
            </a:solidFill>
            <a:prstDash val="solid"/>
          </a:ln>
        </p:spPr>
      </p:sp>
      <p:pic>
        <p:nvPicPr>
          <p:cNvPr id="12" name="Tablet" descr="preencoded.png">    </p:cNvPr>
          <p:cNvPicPr>
            <a:picLocks noChangeAspect="1"/>
          </p:cNvPicPr>
          <p:nvPr/>
        </p:nvPicPr>
        <p:blipFill>
          <a:blip r:embed="rId4"/>
          <a:stretch>
            <a:fillRect/>
          </a:stretch>
        </p:blipFill>
        <p:spPr>
          <a:xfrm>
            <a:off x="6318301" y="1463040"/>
            <a:ext cx="1092940" cy="1572768"/>
          </a:xfrm>
          <a:prstGeom prst="rect">
            <a:avLst/>
          </a:prstGeom>
        </p:spPr>
      </p:pic>
      <p:sp>
        <p:nvSpPr>
          <p:cNvPr id="13" name="Tablet label"/>
          <p:cNvSpPr txBox="1"/>
          <p:nvPr/>
        </p:nvSpPr>
        <p:spPr>
          <a:xfrm>
            <a:off x="6318301" y="3172968"/>
            <a:ext cx="10972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Tablet</a:t>
            </a:r>
            <a:endParaRPr lang="en-US" sz="1200" dirty="0"/>
          </a:p>
        </p:txBody>
      </p:sp>
      <p:sp>
        <p:nvSpPr>
          <p:cNvPr id="14" name="Phone frame"/>
          <p:cNvSpPr/>
          <p:nvPr/>
        </p:nvSpPr>
        <p:spPr>
          <a:xfrm>
            <a:off x="7539257" y="1408176"/>
            <a:ext cx="836481" cy="1682496"/>
          </a:xfrm>
          <a:prstGeom prst="roundRect">
            <a:avLst>
              <a:gd name="adj" fmla="val 8745"/>
            </a:avLst>
          </a:prstGeom>
          <a:solidFill>
            <a:srgbClr val="05050A"/>
          </a:solidFill>
          <a:ln w="15875">
            <a:solidFill>
              <a:srgbClr val="5B47A8"/>
            </a:solidFill>
            <a:prstDash val="solid"/>
          </a:ln>
        </p:spPr>
      </p:sp>
      <p:pic>
        <p:nvPicPr>
          <p:cNvPr id="15" name="Phone" descr="preencoded.png">    </p:cNvPr>
          <p:cNvPicPr>
            <a:picLocks noChangeAspect="1"/>
          </p:cNvPicPr>
          <p:nvPr/>
        </p:nvPicPr>
        <p:blipFill>
          <a:blip r:embed="rId5"/>
          <a:stretch>
            <a:fillRect/>
          </a:stretch>
        </p:blipFill>
        <p:spPr>
          <a:xfrm>
            <a:off x="7594121" y="1463040"/>
            <a:ext cx="726753" cy="1572768"/>
          </a:xfrm>
          <a:prstGeom prst="rect">
            <a:avLst/>
          </a:prstGeom>
        </p:spPr>
      </p:pic>
      <p:sp>
        <p:nvSpPr>
          <p:cNvPr id="16" name="Phone label"/>
          <p:cNvSpPr txBox="1"/>
          <p:nvPr/>
        </p:nvSpPr>
        <p:spPr>
          <a:xfrm>
            <a:off x="7594121" y="3172968"/>
            <a:ext cx="10972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Phone</a:t>
            </a:r>
            <a:endParaRPr lang="en-US" sz="1200" dirty="0"/>
          </a:p>
        </p:txBody>
      </p:sp>
      <p:sp>
        <p:nvSpPr>
          <p:cNvPr id="17" name="Extra 1 circle"/>
          <p:cNvSpPr/>
          <p:nvPr/>
        </p:nvSpPr>
        <p:spPr>
          <a:xfrm>
            <a:off x="640080" y="3886200"/>
            <a:ext cx="457200" cy="457200"/>
          </a:xfrm>
          <a:prstGeom prst="ellipse">
            <a:avLst/>
          </a:prstGeom>
          <a:solidFill>
            <a:srgbClr val="34D399"/>
          </a:solidFill>
          <a:ln w="12700">
            <a:solidFill>
              <a:srgbClr val="34D399"/>
            </a:solidFill>
            <a:prstDash val="solid"/>
          </a:ln>
        </p:spPr>
      </p:sp>
      <p:pic>
        <p:nvPicPr>
          <p:cNvPr id="18" name="Extra 1 icon" descr="preencoded.png">    </p:cNvPr>
          <p:cNvPicPr>
            <a:picLocks noChangeAspect="1"/>
          </p:cNvPicPr>
          <p:nvPr/>
        </p:nvPicPr>
        <p:blipFill>
          <a:blip r:embed="rId6"/>
          <a:stretch>
            <a:fillRect/>
          </a:stretch>
        </p:blipFill>
        <p:spPr>
          <a:xfrm>
            <a:off x="754380" y="4000500"/>
            <a:ext cx="228600" cy="228600"/>
          </a:xfrm>
          <a:prstGeom prst="rect">
            <a:avLst/>
          </a:prstGeom>
        </p:spPr>
      </p:pic>
      <p:sp>
        <p:nvSpPr>
          <p:cNvPr id="19" name="Extra title 1"/>
          <p:cNvSpPr txBox="1"/>
          <p:nvPr/>
        </p:nvSpPr>
        <p:spPr>
          <a:xfrm>
            <a:off x="1234440" y="3858768"/>
            <a:ext cx="1920240" cy="2560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Works offline</a:t>
            </a:r>
            <a:endParaRPr lang="en-US" sz="1250" dirty="0"/>
          </a:p>
        </p:txBody>
      </p:sp>
      <p:sp>
        <p:nvSpPr>
          <p:cNvPr id="20" name="Extra text 1"/>
          <p:cNvSpPr txBox="1"/>
          <p:nvPr/>
        </p:nvSpPr>
        <p:spPr>
          <a:xfrm>
            <a:off x="1234440" y="4114800"/>
            <a:ext cx="1965960" cy="411480"/>
          </a:xfrm>
          <a:prstGeom prst="rect">
            <a:avLst/>
          </a:prstGeom>
          <a:noFill/>
          <a:ln/>
        </p:spPr>
        <p:txBody>
          <a:bodyPr wrap="square" lIns="0" tIns="0" rIns="0" bIns="0" rtlCol="0" anchor="t"/>
          <a:lstStyle/>
          <a:p>
            <a:pPr indent="0" marL="0">
              <a:buNone/>
            </a:pPr>
            <a:r>
              <a:rPr lang="en-US" sz="1050" dirty="0">
                <a:solidFill>
                  <a:srgbClr val="A9A6BD"/>
                </a:solidFill>
              </a:rPr>
              <a:t>Keeps selling without signal; syncs later.</a:t>
            </a:r>
            <a:endParaRPr lang="en-US" sz="1050" dirty="0"/>
          </a:p>
        </p:txBody>
      </p:sp>
      <p:sp>
        <p:nvSpPr>
          <p:cNvPr id="21" name="Extra 2 circle"/>
          <p:cNvSpPr/>
          <p:nvPr/>
        </p:nvSpPr>
        <p:spPr>
          <a:xfrm>
            <a:off x="3310128" y="3886200"/>
            <a:ext cx="457200" cy="457200"/>
          </a:xfrm>
          <a:prstGeom prst="ellipse">
            <a:avLst/>
          </a:prstGeom>
          <a:solidFill>
            <a:srgbClr val="34D399"/>
          </a:solidFill>
          <a:ln w="12700">
            <a:solidFill>
              <a:srgbClr val="34D399"/>
            </a:solidFill>
            <a:prstDash val="solid"/>
          </a:ln>
        </p:spPr>
      </p:sp>
      <p:pic>
        <p:nvPicPr>
          <p:cNvPr id="22" name="Extra 2 icon" descr="preencoded.png">    </p:cNvPr>
          <p:cNvPicPr>
            <a:picLocks noChangeAspect="1"/>
          </p:cNvPicPr>
          <p:nvPr/>
        </p:nvPicPr>
        <p:blipFill>
          <a:blip r:embed="rId7"/>
          <a:stretch>
            <a:fillRect/>
          </a:stretch>
        </p:blipFill>
        <p:spPr>
          <a:xfrm>
            <a:off x="3424428" y="4000500"/>
            <a:ext cx="228600" cy="228600"/>
          </a:xfrm>
          <a:prstGeom prst="rect">
            <a:avLst/>
          </a:prstGeom>
        </p:spPr>
      </p:pic>
      <p:sp>
        <p:nvSpPr>
          <p:cNvPr id="23" name="Extra title 2"/>
          <p:cNvSpPr txBox="1"/>
          <p:nvPr/>
        </p:nvSpPr>
        <p:spPr>
          <a:xfrm>
            <a:off x="3904488" y="3858768"/>
            <a:ext cx="1920240" cy="2560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Real-time sync</a:t>
            </a:r>
            <a:endParaRPr lang="en-US" sz="1250" dirty="0"/>
          </a:p>
        </p:txBody>
      </p:sp>
      <p:sp>
        <p:nvSpPr>
          <p:cNvPr id="24" name="Extra text 2"/>
          <p:cNvSpPr txBox="1"/>
          <p:nvPr/>
        </p:nvSpPr>
        <p:spPr>
          <a:xfrm>
            <a:off x="3904488" y="4114800"/>
            <a:ext cx="1965960" cy="411480"/>
          </a:xfrm>
          <a:prstGeom prst="rect">
            <a:avLst/>
          </a:prstGeom>
          <a:noFill/>
          <a:ln/>
        </p:spPr>
        <p:txBody>
          <a:bodyPr wrap="square" lIns="0" tIns="0" rIns="0" bIns="0" rtlCol="0" anchor="t"/>
          <a:lstStyle/>
          <a:p>
            <a:pPr indent="0" marL="0">
              <a:buNone/>
            </a:pPr>
            <a:r>
              <a:rPr lang="en-US" sz="1050" dirty="0">
                <a:solidFill>
                  <a:srgbClr val="A9A6BD"/>
                </a:solidFill>
              </a:rPr>
              <a:t>Waiter’s phone → register → kitchen.</a:t>
            </a:r>
            <a:endParaRPr lang="en-US" sz="1050" dirty="0"/>
          </a:p>
        </p:txBody>
      </p:sp>
      <p:sp>
        <p:nvSpPr>
          <p:cNvPr id="25" name="Extra 3 circle"/>
          <p:cNvSpPr/>
          <p:nvPr/>
        </p:nvSpPr>
        <p:spPr>
          <a:xfrm>
            <a:off x="5980176" y="3886200"/>
            <a:ext cx="457200" cy="457200"/>
          </a:xfrm>
          <a:prstGeom prst="ellipse">
            <a:avLst/>
          </a:prstGeom>
          <a:solidFill>
            <a:srgbClr val="34D399"/>
          </a:solidFill>
          <a:ln w="12700">
            <a:solidFill>
              <a:srgbClr val="34D399"/>
            </a:solidFill>
            <a:prstDash val="solid"/>
          </a:ln>
        </p:spPr>
      </p:sp>
      <p:pic>
        <p:nvPicPr>
          <p:cNvPr id="26" name="Extra 3 icon" descr="preencoded.png">    </p:cNvPr>
          <p:cNvPicPr>
            <a:picLocks noChangeAspect="1"/>
          </p:cNvPicPr>
          <p:nvPr/>
        </p:nvPicPr>
        <p:blipFill>
          <a:blip r:embed="rId8"/>
          <a:stretch>
            <a:fillRect/>
          </a:stretch>
        </p:blipFill>
        <p:spPr>
          <a:xfrm>
            <a:off x="6094476" y="4000500"/>
            <a:ext cx="228600" cy="228600"/>
          </a:xfrm>
          <a:prstGeom prst="rect">
            <a:avLst/>
          </a:prstGeom>
        </p:spPr>
      </p:pic>
      <p:sp>
        <p:nvSpPr>
          <p:cNvPr id="27" name="Extra title 3"/>
          <p:cNvSpPr txBox="1"/>
          <p:nvPr/>
        </p:nvSpPr>
        <p:spPr>
          <a:xfrm>
            <a:off x="6574536" y="3858768"/>
            <a:ext cx="1920240" cy="2560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Nothing to install</a:t>
            </a:r>
            <a:endParaRPr lang="en-US" sz="1250" dirty="0"/>
          </a:p>
        </p:txBody>
      </p:sp>
      <p:sp>
        <p:nvSpPr>
          <p:cNvPr id="28" name="Extra text 3"/>
          <p:cNvSpPr txBox="1"/>
          <p:nvPr/>
        </p:nvSpPr>
        <p:spPr>
          <a:xfrm>
            <a:off x="6574536" y="4114800"/>
            <a:ext cx="1965960" cy="411480"/>
          </a:xfrm>
          <a:prstGeom prst="rect">
            <a:avLst/>
          </a:prstGeom>
          <a:noFill/>
          <a:ln/>
        </p:spPr>
        <p:txBody>
          <a:bodyPr wrap="square" lIns="0" tIns="0" rIns="0" bIns="0" rtlCol="0" anchor="t"/>
          <a:lstStyle/>
          <a:p>
            <a:pPr indent="0" marL="0">
              <a:buNone/>
            </a:pPr>
            <a:r>
              <a:rPr lang="en-US" sz="1050" dirty="0">
                <a:solidFill>
                  <a:srgbClr val="A9A6BD"/>
                </a:solidFill>
              </a:rPr>
              <a:t>Browser or Android app.</a:t>
            </a:r>
            <a:endParaRPr lang="en-US" sz="105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A8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Background light"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Kicker"/>
          <p:cNvSpPr txBox="1"/>
          <p:nvPr/>
        </p:nvSpPr>
        <p:spPr>
          <a:xfrm>
            <a:off x="640080" y="292608"/>
            <a:ext cx="5486400" cy="256032"/>
          </a:xfrm>
          <a:prstGeom prst="rect">
            <a:avLst/>
          </a:prstGeom>
          <a:noFill/>
          <a:ln/>
        </p:spPr>
        <p:txBody>
          <a:bodyPr wrap="square" lIns="0" tIns="0" rIns="0" bIns="0" rtlCol="0" anchor="ctr"/>
          <a:lstStyle/>
          <a:p>
            <a:pPr indent="0" marL="0">
              <a:buNone/>
            </a:pPr>
            <a:r>
              <a:rPr lang="en-US" sz="1050" b="1" spc="300" kern="0" dirty="0">
                <a:solidFill>
                  <a:srgbClr val="34D399"/>
                </a:solidFill>
              </a:rPr>
              <a:t>WHY NOW</a:t>
            </a:r>
            <a:endParaRPr lang="en-US" sz="1050" dirty="0"/>
          </a:p>
        </p:txBody>
      </p:sp>
      <p:sp>
        <p:nvSpPr>
          <p:cNvPr id="4" name="Text 0"/>
          <p:cNvSpPr/>
          <p:nvPr>
            <p:ph idx="100" type="title" hasCustomPrompt="1"/>
          </p:nvPr>
        </p:nvSpPr>
        <p:spPr>
          <a:xfrm>
            <a:off x="640080" y="566928"/>
            <a:ext cx="7863840" cy="640080"/>
          </a:xfrm>
          <a:prstGeom prst="rect">
            <a:avLst/>
          </a:prstGeom>
          <a:noFill/>
          <a:ln/>
        </p:spPr>
        <p:txBody>
          <a:bodyPr wrap="square" lIns="0" tIns="0" rIns="0" bIns="0" rtlCol="0" anchor="ctr"/>
          <a:lstStyle/>
          <a:p>
            <a:pPr indent="0" marL="0">
              <a:buNone/>
            </a:pPr>
            <a:r>
              <a:rPr lang="en-US" sz="3000" b="1" dirty="0">
                <a:solidFill>
                  <a:schemeClr val="bg1"/>
                </a:solidFill>
              </a:rPr>
              <a:t>Instant payments just went national</a:t>
            </a:r>
            <a:endParaRPr lang="en-US" sz="3000" dirty="0"/>
          </a:p>
        </p:txBody>
      </p:sp>
      <p:sp>
        <p:nvSpPr>
          <p:cNvPr id="5" name="Why now 1"/>
          <p:cNvSpPr/>
          <p:nvPr/>
        </p:nvSpPr>
        <p:spPr>
          <a:xfrm>
            <a:off x="640080" y="1463040"/>
            <a:ext cx="2514600" cy="2926080"/>
          </a:xfrm>
          <a:prstGeom prst="roundRect">
            <a:avLst>
              <a:gd name="adj" fmla="val 5091"/>
            </a:avLst>
          </a:prstGeom>
          <a:solidFill>
            <a:srgbClr val="1A1530"/>
          </a:solidFill>
          <a:ln w="9525">
            <a:solidFill>
              <a:srgbClr val="3B2F66"/>
            </a:solidFill>
            <a:prstDash val="solid"/>
          </a:ln>
        </p:spPr>
      </p:sp>
      <p:sp>
        <p:nvSpPr>
          <p:cNvPr id="6" name="Why now value 1"/>
          <p:cNvSpPr txBox="1"/>
          <p:nvPr/>
        </p:nvSpPr>
        <p:spPr>
          <a:xfrm>
            <a:off x="868680" y="1645920"/>
            <a:ext cx="2103120" cy="731520"/>
          </a:xfrm>
          <a:prstGeom prst="rect">
            <a:avLst/>
          </a:prstGeom>
          <a:noFill/>
          <a:ln/>
        </p:spPr>
        <p:txBody>
          <a:bodyPr wrap="square" lIns="0" tIns="0" rIns="0" bIns="0" rtlCol="0" anchor="ctr"/>
          <a:lstStyle/>
          <a:p>
            <a:pPr indent="0" marL="0">
              <a:buNone/>
            </a:pPr>
            <a:r>
              <a:rPr lang="en-US" sz="3600" b="1" dirty="0">
                <a:solidFill>
                  <a:srgbClr val="34D399"/>
                </a:solidFill>
                <a:latin typeface="Arial" pitchFamily="34" charset="0"/>
                <a:ea typeface="Arial" pitchFamily="34" charset="-122"/>
                <a:cs typeface="Arial" pitchFamily="34" charset="-120"/>
              </a:rPr>
              <a:t>Oct 2025</a:t>
            </a:r>
            <a:endParaRPr lang="en-US" sz="3600" dirty="0"/>
          </a:p>
        </p:txBody>
      </p:sp>
      <p:sp>
        <p:nvSpPr>
          <p:cNvPr id="7" name="Why now title 1"/>
          <p:cNvSpPr txBox="1"/>
          <p:nvPr/>
        </p:nvSpPr>
        <p:spPr>
          <a:xfrm>
            <a:off x="868680" y="2468880"/>
            <a:ext cx="210312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Bre-B goes live</a:t>
            </a:r>
            <a:endParaRPr lang="en-US" sz="1500" dirty="0"/>
          </a:p>
        </p:txBody>
      </p:sp>
      <p:sp>
        <p:nvSpPr>
          <p:cNvPr id="8" name="Why now text 1"/>
          <p:cNvSpPr txBox="1"/>
          <p:nvPr/>
        </p:nvSpPr>
        <p:spPr>
          <a:xfrm>
            <a:off x="868680" y="2834640"/>
            <a:ext cx="2103120" cy="1371600"/>
          </a:xfrm>
          <a:prstGeom prst="rect">
            <a:avLst/>
          </a:prstGeom>
          <a:noFill/>
          <a:ln/>
        </p:spPr>
        <p:txBody>
          <a:bodyPr wrap="square" lIns="0" tIns="0" rIns="0" bIns="0" rtlCol="0" anchor="t"/>
          <a:lstStyle/>
          <a:p>
            <a:pPr indent="0" marL="0">
              <a:buNone/>
            </a:pPr>
            <a:r>
              <a:rPr lang="en-US" sz="1150" dirty="0">
                <a:solidFill>
                  <a:srgbClr val="A9A6BD"/>
                </a:solidFill>
              </a:rPr>
              <a:t>Colombia’s central bank launches free, 24/7 instant transfers across 227 financial institutions.</a:t>
            </a:r>
            <a:endParaRPr lang="en-US" sz="1150" dirty="0"/>
          </a:p>
        </p:txBody>
      </p:sp>
      <p:sp>
        <p:nvSpPr>
          <p:cNvPr id="9" name="Why now 2"/>
          <p:cNvSpPr/>
          <p:nvPr/>
        </p:nvSpPr>
        <p:spPr>
          <a:xfrm>
            <a:off x="3337560" y="1463040"/>
            <a:ext cx="2514600" cy="2926080"/>
          </a:xfrm>
          <a:prstGeom prst="roundRect">
            <a:avLst>
              <a:gd name="adj" fmla="val 5091"/>
            </a:avLst>
          </a:prstGeom>
          <a:solidFill>
            <a:srgbClr val="1A1530"/>
          </a:solidFill>
          <a:ln w="9525">
            <a:solidFill>
              <a:srgbClr val="3B2F66"/>
            </a:solidFill>
            <a:prstDash val="solid"/>
          </a:ln>
        </p:spPr>
      </p:sp>
      <p:sp>
        <p:nvSpPr>
          <p:cNvPr id="10" name="Why now value 2"/>
          <p:cNvSpPr txBox="1"/>
          <p:nvPr/>
        </p:nvSpPr>
        <p:spPr>
          <a:xfrm>
            <a:off x="3566160" y="1645920"/>
            <a:ext cx="2103120" cy="731520"/>
          </a:xfrm>
          <a:prstGeom prst="rect">
            <a:avLst/>
          </a:prstGeom>
          <a:noFill/>
          <a:ln/>
        </p:spPr>
        <p:txBody>
          <a:bodyPr wrap="square" lIns="0" tIns="0" rIns="0" bIns="0" rtlCol="0" anchor="ctr"/>
          <a:lstStyle/>
          <a:p>
            <a:pPr indent="0" marL="0">
              <a:buNone/>
            </a:pPr>
            <a:r>
              <a:rPr lang="en-US" sz="3600" b="1" dirty="0">
                <a:solidFill>
                  <a:srgbClr val="C4B5FD"/>
                </a:solidFill>
                <a:latin typeface="Arial" pitchFamily="34" charset="0"/>
                <a:ea typeface="Arial" pitchFamily="34" charset="-122"/>
                <a:cs typeface="Arial" pitchFamily="34" charset="-120"/>
              </a:rPr>
              <a:t>25M</a:t>
            </a:r>
            <a:endParaRPr lang="en-US" sz="3600" dirty="0"/>
          </a:p>
        </p:txBody>
      </p:sp>
      <p:sp>
        <p:nvSpPr>
          <p:cNvPr id="11" name="Why now title 2"/>
          <p:cNvSpPr txBox="1"/>
          <p:nvPr/>
        </p:nvSpPr>
        <p:spPr>
          <a:xfrm>
            <a:off x="3566160" y="2468880"/>
            <a:ext cx="210312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Nequi users</a:t>
            </a:r>
            <a:endParaRPr lang="en-US" sz="1500" dirty="0"/>
          </a:p>
        </p:txBody>
      </p:sp>
      <p:sp>
        <p:nvSpPr>
          <p:cNvPr id="12" name="Why now text 2"/>
          <p:cNvSpPr txBox="1"/>
          <p:nvPr/>
        </p:nvSpPr>
        <p:spPr>
          <a:xfrm>
            <a:off x="3566160" y="2834640"/>
            <a:ext cx="2103120" cy="1371600"/>
          </a:xfrm>
          <a:prstGeom prst="rect">
            <a:avLst/>
          </a:prstGeom>
          <a:noFill/>
          <a:ln/>
        </p:spPr>
        <p:txBody>
          <a:bodyPr wrap="square" lIns="0" tIns="0" rIns="0" bIns="0" rtlCol="0" anchor="t"/>
          <a:lstStyle/>
          <a:p>
            <a:pPr indent="0" marL="0">
              <a:buNone/>
            </a:pPr>
            <a:r>
              <a:rPr lang="en-US" sz="1150" dirty="0">
                <a:solidFill>
                  <a:srgbClr val="A9A6BD"/>
                </a:solidFill>
              </a:rPr>
              <a:t>Mid-2025: one digital wallet alone reaches over 25 million Colombians.</a:t>
            </a:r>
            <a:endParaRPr lang="en-US" sz="1150" dirty="0"/>
          </a:p>
        </p:txBody>
      </p:sp>
      <p:sp>
        <p:nvSpPr>
          <p:cNvPr id="13" name="Why now 3"/>
          <p:cNvSpPr/>
          <p:nvPr/>
        </p:nvSpPr>
        <p:spPr>
          <a:xfrm>
            <a:off x="6035040" y="1463040"/>
            <a:ext cx="2514600" cy="2926080"/>
          </a:xfrm>
          <a:prstGeom prst="roundRect">
            <a:avLst>
              <a:gd name="adj" fmla="val 5091"/>
            </a:avLst>
          </a:prstGeom>
          <a:solidFill>
            <a:srgbClr val="1A1530"/>
          </a:solidFill>
          <a:ln w="9525">
            <a:solidFill>
              <a:srgbClr val="3B2F66"/>
            </a:solidFill>
            <a:prstDash val="solid"/>
          </a:ln>
        </p:spPr>
      </p:sp>
      <p:sp>
        <p:nvSpPr>
          <p:cNvPr id="14" name="Why now value 3"/>
          <p:cNvSpPr txBox="1"/>
          <p:nvPr/>
        </p:nvSpPr>
        <p:spPr>
          <a:xfrm>
            <a:off x="6263640" y="1645920"/>
            <a:ext cx="2103120" cy="73152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Any phone</a:t>
            </a:r>
            <a:endParaRPr lang="en-US" sz="2800" dirty="0"/>
          </a:p>
        </p:txBody>
      </p:sp>
      <p:sp>
        <p:nvSpPr>
          <p:cNvPr id="15" name="Why now title 3"/>
          <p:cNvSpPr txBox="1"/>
          <p:nvPr/>
        </p:nvSpPr>
        <p:spPr>
          <a:xfrm>
            <a:off x="6263640" y="2468880"/>
            <a:ext cx="210312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On-device AI &amp; voice</a:t>
            </a:r>
            <a:endParaRPr lang="en-US" sz="1500" dirty="0"/>
          </a:p>
        </p:txBody>
      </p:sp>
      <p:sp>
        <p:nvSpPr>
          <p:cNvPr id="16" name="Why now text 3"/>
          <p:cNvSpPr txBox="1"/>
          <p:nvPr/>
        </p:nvSpPr>
        <p:spPr>
          <a:xfrm>
            <a:off x="6263640" y="2834640"/>
            <a:ext cx="2103120" cy="1371600"/>
          </a:xfrm>
          <a:prstGeom prst="rect">
            <a:avLst/>
          </a:prstGeom>
          <a:noFill/>
          <a:ln/>
        </p:spPr>
        <p:txBody>
          <a:bodyPr wrap="square" lIns="0" tIns="0" rIns="0" bIns="0" rtlCol="0" anchor="t"/>
          <a:lstStyle/>
          <a:p>
            <a:pPr indent="0" marL="0">
              <a:buNone/>
            </a:pPr>
            <a:r>
              <a:rPr lang="en-US" sz="1150" dirty="0">
                <a:solidFill>
                  <a:srgbClr val="A9A6BD"/>
                </a:solidFill>
              </a:rPr>
              <a:t>Speech recognition and OCR now run on the Android phones businesses already carry.</a:t>
            </a:r>
            <a:endParaRPr lang="en-US" sz="1150" dirty="0"/>
          </a:p>
        </p:txBody>
      </p:sp>
      <p:sp>
        <p:nvSpPr>
          <p:cNvPr id="17" name="Source"/>
          <p:cNvSpPr txBox="1"/>
          <p:nvPr/>
        </p:nvSpPr>
        <p:spPr>
          <a:xfrm>
            <a:off x="640080" y="4773168"/>
            <a:ext cx="7498080" cy="228600"/>
          </a:xfrm>
          <a:prstGeom prst="rect">
            <a:avLst/>
          </a:prstGeom>
          <a:noFill/>
          <a:ln/>
        </p:spPr>
        <p:txBody>
          <a:bodyPr wrap="square" lIns="0" tIns="0" rIns="0" bIns="0" rtlCol="0" anchor="ctr"/>
          <a:lstStyle/>
          <a:p>
            <a:pPr indent="0" marL="0">
              <a:buNone/>
            </a:pPr>
            <a:r>
              <a:rPr lang="en-US" sz="850" dirty="0">
                <a:solidFill>
                  <a:srgbClr val="6E6A85"/>
                </a:solidFill>
              </a:rPr>
              <a:t>Source: Banco de la República (Bre-B, open to all users from Oct 6, 2025); El Colombiano, Nequi 2025 results (25M users).</a:t>
            </a:r>
            <a:endParaRPr lang="en-US" sz="85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A8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Background light"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Kicker"/>
          <p:cNvSpPr txBox="1"/>
          <p:nvPr/>
        </p:nvSpPr>
        <p:spPr>
          <a:xfrm>
            <a:off x="640080" y="292608"/>
            <a:ext cx="5486400" cy="256032"/>
          </a:xfrm>
          <a:prstGeom prst="rect">
            <a:avLst/>
          </a:prstGeom>
          <a:noFill/>
          <a:ln/>
        </p:spPr>
        <p:txBody>
          <a:bodyPr wrap="square" lIns="0" tIns="0" rIns="0" bIns="0" rtlCol="0" anchor="ctr"/>
          <a:lstStyle/>
          <a:p>
            <a:pPr indent="0" marL="0">
              <a:buNone/>
            </a:pPr>
            <a:r>
              <a:rPr lang="en-US" sz="1050" b="1" spc="300" kern="0" dirty="0">
                <a:solidFill>
                  <a:srgbClr val="34D399"/>
                </a:solidFill>
              </a:rPr>
              <a:t>MARKET</a:t>
            </a:r>
            <a:endParaRPr lang="en-US" sz="1050" dirty="0"/>
          </a:p>
        </p:txBody>
      </p:sp>
      <p:sp>
        <p:nvSpPr>
          <p:cNvPr id="4" name="Text 0"/>
          <p:cNvSpPr/>
          <p:nvPr>
            <p:ph idx="100" type="title" hasCustomPrompt="1"/>
          </p:nvPr>
        </p:nvSpPr>
        <p:spPr>
          <a:xfrm>
            <a:off x="640080" y="566928"/>
            <a:ext cx="7863840" cy="640080"/>
          </a:xfrm>
          <a:prstGeom prst="rect">
            <a:avLst/>
          </a:prstGeom>
          <a:noFill/>
          <a:ln/>
        </p:spPr>
        <p:txBody>
          <a:bodyPr wrap="square" lIns="0" tIns="0" rIns="0" bIns="0" rtlCol="0" anchor="ctr"/>
          <a:lstStyle/>
          <a:p>
            <a:pPr indent="0" marL="0">
              <a:buNone/>
            </a:pPr>
            <a:r>
              <a:rPr lang="en-US" sz="3000" b="1" dirty="0">
                <a:solidFill>
                  <a:schemeClr val="bg1"/>
                </a:solidFill>
              </a:rPr>
              <a:t>Start in Colombia. Built for LatAm.</a:t>
            </a:r>
            <a:endParaRPr lang="en-US" sz="3000" dirty="0"/>
          </a:p>
        </p:txBody>
      </p:sp>
      <p:sp>
        <p:nvSpPr>
          <p:cNvPr id="5" name="Market ring 3.7"/>
          <p:cNvSpPr/>
          <p:nvPr/>
        </p:nvSpPr>
        <p:spPr>
          <a:xfrm>
            <a:off x="640080" y="1325880"/>
            <a:ext cx="3383280" cy="3383280"/>
          </a:xfrm>
          <a:prstGeom prst="ellipse">
            <a:avLst/>
          </a:prstGeom>
          <a:solidFill>
            <a:srgbClr val="1A1530"/>
          </a:solidFill>
          <a:ln w="12700">
            <a:solidFill>
              <a:srgbClr val="3B2F66"/>
            </a:solidFill>
            <a:prstDash val="solid"/>
          </a:ln>
        </p:spPr>
      </p:sp>
      <p:sp>
        <p:nvSpPr>
          <p:cNvPr id="6" name="Market ring 2.8"/>
          <p:cNvSpPr/>
          <p:nvPr/>
        </p:nvSpPr>
        <p:spPr>
          <a:xfrm>
            <a:off x="1051560" y="1920240"/>
            <a:ext cx="2560320" cy="2560320"/>
          </a:xfrm>
          <a:prstGeom prst="ellipse">
            <a:avLst/>
          </a:prstGeom>
          <a:solidFill>
            <a:srgbClr val="211A3D"/>
          </a:solidFill>
          <a:ln w="12700">
            <a:solidFill>
              <a:srgbClr val="5B47A8"/>
            </a:solidFill>
            <a:prstDash val="solid"/>
          </a:ln>
        </p:spPr>
      </p:sp>
      <p:sp>
        <p:nvSpPr>
          <p:cNvPr id="7" name="Market ring 1.8"/>
          <p:cNvSpPr/>
          <p:nvPr/>
        </p:nvSpPr>
        <p:spPr>
          <a:xfrm>
            <a:off x="1508760" y="2606040"/>
            <a:ext cx="1645920" cy="1645920"/>
          </a:xfrm>
          <a:prstGeom prst="ellipse">
            <a:avLst/>
          </a:prstGeom>
          <a:solidFill>
            <a:srgbClr val="2A1F4A"/>
          </a:solidFill>
          <a:ln w="12700">
            <a:solidFill>
              <a:srgbClr val="7C3AED"/>
            </a:solidFill>
            <a:prstDash val="solid"/>
          </a:ln>
        </p:spPr>
      </p:sp>
      <p:sp>
        <p:nvSpPr>
          <p:cNvPr id="8" name="Ring 1 label"/>
          <p:cNvSpPr txBox="1"/>
          <p:nvPr/>
        </p:nvSpPr>
        <p:spPr>
          <a:xfrm>
            <a:off x="640080" y="1536192"/>
            <a:ext cx="3383280" cy="274320"/>
          </a:xfrm>
          <a:prstGeom prst="rect">
            <a:avLst/>
          </a:prstGeom>
          <a:noFill/>
          <a:ln/>
        </p:spPr>
        <p:txBody>
          <a:bodyPr wrap="square" lIns="0" tIns="0" rIns="0" bIns="0" rtlCol="0" anchor="ctr"/>
          <a:lstStyle/>
          <a:p>
            <a:pPr algn="ctr" indent="0" marL="0">
              <a:buNone/>
            </a:pPr>
            <a:r>
              <a:rPr lang="en-US" sz="1200" b="1" dirty="0">
                <a:solidFill>
                  <a:srgbClr val="C4B5FD"/>
                </a:solidFill>
              </a:rPr>
              <a:t>Latin America</a:t>
            </a:r>
            <a:endParaRPr lang="en-US" sz="1200" dirty="0"/>
          </a:p>
        </p:txBody>
      </p:sp>
      <p:sp>
        <p:nvSpPr>
          <p:cNvPr id="9" name="Ring 2 label"/>
          <p:cNvSpPr txBox="1"/>
          <p:nvPr/>
        </p:nvSpPr>
        <p:spPr>
          <a:xfrm>
            <a:off x="1051560" y="2148840"/>
            <a:ext cx="2560320" cy="274320"/>
          </a:xfrm>
          <a:prstGeom prst="rect">
            <a:avLst/>
          </a:prstGeom>
          <a:noFill/>
          <a:ln/>
        </p:spPr>
        <p:txBody>
          <a:bodyPr wrap="square" lIns="0" tIns="0" rIns="0" bIns="0" rtlCol="0" anchor="ctr"/>
          <a:lstStyle/>
          <a:p>
            <a:pPr algn="ctr" indent="0" marL="0">
              <a:buNone/>
            </a:pPr>
            <a:r>
              <a:rPr lang="en-US" sz="1200" b="1" dirty="0">
                <a:solidFill>
                  <a:srgbClr val="C4B5FD"/>
                </a:solidFill>
              </a:rPr>
              <a:t>Colombia</a:t>
            </a:r>
            <a:endParaRPr lang="en-US" sz="1200" dirty="0"/>
          </a:p>
        </p:txBody>
      </p:sp>
      <p:sp>
        <p:nvSpPr>
          <p:cNvPr id="10" name="Ring 3 value"/>
          <p:cNvSpPr txBox="1"/>
          <p:nvPr/>
        </p:nvSpPr>
        <p:spPr>
          <a:xfrm>
            <a:off x="1508760" y="3017520"/>
            <a:ext cx="164592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2.3M</a:t>
            </a:r>
            <a:endParaRPr lang="en-US" sz="2600" dirty="0"/>
          </a:p>
        </p:txBody>
      </p:sp>
      <p:sp>
        <p:nvSpPr>
          <p:cNvPr id="11" name="Ring 3 label"/>
          <p:cNvSpPr txBox="1"/>
          <p:nvPr/>
        </p:nvSpPr>
        <p:spPr>
          <a:xfrm>
            <a:off x="1508760" y="3474720"/>
            <a:ext cx="1645920" cy="274320"/>
          </a:xfrm>
          <a:prstGeom prst="rect">
            <a:avLst/>
          </a:prstGeom>
          <a:noFill/>
          <a:ln/>
        </p:spPr>
        <p:txBody>
          <a:bodyPr wrap="square" lIns="0" tIns="0" rIns="0" bIns="0" rtlCol="0" anchor="ctr"/>
          <a:lstStyle/>
          <a:p>
            <a:pPr algn="ctr" indent="0" marL="0">
              <a:buNone/>
            </a:pPr>
            <a:r>
              <a:rPr lang="en-US" sz="1050" dirty="0">
                <a:solidFill>
                  <a:srgbClr val="34D399"/>
                </a:solidFill>
              </a:rPr>
              <a:t>beachhead</a:t>
            </a:r>
            <a:endParaRPr lang="en-US" sz="1050" dirty="0"/>
          </a:p>
        </p:txBody>
      </p:sp>
      <p:sp>
        <p:nvSpPr>
          <p:cNvPr id="12" name="Market title 1"/>
          <p:cNvSpPr txBox="1"/>
          <p:nvPr/>
        </p:nvSpPr>
        <p:spPr>
          <a:xfrm>
            <a:off x="4434840" y="1417320"/>
            <a:ext cx="406908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Beachhead</a:t>
            </a:r>
            <a:endParaRPr lang="en-US" sz="1500" dirty="0"/>
          </a:p>
        </p:txBody>
      </p:sp>
      <p:sp>
        <p:nvSpPr>
          <p:cNvPr id="13" name="Market text 1"/>
          <p:cNvSpPr txBox="1"/>
          <p:nvPr/>
        </p:nvSpPr>
        <p:spPr>
          <a:xfrm>
            <a:off x="4434840" y="1728216"/>
            <a:ext cx="4069080" cy="685800"/>
          </a:xfrm>
          <a:prstGeom prst="rect">
            <a:avLst/>
          </a:prstGeom>
          <a:noFill/>
          <a:ln/>
        </p:spPr>
        <p:txBody>
          <a:bodyPr wrap="square" lIns="0" tIns="0" rIns="0" bIns="0" rtlCol="0" anchor="t"/>
          <a:lstStyle/>
          <a:p>
            <a:pPr indent="0" marL="0">
              <a:buNone/>
            </a:pPr>
            <a:r>
              <a:rPr lang="en-US" sz="1150" dirty="0">
                <a:solidFill>
                  <a:srgbClr val="A9A6BD"/>
                </a:solidFill>
              </a:rPr>
              <a:t>2.3 million micro-businesses in Colombia’s 24 main cities (DANE 2024) — bars, restaurants, stores, salons, workshops.</a:t>
            </a:r>
            <a:endParaRPr lang="en-US" sz="1150" dirty="0"/>
          </a:p>
        </p:txBody>
      </p:sp>
      <p:sp>
        <p:nvSpPr>
          <p:cNvPr id="14" name="Market title 2"/>
          <p:cNvSpPr txBox="1"/>
          <p:nvPr/>
        </p:nvSpPr>
        <p:spPr>
          <a:xfrm>
            <a:off x="4434840" y="2468880"/>
            <a:ext cx="406908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Built to expand</a:t>
            </a:r>
            <a:endParaRPr lang="en-US" sz="1500" dirty="0"/>
          </a:p>
        </p:txBody>
      </p:sp>
      <p:sp>
        <p:nvSpPr>
          <p:cNvPr id="15" name="Market text 2"/>
          <p:cNvSpPr txBox="1"/>
          <p:nvPr/>
        </p:nvSpPr>
        <p:spPr>
          <a:xfrm>
            <a:off x="4434840" y="2779776"/>
            <a:ext cx="4069080" cy="685800"/>
          </a:xfrm>
          <a:prstGeom prst="rect">
            <a:avLst/>
          </a:prstGeom>
          <a:noFill/>
          <a:ln/>
        </p:spPr>
        <p:txBody>
          <a:bodyPr wrap="square" lIns="0" tIns="0" rIns="0" bIns="0" rtlCol="0" anchor="t"/>
          <a:lstStyle/>
          <a:p>
            <a:pPr indent="0" marL="0">
              <a:buNone/>
            </a:pPr>
            <a:r>
              <a:rPr lang="en-US" sz="1150" dirty="0">
                <a:solidFill>
                  <a:srgbClr val="A9A6BD"/>
                </a:solidFill>
              </a:rPr>
              <a:t>75+ business templates already in the product: the same voice, AI and payments engine adapts its vocabulary to tables, rooms, chairs or work orders.</a:t>
            </a:r>
            <a:endParaRPr lang="en-US" sz="1150" dirty="0"/>
          </a:p>
        </p:txBody>
      </p:sp>
      <p:sp>
        <p:nvSpPr>
          <p:cNvPr id="16" name="Market title 3"/>
          <p:cNvSpPr txBox="1"/>
          <p:nvPr/>
        </p:nvSpPr>
        <p:spPr>
          <a:xfrm>
            <a:off x="4434840" y="3520440"/>
            <a:ext cx="406908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Next markets</a:t>
            </a:r>
            <a:endParaRPr lang="en-US" sz="1500" dirty="0"/>
          </a:p>
        </p:txBody>
      </p:sp>
      <p:sp>
        <p:nvSpPr>
          <p:cNvPr id="17" name="Market text 3"/>
          <p:cNvSpPr txBox="1"/>
          <p:nvPr/>
        </p:nvSpPr>
        <p:spPr>
          <a:xfrm>
            <a:off x="4434840" y="3831336"/>
            <a:ext cx="4069080" cy="685800"/>
          </a:xfrm>
          <a:prstGeom prst="rect">
            <a:avLst/>
          </a:prstGeom>
          <a:noFill/>
          <a:ln/>
        </p:spPr>
        <p:txBody>
          <a:bodyPr wrap="square" lIns="0" tIns="0" rIns="0" bIns="0" rtlCol="0" anchor="t"/>
          <a:lstStyle/>
          <a:p>
            <a:pPr indent="0" marL="0">
              <a:buNone/>
            </a:pPr>
            <a:r>
              <a:rPr lang="en-US" sz="1150" dirty="0">
                <a:solidFill>
                  <a:srgbClr val="A9A6BD"/>
                </a:solidFill>
              </a:rPr>
              <a:t>Countries with real-time payment rails and wallet adoption, where screenshot fraud is the same problem.</a:t>
            </a:r>
            <a:endParaRPr lang="en-US" sz="1150" dirty="0"/>
          </a:p>
        </p:txBody>
      </p:sp>
      <p:sp>
        <p:nvSpPr>
          <p:cNvPr id="18" name="Source"/>
          <p:cNvSpPr txBox="1"/>
          <p:nvPr/>
        </p:nvSpPr>
        <p:spPr>
          <a:xfrm>
            <a:off x="640080" y="4773168"/>
            <a:ext cx="7498080" cy="228600"/>
          </a:xfrm>
          <a:prstGeom prst="rect">
            <a:avLst/>
          </a:prstGeom>
          <a:noFill/>
          <a:ln/>
        </p:spPr>
        <p:txBody>
          <a:bodyPr wrap="square" lIns="0" tIns="0" rIns="0" bIns="0" rtlCol="0" anchor="ctr"/>
          <a:lstStyle/>
          <a:p>
            <a:pPr indent="0" marL="0">
              <a:buNone/>
            </a:pPr>
            <a:r>
              <a:rPr lang="en-US" sz="850" dirty="0">
                <a:solidFill>
                  <a:srgbClr val="6E6A85"/>
                </a:solidFill>
              </a:rPr>
              <a:t>Source: DANE, EMICRON 2024. Market sizing beyond Colombia to be completed with country data.</a:t>
            </a:r>
            <a:endParaRPr lang="en-US" sz="85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A8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Background light"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Kicker"/>
          <p:cNvSpPr txBox="1"/>
          <p:nvPr/>
        </p:nvSpPr>
        <p:spPr>
          <a:xfrm>
            <a:off x="640080" y="292608"/>
            <a:ext cx="5486400" cy="256032"/>
          </a:xfrm>
          <a:prstGeom prst="rect">
            <a:avLst/>
          </a:prstGeom>
          <a:noFill/>
          <a:ln/>
        </p:spPr>
        <p:txBody>
          <a:bodyPr wrap="square" lIns="0" tIns="0" rIns="0" bIns="0" rtlCol="0" anchor="ctr"/>
          <a:lstStyle/>
          <a:p>
            <a:pPr indent="0" marL="0">
              <a:buNone/>
            </a:pPr>
            <a:r>
              <a:rPr lang="en-US" sz="1050" b="1" spc="300" kern="0" dirty="0">
                <a:solidFill>
                  <a:srgbClr val="34D399"/>
                </a:solidFill>
              </a:rPr>
              <a:t>BUSINESS MODEL</a:t>
            </a:r>
            <a:endParaRPr lang="en-US" sz="1050" dirty="0"/>
          </a:p>
        </p:txBody>
      </p:sp>
      <p:sp>
        <p:nvSpPr>
          <p:cNvPr id="4" name="Text 0"/>
          <p:cNvSpPr/>
          <p:nvPr>
            <p:ph idx="100" type="title" hasCustomPrompt="1"/>
          </p:nvPr>
        </p:nvSpPr>
        <p:spPr>
          <a:xfrm>
            <a:off x="640080" y="566928"/>
            <a:ext cx="7863840" cy="640080"/>
          </a:xfrm>
          <a:prstGeom prst="rect">
            <a:avLst/>
          </a:prstGeom>
          <a:noFill/>
          <a:ln/>
        </p:spPr>
        <p:txBody>
          <a:bodyPr wrap="square" lIns="0" tIns="0" rIns="0" bIns="0" rtlCol="0" anchor="ctr"/>
          <a:lstStyle/>
          <a:p>
            <a:pPr indent="0" marL="0">
              <a:buNone/>
            </a:pPr>
            <a:r>
              <a:rPr lang="en-US" sz="3000" b="1" dirty="0">
                <a:solidFill>
                  <a:schemeClr val="bg1"/>
                </a:solidFill>
              </a:rPr>
              <a:t>Simple SaaS. No cut of the money.</a:t>
            </a:r>
            <a:endParaRPr lang="en-US" sz="3000" dirty="0"/>
          </a:p>
        </p:txBody>
      </p:sp>
      <p:sp>
        <p:nvSpPr>
          <p:cNvPr id="5" name="Model 1"/>
          <p:cNvSpPr/>
          <p:nvPr/>
        </p:nvSpPr>
        <p:spPr>
          <a:xfrm>
            <a:off x="640080" y="1463040"/>
            <a:ext cx="2514600" cy="2057400"/>
          </a:xfrm>
          <a:prstGeom prst="roundRect">
            <a:avLst>
              <a:gd name="adj" fmla="val 6222"/>
            </a:avLst>
          </a:prstGeom>
          <a:solidFill>
            <a:srgbClr val="17152A"/>
          </a:solidFill>
          <a:ln w="9525">
            <a:solidFill>
              <a:srgbClr val="2E2A48"/>
            </a:solidFill>
            <a:prstDash val="solid"/>
          </a:ln>
        </p:spPr>
      </p:sp>
      <p:sp>
        <p:nvSpPr>
          <p:cNvPr id="6" name="Model 1 circle"/>
          <p:cNvSpPr/>
          <p:nvPr/>
        </p:nvSpPr>
        <p:spPr>
          <a:xfrm>
            <a:off x="868680" y="1691640"/>
            <a:ext cx="548640" cy="548640"/>
          </a:xfrm>
          <a:prstGeom prst="ellipse">
            <a:avLst/>
          </a:prstGeom>
          <a:solidFill>
            <a:srgbClr val="7C3AED"/>
          </a:solidFill>
          <a:ln w="12700">
            <a:solidFill>
              <a:srgbClr val="7C3AED"/>
            </a:solidFill>
            <a:prstDash val="solid"/>
          </a:ln>
        </p:spPr>
      </p:sp>
      <p:pic>
        <p:nvPicPr>
          <p:cNvPr id="7" name="Model 1 icon" descr="preencoded.png">    </p:cNvPr>
          <p:cNvPicPr>
            <a:picLocks noChangeAspect="1"/>
          </p:cNvPicPr>
          <p:nvPr/>
        </p:nvPicPr>
        <p:blipFill>
          <a:blip r:embed="rId2"/>
          <a:stretch>
            <a:fillRect/>
          </a:stretch>
        </p:blipFill>
        <p:spPr>
          <a:xfrm>
            <a:off x="1005840" y="1828800"/>
            <a:ext cx="274320" cy="274320"/>
          </a:xfrm>
          <a:prstGeom prst="rect">
            <a:avLst/>
          </a:prstGeom>
        </p:spPr>
      </p:pic>
      <p:sp>
        <p:nvSpPr>
          <p:cNvPr id="8" name="Model title 1"/>
          <p:cNvSpPr txBox="1"/>
          <p:nvPr/>
        </p:nvSpPr>
        <p:spPr>
          <a:xfrm>
            <a:off x="868680" y="2377440"/>
            <a:ext cx="210312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Free trial</a:t>
            </a:r>
            <a:endParaRPr lang="en-US" sz="1500" dirty="0"/>
          </a:p>
        </p:txBody>
      </p:sp>
      <p:sp>
        <p:nvSpPr>
          <p:cNvPr id="9" name="Model text 1"/>
          <p:cNvSpPr txBox="1"/>
          <p:nvPr/>
        </p:nvSpPr>
        <p:spPr>
          <a:xfrm>
            <a:off x="868680" y="2743200"/>
            <a:ext cx="2103120" cy="685800"/>
          </a:xfrm>
          <a:prstGeom prst="rect">
            <a:avLst/>
          </a:prstGeom>
          <a:noFill/>
          <a:ln/>
        </p:spPr>
        <p:txBody>
          <a:bodyPr wrap="square" lIns="0" tIns="0" rIns="0" bIns="0" rtlCol="0" anchor="t"/>
          <a:lstStyle/>
          <a:p>
            <a:pPr indent="0" marL="0">
              <a:buNone/>
            </a:pPr>
            <a:r>
              <a:rPr lang="en-US" sz="1100" dirty="0">
                <a:solidFill>
                  <a:srgbClr val="A9A6BD"/>
                </a:solidFill>
              </a:rPr>
              <a:t>All features, no card. The business sees value on night one.</a:t>
            </a:r>
            <a:endParaRPr lang="en-US" sz="1100" dirty="0"/>
          </a:p>
        </p:txBody>
      </p:sp>
      <p:sp>
        <p:nvSpPr>
          <p:cNvPr id="10" name="Model 2"/>
          <p:cNvSpPr/>
          <p:nvPr/>
        </p:nvSpPr>
        <p:spPr>
          <a:xfrm>
            <a:off x="3337560" y="1463040"/>
            <a:ext cx="2514600" cy="2057400"/>
          </a:xfrm>
          <a:prstGeom prst="roundRect">
            <a:avLst>
              <a:gd name="adj" fmla="val 6222"/>
            </a:avLst>
          </a:prstGeom>
          <a:solidFill>
            <a:srgbClr val="211A3D"/>
          </a:solidFill>
          <a:ln w="9525">
            <a:solidFill>
              <a:srgbClr val="7C3AED"/>
            </a:solidFill>
            <a:prstDash val="solid"/>
          </a:ln>
        </p:spPr>
      </p:sp>
      <p:sp>
        <p:nvSpPr>
          <p:cNvPr id="11" name="Model 2 circle"/>
          <p:cNvSpPr/>
          <p:nvPr/>
        </p:nvSpPr>
        <p:spPr>
          <a:xfrm>
            <a:off x="3566160" y="1691640"/>
            <a:ext cx="548640" cy="548640"/>
          </a:xfrm>
          <a:prstGeom prst="ellipse">
            <a:avLst/>
          </a:prstGeom>
          <a:solidFill>
            <a:srgbClr val="7C3AED"/>
          </a:solidFill>
          <a:ln w="12700">
            <a:solidFill>
              <a:srgbClr val="7C3AED"/>
            </a:solidFill>
            <a:prstDash val="solid"/>
          </a:ln>
        </p:spPr>
      </p:sp>
      <p:pic>
        <p:nvPicPr>
          <p:cNvPr id="12" name="Model 2 icon" descr="preencoded.png">    </p:cNvPr>
          <p:cNvPicPr>
            <a:picLocks noChangeAspect="1"/>
          </p:cNvPicPr>
          <p:nvPr/>
        </p:nvPicPr>
        <p:blipFill>
          <a:blip r:embed="rId3"/>
          <a:stretch>
            <a:fillRect/>
          </a:stretch>
        </p:blipFill>
        <p:spPr>
          <a:xfrm>
            <a:off x="3703320" y="1828800"/>
            <a:ext cx="274320" cy="274320"/>
          </a:xfrm>
          <a:prstGeom prst="rect">
            <a:avLst/>
          </a:prstGeom>
        </p:spPr>
      </p:pic>
      <p:sp>
        <p:nvSpPr>
          <p:cNvPr id="13" name="Model title 2"/>
          <p:cNvSpPr txBox="1"/>
          <p:nvPr/>
        </p:nvSpPr>
        <p:spPr>
          <a:xfrm>
            <a:off x="3566160" y="2377440"/>
            <a:ext cx="210312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Monthly subscription</a:t>
            </a:r>
            <a:endParaRPr lang="en-US" sz="1500" dirty="0"/>
          </a:p>
        </p:txBody>
      </p:sp>
      <p:sp>
        <p:nvSpPr>
          <p:cNvPr id="14" name="Model text 2"/>
          <p:cNvSpPr txBox="1"/>
          <p:nvPr/>
        </p:nvSpPr>
        <p:spPr>
          <a:xfrm>
            <a:off x="3566160" y="2743200"/>
            <a:ext cx="2103120" cy="685800"/>
          </a:xfrm>
          <a:prstGeom prst="rect">
            <a:avLst/>
          </a:prstGeom>
          <a:noFill/>
          <a:ln/>
        </p:spPr>
        <p:txBody>
          <a:bodyPr wrap="square" lIns="0" tIns="0" rIns="0" bIns="0" rtlCol="0" anchor="t"/>
          <a:lstStyle/>
          <a:p>
            <a:pPr indent="0" marL="0">
              <a:buNone/>
            </a:pPr>
            <a:r>
              <a:rPr lang="en-US" sz="1100" dirty="0">
                <a:solidFill>
                  <a:srgbClr val="A9A6BD"/>
                </a:solidFill>
              </a:rPr>
              <a:t>Priced by business size: more devices, branches and AI included.</a:t>
            </a:r>
            <a:endParaRPr lang="en-US" sz="1100" dirty="0"/>
          </a:p>
        </p:txBody>
      </p:sp>
      <p:sp>
        <p:nvSpPr>
          <p:cNvPr id="15" name="Model 3"/>
          <p:cNvSpPr/>
          <p:nvPr/>
        </p:nvSpPr>
        <p:spPr>
          <a:xfrm>
            <a:off x="6035040" y="1463040"/>
            <a:ext cx="2514600" cy="2057400"/>
          </a:xfrm>
          <a:prstGeom prst="roundRect">
            <a:avLst>
              <a:gd name="adj" fmla="val 6222"/>
            </a:avLst>
          </a:prstGeom>
          <a:solidFill>
            <a:srgbClr val="17152A"/>
          </a:solidFill>
          <a:ln w="9525">
            <a:solidFill>
              <a:srgbClr val="2E2A48"/>
            </a:solidFill>
            <a:prstDash val="solid"/>
          </a:ln>
        </p:spPr>
      </p:sp>
      <p:sp>
        <p:nvSpPr>
          <p:cNvPr id="16" name="Model 3 circle"/>
          <p:cNvSpPr/>
          <p:nvPr/>
        </p:nvSpPr>
        <p:spPr>
          <a:xfrm>
            <a:off x="6263640" y="1691640"/>
            <a:ext cx="548640" cy="548640"/>
          </a:xfrm>
          <a:prstGeom prst="ellipse">
            <a:avLst/>
          </a:prstGeom>
          <a:solidFill>
            <a:srgbClr val="7C3AED"/>
          </a:solidFill>
          <a:ln w="12700">
            <a:solidFill>
              <a:srgbClr val="7C3AED"/>
            </a:solidFill>
            <a:prstDash val="solid"/>
          </a:ln>
        </p:spPr>
      </p:sp>
      <p:pic>
        <p:nvPicPr>
          <p:cNvPr id="17" name="Model 3 icon" descr="preencoded.png">    </p:cNvPr>
          <p:cNvPicPr>
            <a:picLocks noChangeAspect="1"/>
          </p:cNvPicPr>
          <p:nvPr/>
        </p:nvPicPr>
        <p:blipFill>
          <a:blip r:embed="rId4"/>
          <a:stretch>
            <a:fillRect/>
          </a:stretch>
        </p:blipFill>
        <p:spPr>
          <a:xfrm>
            <a:off x="6400800" y="1828800"/>
            <a:ext cx="274320" cy="274320"/>
          </a:xfrm>
          <a:prstGeom prst="rect">
            <a:avLst/>
          </a:prstGeom>
        </p:spPr>
      </p:pic>
      <p:sp>
        <p:nvSpPr>
          <p:cNvPr id="18" name="Model title 3"/>
          <p:cNvSpPr txBox="1"/>
          <p:nvPr/>
        </p:nvSpPr>
        <p:spPr>
          <a:xfrm>
            <a:off x="6263640" y="2377440"/>
            <a:ext cx="210312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Lifetime licenses</a:t>
            </a:r>
            <a:endParaRPr lang="en-US" sz="1500" dirty="0"/>
          </a:p>
        </p:txBody>
      </p:sp>
      <p:sp>
        <p:nvSpPr>
          <p:cNvPr id="19" name="Model text 3"/>
          <p:cNvSpPr txBox="1"/>
          <p:nvPr/>
        </p:nvSpPr>
        <p:spPr>
          <a:xfrm>
            <a:off x="6263640" y="2743200"/>
            <a:ext cx="2103120" cy="685800"/>
          </a:xfrm>
          <a:prstGeom prst="rect">
            <a:avLst/>
          </a:prstGeom>
          <a:noFill/>
          <a:ln/>
        </p:spPr>
        <p:txBody>
          <a:bodyPr wrap="square" lIns="0" tIns="0" rIns="0" bIns="0" rtlCol="0" anchor="t"/>
          <a:lstStyle/>
          <a:p>
            <a:pPr indent="0" marL="0">
              <a:buNone/>
            </a:pPr>
            <a:r>
              <a:rPr lang="en-US" sz="1100" dirty="0">
                <a:solidFill>
                  <a:srgbClr val="A9A6BD"/>
                </a:solidFill>
              </a:rPr>
              <a:t>One-time option for owners who prefer to buy, not rent.</a:t>
            </a:r>
            <a:endParaRPr lang="en-US" sz="1100" dirty="0"/>
          </a:p>
        </p:txBody>
      </p:sp>
      <p:sp>
        <p:nvSpPr>
          <p:cNvPr id="20" name="Model footnote"/>
          <p:cNvSpPr/>
          <p:nvPr/>
        </p:nvSpPr>
        <p:spPr>
          <a:xfrm>
            <a:off x="640080" y="3749040"/>
            <a:ext cx="7863840" cy="777240"/>
          </a:xfrm>
          <a:prstGeom prst="roundRect">
            <a:avLst>
              <a:gd name="adj" fmla="val 16471"/>
            </a:avLst>
          </a:prstGeom>
          <a:solidFill>
            <a:srgbClr val="10251D"/>
          </a:solidFill>
          <a:ln w="9525">
            <a:solidFill>
              <a:srgbClr val="1F5A44"/>
            </a:solidFill>
            <a:prstDash val="solid"/>
          </a:ln>
        </p:spPr>
      </p:sp>
      <p:sp>
        <p:nvSpPr>
          <p:cNvPr id="21" name="Model footnote text"/>
          <p:cNvSpPr txBox="1"/>
          <p:nvPr/>
        </p:nvSpPr>
        <p:spPr>
          <a:xfrm>
            <a:off x="868680" y="3794760"/>
            <a:ext cx="7452360" cy="685800"/>
          </a:xfrm>
          <a:prstGeom prst="rect">
            <a:avLst/>
          </a:prstGeom>
          <a:noFill/>
          <a:ln/>
        </p:spPr>
        <p:txBody>
          <a:bodyPr wrap="square" lIns="0" tIns="0" rIns="0" bIns="0" rtlCol="0" anchor="ctr"/>
          <a:lstStyle/>
          <a:p>
            <a:pPr indent="0" marL="0">
              <a:buNone/>
            </a:pPr>
            <a:r>
              <a:rPr lang="en-US" sz="1200" b="1" dirty="0">
                <a:solidFill>
                  <a:srgbClr val="34D399"/>
                </a:solidFill>
              </a:rPr>
              <a:t>0% transaction fees from Vento.  </a:t>
            </a:r>
            <a:pPr indent="0" marL="0">
              <a:buNone/>
            </a:pPr>
            <a:r>
              <a:rPr lang="en-US" sz="1200" dirty="0">
                <a:solidFill>
                  <a:srgbClr val="D9F7EC"/>
                </a:solidFill>
              </a:rPr>
              <a:t>Payments go straight to the merchant’s own Nequi, DaviPlata or Bre-B account — Vento only verifies them. Licenses and plans are managed from the Vento Admin console.</a:t>
            </a:r>
            <a:endParaRPr lang="en-US" sz="12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A8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Background light"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Kicker"/>
          <p:cNvSpPr txBox="1"/>
          <p:nvPr/>
        </p:nvSpPr>
        <p:spPr>
          <a:xfrm>
            <a:off x="640080" y="292608"/>
            <a:ext cx="5486400" cy="256032"/>
          </a:xfrm>
          <a:prstGeom prst="rect">
            <a:avLst/>
          </a:prstGeom>
          <a:noFill/>
          <a:ln/>
        </p:spPr>
        <p:txBody>
          <a:bodyPr wrap="square" lIns="0" tIns="0" rIns="0" bIns="0" rtlCol="0" anchor="ctr"/>
          <a:lstStyle/>
          <a:p>
            <a:pPr indent="0" marL="0">
              <a:buNone/>
            </a:pPr>
            <a:r>
              <a:rPr lang="en-US" sz="1050" b="1" spc="300" kern="0" dirty="0">
                <a:solidFill>
                  <a:srgbClr val="34D399"/>
                </a:solidFill>
              </a:rPr>
              <a:t>WHY VENTO WINS</a:t>
            </a:r>
            <a:endParaRPr lang="en-US" sz="1050" dirty="0"/>
          </a:p>
        </p:txBody>
      </p:sp>
      <p:sp>
        <p:nvSpPr>
          <p:cNvPr id="4" name="Text 0"/>
          <p:cNvSpPr/>
          <p:nvPr>
            <p:ph idx="100" type="title" hasCustomPrompt="1"/>
          </p:nvPr>
        </p:nvSpPr>
        <p:spPr>
          <a:xfrm>
            <a:off x="640080" y="566928"/>
            <a:ext cx="7863840" cy="640080"/>
          </a:xfrm>
          <a:prstGeom prst="rect">
            <a:avLst/>
          </a:prstGeom>
          <a:noFill/>
          <a:ln/>
        </p:spPr>
        <p:txBody>
          <a:bodyPr wrap="square" lIns="0" tIns="0" rIns="0" bIns="0" rtlCol="0" anchor="ctr"/>
          <a:lstStyle/>
          <a:p>
            <a:pPr indent="0" marL="0">
              <a:buNone/>
            </a:pPr>
            <a:r>
              <a:rPr lang="en-US" sz="3000" b="1" dirty="0">
                <a:solidFill>
                  <a:schemeClr val="bg1"/>
                </a:solidFill>
              </a:rPr>
              <a:t>A category of one</a:t>
            </a:r>
            <a:endParaRPr lang="en-US" sz="3000" dirty="0"/>
          </a:p>
        </p:txBody>
      </p:sp>
      <p:graphicFrame>
        <p:nvGraphicFramePr>
          <p:cNvPr id="13" name="Positioning table"/>
          <p:cNvGraphicFramePr>
            <a:graphicFrameLocks noGrp="1"/>
          </p:cNvGraphicFramePr>
          <p:nvPr>
            <p:extLst>
              <p:ext uri="{D42A27DB-BD31-4B8C-83A1-F6EECF244321}">
                <p14:modId xmlns:p14="http://schemas.microsoft.com/office/powerpoint/2010/main" val="1579011935"/>
              </p:ext>
            </p:extLst>
          </p:nvPr>
        </p:nvGraphicFramePr>
        <p:xfrm>
          <a:off x="640080" y="1417320"/>
          <a:ext cx="7863840" cy="914400"/>
        </p:xfrm>
        <a:graphic>
          <a:graphicData uri="http://schemas.openxmlformats.org/drawingml/2006/table">
            <a:tbl>
              <a:tblPr/>
              <a:tblGrid>
                <a:gridCol w="2743200"/>
                <a:gridCol w="1234440"/>
                <a:gridCol w="1234440"/>
                <a:gridCol w="1325880"/>
                <a:gridCol w="1325880"/>
              </a:tblGrid>
              <a:tr h="429768">
                <a:tc>
                  <a:txBody>
                    <a:bodyPr/>
                    <a:lstStyle/>
                    <a:p>
                      <a:pPr indent="0" marL="0">
                        <a:buNone/>
                      </a:pPr>
                      <a:endParaRPr lang="en-US" sz="11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211E36"/>
                    </a:solidFill>
                  </a:tcPr>
                </a:tc>
                <a:tc>
                  <a:txBody>
                    <a:bodyPr/>
                    <a:lstStyle/>
                    <a:p>
                      <a:pPr algn="ctr" indent="0" marL="0">
                        <a:buNone/>
                      </a:pPr>
                      <a:r>
                        <a:rPr lang="en-US" sz="1050" b="1" dirty="0">
                          <a:solidFill>
                            <a:srgbClr val="B9B5CF"/>
                          </a:solidFill>
                        </a:rPr>
                        <a:t>Paper + WhatsApp</a:t>
                      </a:r>
                      <a:endParaRPr lang="en-US" sz="105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211E36"/>
                    </a:solidFill>
                  </a:tcPr>
                </a:tc>
                <a:tc>
                  <a:txBody>
                    <a:bodyPr/>
                    <a:lstStyle/>
                    <a:p>
                      <a:pPr algn="ctr" indent="0" marL="0">
                        <a:buNone/>
                      </a:pPr>
                      <a:r>
                        <a:rPr lang="en-US" sz="1050" b="1" dirty="0">
                          <a:solidFill>
                            <a:srgbClr val="B9B5CF"/>
                          </a:solidFill>
                        </a:rPr>
                        <a:t>Traditional POS</a:t>
                      </a:r>
                      <a:endParaRPr lang="en-US" sz="105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211E36"/>
                    </a:solidFill>
                  </a:tcPr>
                </a:tc>
                <a:tc>
                  <a:txBody>
                    <a:bodyPr/>
                    <a:lstStyle/>
                    <a:p>
                      <a:pPr algn="ctr" indent="0" marL="0">
                        <a:buNone/>
                      </a:pPr>
                      <a:r>
                        <a:rPr lang="en-US" sz="1050" b="1" dirty="0">
                          <a:solidFill>
                            <a:srgbClr val="B9B5CF"/>
                          </a:solidFill>
                        </a:rPr>
                        <a:t>Payment gateways</a:t>
                      </a:r>
                      <a:endParaRPr lang="en-US" sz="105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211E36"/>
                    </a:solidFill>
                  </a:tcPr>
                </a:tc>
                <a:tc>
                  <a:txBody>
                    <a:bodyPr/>
                    <a:lstStyle/>
                    <a:p>
                      <a:pPr algn="ctr" indent="0" marL="0">
                        <a:buNone/>
                      </a:pPr>
                      <a:r>
                        <a:rPr lang="en-US" sz="1200" b="1" dirty="0">
                          <a:solidFill>
                            <a:srgbClr val="FFFFFF"/>
                          </a:solidFill>
                        </a:rPr>
                        <a:t>Vento</a:t>
                      </a:r>
                      <a:endParaRPr lang="en-US" sz="12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7C3AED"/>
                    </a:solidFill>
                  </a:tcPr>
                </a:tc>
              </a:tr>
              <a:tr h="429768">
                <a:tc>
                  <a:txBody>
                    <a:bodyPr/>
                    <a:lstStyle/>
                    <a:p>
                      <a:pPr indent="0" marL="0">
                        <a:buNone/>
                      </a:pPr>
                      <a:r>
                        <a:rPr lang="en-US" sz="1100" dirty="0">
                          <a:solidFill>
                            <a:srgbClr val="F2F1F7"/>
                          </a:solidFill>
                        </a:rPr>
                        <a:t>Hands-free voice operation</a:t>
                      </a:r>
                      <a:endParaRPr lang="en-US" sz="11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7152A"/>
                    </a:solidFill>
                  </a:tcPr>
                </a:tc>
                <a:tc>
                  <a:txBody>
                    <a:bodyPr/>
                    <a:lstStyle/>
                    <a:p>
                      <a:pPr algn="ctr" indent="0" marL="0">
                        <a:buNone/>
                      </a:pPr>
                      <a:r>
                        <a:rPr lang="en-US" sz="1300" dirty="0">
                          <a:solidFill>
                            <a:srgbClr val="6E6A85"/>
                          </a:solidFill>
                        </a:rPr>
                        <a:t>—</a:t>
                      </a:r>
                      <a:endParaRPr lang="en-US" sz="13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7152A"/>
                    </a:solidFill>
                  </a:tcPr>
                </a:tc>
                <a:tc>
                  <a:txBody>
                    <a:bodyPr/>
                    <a:lstStyle/>
                    <a:p>
                      <a:pPr algn="ctr" indent="0" marL="0">
                        <a:buNone/>
                      </a:pPr>
                      <a:r>
                        <a:rPr lang="en-US" sz="1300" dirty="0">
                          <a:solidFill>
                            <a:srgbClr val="6E6A85"/>
                          </a:solidFill>
                        </a:rPr>
                        <a:t>—</a:t>
                      </a:r>
                      <a:endParaRPr lang="en-US" sz="13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7152A"/>
                    </a:solidFill>
                  </a:tcPr>
                </a:tc>
                <a:tc>
                  <a:txBody>
                    <a:bodyPr/>
                    <a:lstStyle/>
                    <a:p>
                      <a:pPr algn="ctr" indent="0" marL="0">
                        <a:buNone/>
                      </a:pPr>
                      <a:r>
                        <a:rPr lang="en-US" sz="1300" dirty="0">
                          <a:solidFill>
                            <a:srgbClr val="6E6A85"/>
                          </a:solidFill>
                        </a:rPr>
                        <a:t>—</a:t>
                      </a:r>
                      <a:endParaRPr lang="en-US" sz="13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7152A"/>
                    </a:solidFill>
                  </a:tcPr>
                </a:tc>
                <a:tc>
                  <a:txBody>
                    <a:bodyPr/>
                    <a:lstStyle/>
                    <a:p>
                      <a:pPr algn="ctr" indent="0" marL="0">
                        <a:buNone/>
                      </a:pPr>
                      <a:r>
                        <a:rPr lang="en-US" sz="1300" b="1" dirty="0">
                          <a:solidFill>
                            <a:srgbClr val="34D399"/>
                          </a:solidFill>
                        </a:rPr>
                        <a:t>✓</a:t>
                      </a:r>
                      <a:endParaRPr lang="en-US" sz="13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5122A"/>
                    </a:solidFill>
                  </a:tcPr>
                </a:tc>
              </a:tr>
              <a:tr h="429768">
                <a:tc>
                  <a:txBody>
                    <a:bodyPr/>
                    <a:lstStyle/>
                    <a:p>
                      <a:pPr indent="0" marL="0">
                        <a:buNone/>
                      </a:pPr>
                      <a:r>
                        <a:rPr lang="en-US" sz="1100" dirty="0">
                          <a:solidFill>
                            <a:srgbClr val="F2F1F7"/>
                          </a:solidFill>
                        </a:rPr>
                        <a:t>Fake-screenshot &amp; SMS detection</a:t>
                      </a:r>
                      <a:endParaRPr lang="en-US" sz="11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7152A"/>
                    </a:solidFill>
                  </a:tcPr>
                </a:tc>
                <a:tc>
                  <a:txBody>
                    <a:bodyPr/>
                    <a:lstStyle/>
                    <a:p>
                      <a:pPr algn="ctr" indent="0" marL="0">
                        <a:buNone/>
                      </a:pPr>
                      <a:r>
                        <a:rPr lang="en-US" sz="1300" dirty="0">
                          <a:solidFill>
                            <a:srgbClr val="6E6A85"/>
                          </a:solidFill>
                        </a:rPr>
                        <a:t>—</a:t>
                      </a:r>
                      <a:endParaRPr lang="en-US" sz="13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7152A"/>
                    </a:solidFill>
                  </a:tcPr>
                </a:tc>
                <a:tc>
                  <a:txBody>
                    <a:bodyPr/>
                    <a:lstStyle/>
                    <a:p>
                      <a:pPr algn="ctr" indent="0" marL="0">
                        <a:buNone/>
                      </a:pPr>
                      <a:r>
                        <a:rPr lang="en-US" sz="1300" dirty="0">
                          <a:solidFill>
                            <a:srgbClr val="6E6A85"/>
                          </a:solidFill>
                        </a:rPr>
                        <a:t>—</a:t>
                      </a:r>
                      <a:endParaRPr lang="en-US" sz="13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7152A"/>
                    </a:solidFill>
                  </a:tcPr>
                </a:tc>
                <a:tc>
                  <a:txBody>
                    <a:bodyPr/>
                    <a:lstStyle/>
                    <a:p>
                      <a:pPr algn="ctr" indent="0" marL="0">
                        <a:buNone/>
                      </a:pPr>
                      <a:r>
                        <a:rPr lang="en-US" sz="1300" dirty="0">
                          <a:solidFill>
                            <a:srgbClr val="6E6A85"/>
                          </a:solidFill>
                        </a:rPr>
                        <a:t>—</a:t>
                      </a:r>
                      <a:endParaRPr lang="en-US" sz="13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7152A"/>
                    </a:solidFill>
                  </a:tcPr>
                </a:tc>
                <a:tc>
                  <a:txBody>
                    <a:bodyPr/>
                    <a:lstStyle/>
                    <a:p>
                      <a:pPr algn="ctr" indent="0" marL="0">
                        <a:buNone/>
                      </a:pPr>
                      <a:r>
                        <a:rPr lang="en-US" sz="1300" b="1" dirty="0">
                          <a:solidFill>
                            <a:srgbClr val="34D399"/>
                          </a:solidFill>
                        </a:rPr>
                        <a:t>✓</a:t>
                      </a:r>
                      <a:endParaRPr lang="en-US" sz="13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5122A"/>
                    </a:solidFill>
                  </a:tcPr>
                </a:tc>
              </a:tr>
              <a:tr h="429768">
                <a:tc>
                  <a:txBody>
                    <a:bodyPr/>
                    <a:lstStyle/>
                    <a:p>
                      <a:pPr indent="0" marL="0">
                        <a:buNone/>
                      </a:pPr>
                      <a:r>
                        <a:rPr lang="en-US" sz="1100" dirty="0">
                          <a:solidFill>
                            <a:srgbClr val="F2F1F7"/>
                          </a:solidFill>
                        </a:rPr>
                        <a:t>No fee on each sale</a:t>
                      </a:r>
                      <a:endParaRPr lang="en-US" sz="11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7152A"/>
                    </a:solidFill>
                  </a:tcPr>
                </a:tc>
                <a:tc>
                  <a:txBody>
                    <a:bodyPr/>
                    <a:lstStyle/>
                    <a:p>
                      <a:pPr algn="ctr" indent="0" marL="0">
                        <a:buNone/>
                      </a:pPr>
                      <a:r>
                        <a:rPr lang="en-US" sz="1300" b="1" dirty="0">
                          <a:solidFill>
                            <a:srgbClr val="34D399"/>
                          </a:solidFill>
                        </a:rPr>
                        <a:t>✓</a:t>
                      </a:r>
                      <a:endParaRPr lang="en-US" sz="13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7152A"/>
                    </a:solidFill>
                  </a:tcPr>
                </a:tc>
                <a:tc>
                  <a:txBody>
                    <a:bodyPr/>
                    <a:lstStyle/>
                    <a:p>
                      <a:pPr algn="ctr" indent="0" marL="0">
                        <a:buNone/>
                      </a:pPr>
                      <a:r>
                        <a:rPr lang="en-US" sz="1300" b="1" dirty="0">
                          <a:solidFill>
                            <a:srgbClr val="34D399"/>
                          </a:solidFill>
                        </a:rPr>
                        <a:t>✓</a:t>
                      </a:r>
                      <a:endParaRPr lang="en-US" sz="13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7152A"/>
                    </a:solidFill>
                  </a:tcPr>
                </a:tc>
                <a:tc>
                  <a:txBody>
                    <a:bodyPr/>
                    <a:lstStyle/>
                    <a:p>
                      <a:pPr algn="ctr" indent="0" marL="0">
                        <a:buNone/>
                      </a:pPr>
                      <a:r>
                        <a:rPr lang="en-US" sz="1300" dirty="0">
                          <a:solidFill>
                            <a:srgbClr val="6E6A85"/>
                          </a:solidFill>
                        </a:rPr>
                        <a:t>—</a:t>
                      </a:r>
                      <a:endParaRPr lang="en-US" sz="13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7152A"/>
                    </a:solidFill>
                  </a:tcPr>
                </a:tc>
                <a:tc>
                  <a:txBody>
                    <a:bodyPr/>
                    <a:lstStyle/>
                    <a:p>
                      <a:pPr algn="ctr" indent="0" marL="0">
                        <a:buNone/>
                      </a:pPr>
                      <a:r>
                        <a:rPr lang="en-US" sz="1300" b="1" dirty="0">
                          <a:solidFill>
                            <a:srgbClr val="34D399"/>
                          </a:solidFill>
                        </a:rPr>
                        <a:t>✓</a:t>
                      </a:r>
                      <a:endParaRPr lang="en-US" sz="13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5122A"/>
                    </a:solidFill>
                  </a:tcPr>
                </a:tc>
              </a:tr>
              <a:tr h="429768">
                <a:tc>
                  <a:txBody>
                    <a:bodyPr/>
                    <a:lstStyle/>
                    <a:p>
                      <a:pPr indent="0" marL="0">
                        <a:buNone/>
                      </a:pPr>
                      <a:r>
                        <a:rPr lang="en-US" sz="1100" dirty="0">
                          <a:solidFill>
                            <a:srgbClr val="F2F1F7"/>
                          </a:solidFill>
                        </a:rPr>
                        <a:t>No dedicated hardware</a:t>
                      </a:r>
                      <a:endParaRPr lang="en-US" sz="11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7152A"/>
                    </a:solidFill>
                  </a:tcPr>
                </a:tc>
                <a:tc>
                  <a:txBody>
                    <a:bodyPr/>
                    <a:lstStyle/>
                    <a:p>
                      <a:pPr algn="ctr" indent="0" marL="0">
                        <a:buNone/>
                      </a:pPr>
                      <a:r>
                        <a:rPr lang="en-US" sz="1300" b="1" dirty="0">
                          <a:solidFill>
                            <a:srgbClr val="34D399"/>
                          </a:solidFill>
                        </a:rPr>
                        <a:t>✓</a:t>
                      </a:r>
                      <a:endParaRPr lang="en-US" sz="13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7152A"/>
                    </a:solidFill>
                  </a:tcPr>
                </a:tc>
                <a:tc>
                  <a:txBody>
                    <a:bodyPr/>
                    <a:lstStyle/>
                    <a:p>
                      <a:pPr algn="ctr" indent="0" marL="0">
                        <a:buNone/>
                      </a:pPr>
                      <a:r>
                        <a:rPr lang="en-US" sz="1300" dirty="0">
                          <a:solidFill>
                            <a:srgbClr val="6E6A85"/>
                          </a:solidFill>
                        </a:rPr>
                        <a:t>—</a:t>
                      </a:r>
                      <a:endParaRPr lang="en-US" sz="13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7152A"/>
                    </a:solidFill>
                  </a:tcPr>
                </a:tc>
                <a:tc>
                  <a:txBody>
                    <a:bodyPr/>
                    <a:lstStyle/>
                    <a:p>
                      <a:pPr algn="ctr" indent="0" marL="0">
                        <a:buNone/>
                      </a:pPr>
                      <a:r>
                        <a:rPr lang="en-US" sz="1300" b="1" dirty="0">
                          <a:solidFill>
                            <a:srgbClr val="34D399"/>
                          </a:solidFill>
                        </a:rPr>
                        <a:t>✓</a:t>
                      </a:r>
                      <a:endParaRPr lang="en-US" sz="13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7152A"/>
                    </a:solidFill>
                  </a:tcPr>
                </a:tc>
                <a:tc>
                  <a:txBody>
                    <a:bodyPr/>
                    <a:lstStyle/>
                    <a:p>
                      <a:pPr algn="ctr" indent="0" marL="0">
                        <a:buNone/>
                      </a:pPr>
                      <a:r>
                        <a:rPr lang="en-US" sz="1300" b="1" dirty="0">
                          <a:solidFill>
                            <a:srgbClr val="34D399"/>
                          </a:solidFill>
                        </a:rPr>
                        <a:t>✓</a:t>
                      </a:r>
                      <a:endParaRPr lang="en-US" sz="13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5122A"/>
                    </a:solidFill>
                  </a:tcPr>
                </a:tc>
              </a:tr>
              <a:tr h="429768">
                <a:tc>
                  <a:txBody>
                    <a:bodyPr/>
                    <a:lstStyle/>
                    <a:p>
                      <a:pPr indent="0" marL="0">
                        <a:buNone/>
                      </a:pPr>
                      <a:r>
                        <a:rPr lang="en-US" sz="1100" dirty="0">
                          <a:solidFill>
                            <a:srgbClr val="F2F1F7"/>
                          </a:solidFill>
                        </a:rPr>
                        <a:t>AI invoices &amp; inventory</a:t>
                      </a:r>
                      <a:endParaRPr lang="en-US" sz="11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7152A"/>
                    </a:solidFill>
                  </a:tcPr>
                </a:tc>
                <a:tc>
                  <a:txBody>
                    <a:bodyPr/>
                    <a:lstStyle/>
                    <a:p>
                      <a:pPr algn="ctr" indent="0" marL="0">
                        <a:buNone/>
                      </a:pPr>
                      <a:r>
                        <a:rPr lang="en-US" sz="1300" dirty="0">
                          <a:solidFill>
                            <a:srgbClr val="6E6A85"/>
                          </a:solidFill>
                        </a:rPr>
                        <a:t>—</a:t>
                      </a:r>
                      <a:endParaRPr lang="en-US" sz="13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7152A"/>
                    </a:solidFill>
                  </a:tcPr>
                </a:tc>
                <a:tc>
                  <a:txBody>
                    <a:bodyPr/>
                    <a:lstStyle/>
                    <a:p>
                      <a:pPr algn="ctr" indent="0" marL="0">
                        <a:buNone/>
                      </a:pPr>
                      <a:r>
                        <a:rPr lang="en-US" sz="1300" dirty="0">
                          <a:solidFill>
                            <a:srgbClr val="6E6A85"/>
                          </a:solidFill>
                        </a:rPr>
                        <a:t>—</a:t>
                      </a:r>
                      <a:endParaRPr lang="en-US" sz="13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7152A"/>
                    </a:solidFill>
                  </a:tcPr>
                </a:tc>
                <a:tc>
                  <a:txBody>
                    <a:bodyPr/>
                    <a:lstStyle/>
                    <a:p>
                      <a:pPr algn="ctr" indent="0" marL="0">
                        <a:buNone/>
                      </a:pPr>
                      <a:r>
                        <a:rPr lang="en-US" sz="1300" dirty="0">
                          <a:solidFill>
                            <a:srgbClr val="6E6A85"/>
                          </a:solidFill>
                        </a:rPr>
                        <a:t>—</a:t>
                      </a:r>
                      <a:endParaRPr lang="en-US" sz="13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7152A"/>
                    </a:solidFill>
                  </a:tcPr>
                </a:tc>
                <a:tc>
                  <a:txBody>
                    <a:bodyPr/>
                    <a:lstStyle/>
                    <a:p>
                      <a:pPr algn="ctr" indent="0" marL="0">
                        <a:buNone/>
                      </a:pPr>
                      <a:r>
                        <a:rPr lang="en-US" sz="1300" b="1" dirty="0">
                          <a:solidFill>
                            <a:srgbClr val="34D399"/>
                          </a:solidFill>
                        </a:rPr>
                        <a:t>✓</a:t>
                      </a:r>
                      <a:endParaRPr lang="en-US" sz="13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5122A"/>
                    </a:solidFill>
                  </a:tcPr>
                </a:tc>
              </a:tr>
              <a:tr h="429768">
                <a:tc>
                  <a:txBody>
                    <a:bodyPr/>
                    <a:lstStyle/>
                    <a:p>
                      <a:pPr indent="0" marL="0">
                        <a:buNone/>
                      </a:pPr>
                      <a:r>
                        <a:rPr lang="en-US" sz="1100" dirty="0">
                          <a:solidFill>
                            <a:srgbClr val="F2F1F7"/>
                          </a:solidFill>
                        </a:rPr>
                        <a:t>Works offline</a:t>
                      </a:r>
                      <a:endParaRPr lang="en-US" sz="11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7152A"/>
                    </a:solidFill>
                  </a:tcPr>
                </a:tc>
                <a:tc>
                  <a:txBody>
                    <a:bodyPr/>
                    <a:lstStyle/>
                    <a:p>
                      <a:pPr algn="ctr" indent="0" marL="0">
                        <a:buNone/>
                      </a:pPr>
                      <a:r>
                        <a:rPr lang="en-US" sz="1300" b="1" dirty="0">
                          <a:solidFill>
                            <a:srgbClr val="34D399"/>
                          </a:solidFill>
                        </a:rPr>
                        <a:t>✓</a:t>
                      </a:r>
                      <a:endParaRPr lang="en-US" sz="13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7152A"/>
                    </a:solidFill>
                  </a:tcPr>
                </a:tc>
                <a:tc>
                  <a:txBody>
                    <a:bodyPr/>
                    <a:lstStyle/>
                    <a:p>
                      <a:pPr algn="ctr" indent="0" marL="0">
                        <a:buNone/>
                      </a:pPr>
                      <a:r>
                        <a:rPr lang="en-US" sz="1300" b="1" dirty="0">
                          <a:solidFill>
                            <a:srgbClr val="34D399"/>
                          </a:solidFill>
                        </a:rPr>
                        <a:t>✓</a:t>
                      </a:r>
                      <a:endParaRPr lang="en-US" sz="13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7152A"/>
                    </a:solidFill>
                  </a:tcPr>
                </a:tc>
                <a:tc>
                  <a:txBody>
                    <a:bodyPr/>
                    <a:lstStyle/>
                    <a:p>
                      <a:pPr algn="ctr" indent="0" marL="0">
                        <a:buNone/>
                      </a:pPr>
                      <a:r>
                        <a:rPr lang="en-US" sz="1300" dirty="0">
                          <a:solidFill>
                            <a:srgbClr val="6E6A85"/>
                          </a:solidFill>
                        </a:rPr>
                        <a:t>—</a:t>
                      </a:r>
                      <a:endParaRPr lang="en-US" sz="13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7152A"/>
                    </a:solidFill>
                  </a:tcPr>
                </a:tc>
                <a:tc>
                  <a:txBody>
                    <a:bodyPr/>
                    <a:lstStyle/>
                    <a:p>
                      <a:pPr algn="ctr" indent="0" marL="0">
                        <a:buNone/>
                      </a:pPr>
                      <a:r>
                        <a:rPr lang="en-US" sz="1300" b="1" dirty="0">
                          <a:solidFill>
                            <a:srgbClr val="34D399"/>
                          </a:solidFill>
                        </a:rPr>
                        <a:t>✓</a:t>
                      </a:r>
                      <a:endParaRPr lang="en-US" sz="1300" dirty="0"/>
                    </a:p>
                  </a:txBody>
                  <a:tcPr marL="91440" marR="91440" marT="45720" marB="45720" anchor="ctr">
                    <a:lnL w="9525" cap="flat" cmpd="sng" algn="ctr">
                      <a:solidFill>
                        <a:srgbClr val="2E2A48"/>
                      </a:solidFill>
                      <a:prstDash val="solid"/>
                      <a:round/>
                      <a:headEnd type="none" w="med" len="med"/>
                      <a:tailEnd type="none" w="med" len="med"/>
                    </a:lnL>
                    <a:lnR w="9525" cap="flat" cmpd="sng" algn="ctr">
                      <a:solidFill>
                        <a:srgbClr val="2E2A48"/>
                      </a:solidFill>
                      <a:prstDash val="solid"/>
                      <a:round/>
                      <a:headEnd type="none" w="med" len="med"/>
                      <a:tailEnd type="none" w="med" len="med"/>
                    </a:lnR>
                    <a:lnT w="9525" cap="flat" cmpd="sng" algn="ctr">
                      <a:solidFill>
                        <a:srgbClr val="2E2A48"/>
                      </a:solidFill>
                      <a:prstDash val="solid"/>
                      <a:round/>
                      <a:headEnd type="none" w="med" len="med"/>
                      <a:tailEnd type="none" w="med" len="med"/>
                    </a:lnT>
                    <a:lnB w="9525" cap="flat" cmpd="sng" algn="ctr">
                      <a:solidFill>
                        <a:srgbClr val="2E2A48"/>
                      </a:solidFill>
                      <a:prstDash val="solid"/>
                      <a:round/>
                      <a:headEnd type="none" w="med" len="med"/>
                      <a:tailEnd type="none" w="med" len="med"/>
                    </a:lnB>
                    <a:solidFill>
                      <a:srgbClr val="15122A"/>
                    </a:solidFill>
                  </a:tcPr>
                </a:tc>
              </a:tr>
            </a:tbl>
          </a:graphicData>
        </a:graphic>
      </p:graphicFrame>
      <p:sp>
        <p:nvSpPr>
          <p:cNvPr id="6" name="Table note"/>
          <p:cNvSpPr txBox="1"/>
          <p:nvPr/>
        </p:nvSpPr>
        <p:spPr>
          <a:xfrm>
            <a:off x="640080" y="4526280"/>
            <a:ext cx="7863840" cy="228600"/>
          </a:xfrm>
          <a:prstGeom prst="rect">
            <a:avLst/>
          </a:prstGeom>
          <a:noFill/>
          <a:ln/>
        </p:spPr>
        <p:txBody>
          <a:bodyPr wrap="square" lIns="0" tIns="0" rIns="0" bIns="0" rtlCol="0" anchor="ctr"/>
          <a:lstStyle/>
          <a:p>
            <a:pPr indent="0" marL="0">
              <a:buNone/>
            </a:pPr>
            <a:r>
              <a:rPr lang="en-US" sz="900" i="1" dirty="0">
                <a:solidFill>
                  <a:srgbClr val="6E6A85"/>
                </a:solidFill>
              </a:rPr>
              <a:t>Typical characteristics of each category; individual products vary.</a:t>
            </a:r>
            <a:endParaRPr lang="en-US" sz="9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A8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Background light"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Kicker"/>
          <p:cNvSpPr txBox="1"/>
          <p:nvPr/>
        </p:nvSpPr>
        <p:spPr>
          <a:xfrm>
            <a:off x="640080" y="292608"/>
            <a:ext cx="5486400" cy="256032"/>
          </a:xfrm>
          <a:prstGeom prst="rect">
            <a:avLst/>
          </a:prstGeom>
          <a:noFill/>
          <a:ln/>
        </p:spPr>
        <p:txBody>
          <a:bodyPr wrap="square" lIns="0" tIns="0" rIns="0" bIns="0" rtlCol="0" anchor="ctr"/>
          <a:lstStyle/>
          <a:p>
            <a:pPr indent="0" marL="0">
              <a:buNone/>
            </a:pPr>
            <a:r>
              <a:rPr lang="en-US" sz="1050" b="1" spc="300" kern="0" dirty="0">
                <a:solidFill>
                  <a:srgbClr val="34D399"/>
                </a:solidFill>
              </a:rPr>
              <a:t>PRICING</a:t>
            </a:r>
            <a:endParaRPr lang="en-US" sz="1050" dirty="0"/>
          </a:p>
        </p:txBody>
      </p:sp>
      <p:sp>
        <p:nvSpPr>
          <p:cNvPr id="4" name="Text 0"/>
          <p:cNvSpPr/>
          <p:nvPr>
            <p:ph idx="100" type="title" hasCustomPrompt="1"/>
          </p:nvPr>
        </p:nvSpPr>
        <p:spPr>
          <a:xfrm>
            <a:off x="640080" y="566928"/>
            <a:ext cx="7863840" cy="640080"/>
          </a:xfrm>
          <a:prstGeom prst="rect">
            <a:avLst/>
          </a:prstGeom>
          <a:noFill/>
          <a:ln/>
        </p:spPr>
        <p:txBody>
          <a:bodyPr wrap="square" lIns="0" tIns="0" rIns="0" bIns="0" rtlCol="0" anchor="ctr"/>
          <a:lstStyle/>
          <a:p>
            <a:pPr indent="0" marL="0">
              <a:buNone/>
            </a:pPr>
            <a:r>
              <a:rPr lang="en-US" sz="3000" b="1" dirty="0">
                <a:solidFill>
                  <a:schemeClr val="bg1"/>
                </a:solidFill>
              </a:rPr>
              <a:t>Half the price of the incumbents</a:t>
            </a:r>
            <a:endParaRPr lang="en-US" sz="3000" dirty="0"/>
          </a:p>
        </p:txBody>
      </p:sp>
      <p:sp>
        <p:nvSpPr>
          <p:cNvPr id="5" name="Tier Tienda"/>
          <p:cNvSpPr/>
          <p:nvPr/>
        </p:nvSpPr>
        <p:spPr>
          <a:xfrm>
            <a:off x="640080" y="1371600"/>
            <a:ext cx="3566160" cy="960120"/>
          </a:xfrm>
          <a:prstGeom prst="roundRect">
            <a:avLst>
              <a:gd name="adj" fmla="val 13333"/>
            </a:avLst>
          </a:prstGeom>
          <a:solidFill>
            <a:srgbClr val="17152A"/>
          </a:solidFill>
          <a:ln w="9525">
            <a:solidFill>
              <a:srgbClr val="2E2A48"/>
            </a:solidFill>
            <a:prstDash val="solid"/>
          </a:ln>
        </p:spPr>
      </p:sp>
      <p:sp>
        <p:nvSpPr>
          <p:cNvPr id="6" name="Tier name 0"/>
          <p:cNvSpPr txBox="1"/>
          <p:nvPr/>
        </p:nvSpPr>
        <p:spPr>
          <a:xfrm>
            <a:off x="841248" y="1463040"/>
            <a:ext cx="146304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Tienda</a:t>
            </a:r>
            <a:endParaRPr lang="en-US" sz="1500" dirty="0"/>
          </a:p>
        </p:txBody>
      </p:sp>
      <p:sp>
        <p:nvSpPr>
          <p:cNvPr id="7" name="Tier who 0"/>
          <p:cNvSpPr txBox="1"/>
          <p:nvPr/>
        </p:nvSpPr>
        <p:spPr>
          <a:xfrm>
            <a:off x="841248" y="1755648"/>
            <a:ext cx="1737360" cy="228600"/>
          </a:xfrm>
          <a:prstGeom prst="rect">
            <a:avLst/>
          </a:prstGeom>
          <a:noFill/>
          <a:ln/>
        </p:spPr>
        <p:txBody>
          <a:bodyPr wrap="square" lIns="0" tIns="0" rIns="0" bIns="0" rtlCol="0" anchor="ctr"/>
          <a:lstStyle/>
          <a:p>
            <a:pPr indent="0" marL="0">
              <a:buNone/>
            </a:pPr>
            <a:r>
              <a:rPr lang="en-US" sz="950" dirty="0">
                <a:solidFill>
                  <a:srgbClr val="C4B5FD"/>
                </a:solidFill>
              </a:rPr>
              <a:t>Corner store · 1 device</a:t>
            </a:r>
            <a:endParaRPr lang="en-US" sz="950" dirty="0"/>
          </a:p>
        </p:txBody>
      </p:sp>
      <p:sp>
        <p:nvSpPr>
          <p:cNvPr id="8" name="Tier incl 0"/>
          <p:cNvSpPr txBox="1"/>
          <p:nvPr/>
        </p:nvSpPr>
        <p:spPr>
          <a:xfrm>
            <a:off x="841248" y="1975104"/>
            <a:ext cx="2103120" cy="292608"/>
          </a:xfrm>
          <a:prstGeom prst="rect">
            <a:avLst/>
          </a:prstGeom>
          <a:noFill/>
          <a:ln/>
        </p:spPr>
        <p:txBody>
          <a:bodyPr wrap="square" lIns="0" tIns="0" rIns="0" bIns="0" rtlCol="0" anchor="t"/>
          <a:lstStyle/>
          <a:p>
            <a:pPr indent="0" marL="0">
              <a:buNone/>
            </a:pPr>
            <a:r>
              <a:rPr lang="en-US" sz="900" dirty="0">
                <a:solidFill>
                  <a:srgbClr val="A9A6BD"/>
                </a:solidFill>
              </a:rPr>
              <a:t>Voice, credit book, inventory, payment checks</a:t>
            </a:r>
            <a:endParaRPr lang="en-US" sz="900" dirty="0"/>
          </a:p>
        </p:txBody>
      </p:sp>
      <p:sp>
        <p:nvSpPr>
          <p:cNvPr id="9" name="Tier usd 0"/>
          <p:cNvSpPr txBox="1"/>
          <p:nvPr/>
        </p:nvSpPr>
        <p:spPr>
          <a:xfrm>
            <a:off x="2880360" y="1481328"/>
            <a:ext cx="1188720" cy="411480"/>
          </a:xfrm>
          <a:prstGeom prst="rect">
            <a:avLst/>
          </a:prstGeom>
          <a:noFill/>
          <a:ln/>
        </p:spPr>
        <p:txBody>
          <a:bodyPr wrap="square" lIns="0" tIns="0" rIns="0" bIns="0" rtlCol="0" anchor="ctr"/>
          <a:lstStyle/>
          <a:p>
            <a:pPr algn="r" indent="0" marL="0">
              <a:buNone/>
            </a:pPr>
            <a:r>
              <a:rPr lang="en-US" sz="2400" b="1" dirty="0">
                <a:solidFill>
                  <a:srgbClr val="FFFFFF"/>
                </a:solidFill>
                <a:latin typeface="Arial" pitchFamily="34" charset="0"/>
                <a:ea typeface="Arial" pitchFamily="34" charset="-122"/>
                <a:cs typeface="Arial" pitchFamily="34" charset="-120"/>
              </a:rPr>
              <a:t>US$12</a:t>
            </a:r>
            <a:endParaRPr lang="en-US" sz="2400" dirty="0"/>
          </a:p>
        </p:txBody>
      </p:sp>
      <p:sp>
        <p:nvSpPr>
          <p:cNvPr id="10" name="Tier cop 0"/>
          <p:cNvSpPr txBox="1"/>
          <p:nvPr/>
        </p:nvSpPr>
        <p:spPr>
          <a:xfrm>
            <a:off x="2697480" y="1920240"/>
            <a:ext cx="1371600" cy="228600"/>
          </a:xfrm>
          <a:prstGeom prst="rect">
            <a:avLst/>
          </a:prstGeom>
          <a:noFill/>
          <a:ln/>
        </p:spPr>
        <p:txBody>
          <a:bodyPr wrap="square" lIns="0" tIns="0" rIns="0" bIns="0" rtlCol="0" anchor="ctr"/>
          <a:lstStyle/>
          <a:p>
            <a:pPr algn="r" indent="0" marL="0">
              <a:buNone/>
            </a:pPr>
            <a:r>
              <a:rPr lang="en-US" sz="900" dirty="0">
                <a:solidFill>
                  <a:srgbClr val="A9A6BD"/>
                </a:solidFill>
              </a:rPr>
              <a:t>COP 39,900/mo</a:t>
            </a:r>
            <a:endParaRPr lang="en-US" sz="900" dirty="0"/>
          </a:p>
        </p:txBody>
      </p:sp>
      <p:sp>
        <p:nvSpPr>
          <p:cNvPr id="11" name="Tier Restobar"/>
          <p:cNvSpPr/>
          <p:nvPr/>
        </p:nvSpPr>
        <p:spPr>
          <a:xfrm>
            <a:off x="640080" y="2450592"/>
            <a:ext cx="3566160" cy="960120"/>
          </a:xfrm>
          <a:prstGeom prst="roundRect">
            <a:avLst>
              <a:gd name="adj" fmla="val 13333"/>
            </a:avLst>
          </a:prstGeom>
          <a:solidFill>
            <a:srgbClr val="211A3D"/>
          </a:solidFill>
          <a:ln w="9525">
            <a:solidFill>
              <a:srgbClr val="7C3AED"/>
            </a:solidFill>
            <a:prstDash val="solid"/>
          </a:ln>
        </p:spPr>
      </p:sp>
      <p:sp>
        <p:nvSpPr>
          <p:cNvPr id="12" name="Tier name 1"/>
          <p:cNvSpPr txBox="1"/>
          <p:nvPr/>
        </p:nvSpPr>
        <p:spPr>
          <a:xfrm>
            <a:off x="841248" y="2542032"/>
            <a:ext cx="146304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Restobar</a:t>
            </a:r>
            <a:endParaRPr lang="en-US" sz="1500" dirty="0"/>
          </a:p>
        </p:txBody>
      </p:sp>
      <p:sp>
        <p:nvSpPr>
          <p:cNvPr id="13" name="Tier who 1"/>
          <p:cNvSpPr txBox="1"/>
          <p:nvPr/>
        </p:nvSpPr>
        <p:spPr>
          <a:xfrm>
            <a:off x="841248" y="2834640"/>
            <a:ext cx="1737360" cy="228600"/>
          </a:xfrm>
          <a:prstGeom prst="rect">
            <a:avLst/>
          </a:prstGeom>
          <a:noFill/>
          <a:ln/>
        </p:spPr>
        <p:txBody>
          <a:bodyPr wrap="square" lIns="0" tIns="0" rIns="0" bIns="0" rtlCol="0" anchor="ctr"/>
          <a:lstStyle/>
          <a:p>
            <a:pPr indent="0" marL="0">
              <a:buNone/>
            </a:pPr>
            <a:r>
              <a:rPr lang="en-US" sz="950" dirty="0">
                <a:solidFill>
                  <a:srgbClr val="C4B5FD"/>
                </a:solidFill>
              </a:rPr>
              <a:t>Bars &amp; restaurants · 5 devices</a:t>
            </a:r>
            <a:endParaRPr lang="en-US" sz="950" dirty="0"/>
          </a:p>
        </p:txBody>
      </p:sp>
      <p:sp>
        <p:nvSpPr>
          <p:cNvPr id="14" name="Tier incl 1"/>
          <p:cNvSpPr txBox="1"/>
          <p:nvPr/>
        </p:nvSpPr>
        <p:spPr>
          <a:xfrm>
            <a:off x="841248" y="3054096"/>
            <a:ext cx="2103120" cy="292608"/>
          </a:xfrm>
          <a:prstGeom prst="rect">
            <a:avLst/>
          </a:prstGeom>
          <a:noFill/>
          <a:ln/>
        </p:spPr>
        <p:txBody>
          <a:bodyPr wrap="square" lIns="0" tIns="0" rIns="0" bIns="0" rtlCol="0" anchor="t"/>
          <a:lstStyle/>
          <a:p>
            <a:pPr indent="0" marL="0">
              <a:buNone/>
            </a:pPr>
            <a:r>
              <a:rPr lang="en-US" sz="900" dirty="0">
                <a:solidFill>
                  <a:srgbClr val="A9A6BD"/>
                </a:solidFill>
              </a:rPr>
              <a:t>+ tables, QR orders, TV music, AI</a:t>
            </a:r>
            <a:endParaRPr lang="en-US" sz="900" dirty="0"/>
          </a:p>
        </p:txBody>
      </p:sp>
      <p:sp>
        <p:nvSpPr>
          <p:cNvPr id="15" name="Tier usd 1"/>
          <p:cNvSpPr txBox="1"/>
          <p:nvPr/>
        </p:nvSpPr>
        <p:spPr>
          <a:xfrm>
            <a:off x="2880360" y="2560320"/>
            <a:ext cx="1188720" cy="411480"/>
          </a:xfrm>
          <a:prstGeom prst="rect">
            <a:avLst/>
          </a:prstGeom>
          <a:noFill/>
          <a:ln/>
        </p:spPr>
        <p:txBody>
          <a:bodyPr wrap="square" lIns="0" tIns="0" rIns="0" bIns="0" rtlCol="0" anchor="ctr"/>
          <a:lstStyle/>
          <a:p>
            <a:pPr algn="r" indent="0" marL="0">
              <a:buNone/>
            </a:pPr>
            <a:r>
              <a:rPr lang="en-US" sz="2400" b="1" dirty="0">
                <a:solidFill>
                  <a:srgbClr val="34D399"/>
                </a:solidFill>
                <a:latin typeface="Arial" pitchFamily="34" charset="0"/>
                <a:ea typeface="Arial" pitchFamily="34" charset="-122"/>
                <a:cs typeface="Arial" pitchFamily="34" charset="-120"/>
              </a:rPr>
              <a:t>US$24</a:t>
            </a:r>
            <a:endParaRPr lang="en-US" sz="2400" dirty="0"/>
          </a:p>
        </p:txBody>
      </p:sp>
      <p:sp>
        <p:nvSpPr>
          <p:cNvPr id="16" name="Tier cop 1"/>
          <p:cNvSpPr txBox="1"/>
          <p:nvPr/>
        </p:nvSpPr>
        <p:spPr>
          <a:xfrm>
            <a:off x="2697480" y="2999232"/>
            <a:ext cx="1371600" cy="228600"/>
          </a:xfrm>
          <a:prstGeom prst="rect">
            <a:avLst/>
          </a:prstGeom>
          <a:noFill/>
          <a:ln/>
        </p:spPr>
        <p:txBody>
          <a:bodyPr wrap="square" lIns="0" tIns="0" rIns="0" bIns="0" rtlCol="0" anchor="ctr"/>
          <a:lstStyle/>
          <a:p>
            <a:pPr algn="r" indent="0" marL="0">
              <a:buNone/>
            </a:pPr>
            <a:r>
              <a:rPr lang="en-US" sz="900" dirty="0">
                <a:solidFill>
                  <a:srgbClr val="A9A6BD"/>
                </a:solidFill>
              </a:rPr>
              <a:t>COP 79,900/mo</a:t>
            </a:r>
            <a:endParaRPr lang="en-US" sz="900" dirty="0"/>
          </a:p>
        </p:txBody>
      </p:sp>
      <p:sp>
        <p:nvSpPr>
          <p:cNvPr id="17" name="Tier Plus"/>
          <p:cNvSpPr/>
          <p:nvPr/>
        </p:nvSpPr>
        <p:spPr>
          <a:xfrm>
            <a:off x="640080" y="3529584"/>
            <a:ext cx="3566160" cy="960120"/>
          </a:xfrm>
          <a:prstGeom prst="roundRect">
            <a:avLst>
              <a:gd name="adj" fmla="val 13333"/>
            </a:avLst>
          </a:prstGeom>
          <a:solidFill>
            <a:srgbClr val="17152A"/>
          </a:solidFill>
          <a:ln w="9525">
            <a:solidFill>
              <a:srgbClr val="2E2A48"/>
            </a:solidFill>
            <a:prstDash val="solid"/>
          </a:ln>
        </p:spPr>
      </p:sp>
      <p:sp>
        <p:nvSpPr>
          <p:cNvPr id="18" name="Tier name 2"/>
          <p:cNvSpPr txBox="1"/>
          <p:nvPr/>
        </p:nvSpPr>
        <p:spPr>
          <a:xfrm>
            <a:off x="841248" y="3621024"/>
            <a:ext cx="1463040"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Plus</a:t>
            </a:r>
            <a:endParaRPr lang="en-US" sz="1500" dirty="0"/>
          </a:p>
        </p:txBody>
      </p:sp>
      <p:sp>
        <p:nvSpPr>
          <p:cNvPr id="19" name="Tier who 2"/>
          <p:cNvSpPr txBox="1"/>
          <p:nvPr/>
        </p:nvSpPr>
        <p:spPr>
          <a:xfrm>
            <a:off x="841248" y="3913632"/>
            <a:ext cx="1737360" cy="228600"/>
          </a:xfrm>
          <a:prstGeom prst="rect">
            <a:avLst/>
          </a:prstGeom>
          <a:noFill/>
          <a:ln/>
        </p:spPr>
        <p:txBody>
          <a:bodyPr wrap="square" lIns="0" tIns="0" rIns="0" bIns="0" rtlCol="0" anchor="ctr"/>
          <a:lstStyle/>
          <a:p>
            <a:pPr indent="0" marL="0">
              <a:buNone/>
            </a:pPr>
            <a:r>
              <a:rPr lang="en-US" sz="950" dirty="0">
                <a:solidFill>
                  <a:srgbClr val="C4B5FD"/>
                </a:solidFill>
              </a:rPr>
              <a:t>Multi-branch · unlimited</a:t>
            </a:r>
            <a:endParaRPr lang="en-US" sz="950" dirty="0"/>
          </a:p>
        </p:txBody>
      </p:sp>
      <p:sp>
        <p:nvSpPr>
          <p:cNvPr id="20" name="Tier incl 2"/>
          <p:cNvSpPr txBox="1"/>
          <p:nvPr/>
        </p:nvSpPr>
        <p:spPr>
          <a:xfrm>
            <a:off x="841248" y="4133088"/>
            <a:ext cx="2103120" cy="292608"/>
          </a:xfrm>
          <a:prstGeom prst="rect">
            <a:avLst/>
          </a:prstGeom>
          <a:noFill/>
          <a:ln/>
        </p:spPr>
        <p:txBody>
          <a:bodyPr wrap="square" lIns="0" tIns="0" rIns="0" bIns="0" rtlCol="0" anchor="t"/>
          <a:lstStyle/>
          <a:p>
            <a:pPr indent="0" marL="0">
              <a:buNone/>
            </a:pPr>
            <a:r>
              <a:rPr lang="en-US" sz="900" dirty="0">
                <a:solidFill>
                  <a:srgbClr val="A9A6BD"/>
                </a:solidFill>
              </a:rPr>
              <a:t>+ branches, priority support</a:t>
            </a:r>
            <a:endParaRPr lang="en-US" sz="900" dirty="0"/>
          </a:p>
        </p:txBody>
      </p:sp>
      <p:sp>
        <p:nvSpPr>
          <p:cNvPr id="21" name="Tier usd 2"/>
          <p:cNvSpPr txBox="1"/>
          <p:nvPr/>
        </p:nvSpPr>
        <p:spPr>
          <a:xfrm>
            <a:off x="2880360" y="3639312"/>
            <a:ext cx="1188720" cy="411480"/>
          </a:xfrm>
          <a:prstGeom prst="rect">
            <a:avLst/>
          </a:prstGeom>
          <a:noFill/>
          <a:ln/>
        </p:spPr>
        <p:txBody>
          <a:bodyPr wrap="square" lIns="0" tIns="0" rIns="0" bIns="0" rtlCol="0" anchor="ctr"/>
          <a:lstStyle/>
          <a:p>
            <a:pPr algn="r" indent="0" marL="0">
              <a:buNone/>
            </a:pPr>
            <a:r>
              <a:rPr lang="en-US" sz="2400" b="1" dirty="0">
                <a:solidFill>
                  <a:srgbClr val="FFFFFF"/>
                </a:solidFill>
                <a:latin typeface="Arial" pitchFamily="34" charset="0"/>
                <a:ea typeface="Arial" pitchFamily="34" charset="-122"/>
                <a:cs typeface="Arial" pitchFamily="34" charset="-120"/>
              </a:rPr>
              <a:t>US$45</a:t>
            </a:r>
            <a:endParaRPr lang="en-US" sz="2400" dirty="0"/>
          </a:p>
        </p:txBody>
      </p:sp>
      <p:sp>
        <p:nvSpPr>
          <p:cNvPr id="22" name="Tier cop 2"/>
          <p:cNvSpPr txBox="1"/>
          <p:nvPr/>
        </p:nvSpPr>
        <p:spPr>
          <a:xfrm>
            <a:off x="2697480" y="4078224"/>
            <a:ext cx="1371600" cy="228600"/>
          </a:xfrm>
          <a:prstGeom prst="rect">
            <a:avLst/>
          </a:prstGeom>
          <a:noFill/>
          <a:ln/>
        </p:spPr>
        <p:txBody>
          <a:bodyPr wrap="square" lIns="0" tIns="0" rIns="0" bIns="0" rtlCol="0" anchor="ctr"/>
          <a:lstStyle/>
          <a:p>
            <a:pPr algn="r" indent="0" marL="0">
              <a:buNone/>
            </a:pPr>
            <a:r>
              <a:rPr lang="en-US" sz="900" dirty="0">
                <a:solidFill>
                  <a:srgbClr val="A9A6BD"/>
                </a:solidFill>
              </a:rPr>
              <a:t>COP 149,900/mo</a:t>
            </a:r>
            <a:endParaRPr lang="en-US" sz="900" dirty="0"/>
          </a:p>
        </p:txBody>
      </p:sp>
      <p:sp>
        <p:nvSpPr>
          <p:cNvPr id="23" name="Tier footnote"/>
          <p:cNvSpPr txBox="1"/>
          <p:nvPr/>
        </p:nvSpPr>
        <p:spPr>
          <a:xfrm>
            <a:off x="640080" y="4572000"/>
            <a:ext cx="3566160" cy="228600"/>
          </a:xfrm>
          <a:prstGeom prst="rect">
            <a:avLst/>
          </a:prstGeom>
          <a:noFill/>
          <a:ln/>
        </p:spPr>
        <p:txBody>
          <a:bodyPr wrap="square" lIns="0" tIns="0" rIns="0" bIns="0" rtlCol="0" anchor="ctr"/>
          <a:lstStyle/>
          <a:p>
            <a:pPr indent="0" marL="0">
              <a:buNone/>
            </a:pPr>
            <a:r>
              <a:rPr lang="en-US" sz="950" dirty="0">
                <a:solidFill>
                  <a:srgbClr val="C4B5FD"/>
                </a:solidFill>
              </a:rPr>
              <a:t>Annual plan: 2 months free · free trial · lifetime license option</a:t>
            </a:r>
            <a:endParaRPr lang="en-US" sz="950" dirty="0"/>
          </a:p>
        </p:txBody>
      </p:sp>
      <p:sp>
        <p:nvSpPr>
          <p:cNvPr id="24" name="Bars title"/>
          <p:cNvSpPr txBox="1"/>
          <p:nvPr/>
        </p:nvSpPr>
        <p:spPr>
          <a:xfrm>
            <a:off x="4572000" y="1371600"/>
            <a:ext cx="393192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Monthly price in Colombia (US$)</a:t>
            </a:r>
            <a:endParaRPr lang="en-US" sz="1200" dirty="0"/>
          </a:p>
        </p:txBody>
      </p:sp>
      <p:sp>
        <p:nvSpPr>
          <p:cNvPr id="25" name="Bar label 0"/>
          <p:cNvSpPr txBox="1"/>
          <p:nvPr/>
        </p:nvSpPr>
        <p:spPr>
          <a:xfrm>
            <a:off x="4572000" y="1783080"/>
            <a:ext cx="1600200" cy="329184"/>
          </a:xfrm>
          <a:prstGeom prst="rect">
            <a:avLst/>
          </a:prstGeom>
          <a:noFill/>
          <a:ln/>
        </p:spPr>
        <p:txBody>
          <a:bodyPr wrap="square" lIns="0" tIns="0" rIns="0" bIns="0" rtlCol="0" anchor="ctr"/>
          <a:lstStyle/>
          <a:p>
            <a:pPr indent="0" marL="0">
              <a:buNone/>
            </a:pPr>
            <a:r>
              <a:rPr lang="en-US" sz="950" dirty="0">
                <a:solidFill>
                  <a:srgbClr val="D6D3E6"/>
                </a:solidFill>
              </a:rPr>
              <a:t>Siigo Nube Emprendedor</a:t>
            </a:r>
            <a:endParaRPr lang="en-US" sz="950" dirty="0"/>
          </a:p>
        </p:txBody>
      </p:sp>
      <p:sp>
        <p:nvSpPr>
          <p:cNvPr id="26" name="Bar 0"/>
          <p:cNvSpPr/>
          <p:nvPr/>
        </p:nvSpPr>
        <p:spPr>
          <a:xfrm>
            <a:off x="6217920" y="1837944"/>
            <a:ext cx="2202180" cy="219456"/>
          </a:xfrm>
          <a:prstGeom prst="roundRect">
            <a:avLst>
              <a:gd name="adj" fmla="val 25000"/>
            </a:avLst>
          </a:prstGeom>
          <a:solidFill>
            <a:srgbClr val="4C3A8F"/>
          </a:solidFill>
          <a:ln w="6350">
            <a:solidFill>
              <a:srgbClr val="4C3A8F"/>
            </a:solidFill>
            <a:prstDash val="solid"/>
          </a:ln>
        </p:spPr>
      </p:sp>
      <p:sp>
        <p:nvSpPr>
          <p:cNvPr id="27" name="Bar value 0"/>
          <p:cNvSpPr txBox="1"/>
          <p:nvPr/>
        </p:nvSpPr>
        <p:spPr>
          <a:xfrm>
            <a:off x="8465820" y="1783080"/>
            <a:ext cx="640080" cy="329184"/>
          </a:xfrm>
          <a:prstGeom prst="rect">
            <a:avLst/>
          </a:prstGeom>
          <a:noFill/>
          <a:ln/>
        </p:spPr>
        <p:txBody>
          <a:bodyPr wrap="square" lIns="0" tIns="0" rIns="0" bIns="0" rtlCol="0" anchor="ctr"/>
          <a:lstStyle/>
          <a:p>
            <a:pPr indent="0" marL="0">
              <a:buNone/>
            </a:pPr>
            <a:r>
              <a:rPr lang="en-US" sz="950" b="1" dirty="0">
                <a:solidFill>
                  <a:srgbClr val="FFFFFF"/>
                </a:solidFill>
              </a:rPr>
              <a:t>US$58</a:t>
            </a:r>
            <a:endParaRPr lang="en-US" sz="950" dirty="0"/>
          </a:p>
        </p:txBody>
      </p:sp>
      <p:sp>
        <p:nvSpPr>
          <p:cNvPr id="28" name="Bar label 1"/>
          <p:cNvSpPr txBox="1"/>
          <p:nvPr/>
        </p:nvSpPr>
        <p:spPr>
          <a:xfrm>
            <a:off x="4572000" y="2240280"/>
            <a:ext cx="1600200" cy="329184"/>
          </a:xfrm>
          <a:prstGeom prst="rect">
            <a:avLst/>
          </a:prstGeom>
          <a:noFill/>
          <a:ln/>
        </p:spPr>
        <p:txBody>
          <a:bodyPr wrap="square" lIns="0" tIns="0" rIns="0" bIns="0" rtlCol="0" anchor="ctr"/>
          <a:lstStyle/>
          <a:p>
            <a:pPr indent="0" marL="0">
              <a:buNone/>
            </a:pPr>
            <a:r>
              <a:rPr lang="en-US" sz="950" dirty="0">
                <a:solidFill>
                  <a:srgbClr val="D6D3E6"/>
                </a:solidFill>
              </a:rPr>
              <a:t>Alegra Pyme</a:t>
            </a:r>
            <a:endParaRPr lang="en-US" sz="950" dirty="0"/>
          </a:p>
        </p:txBody>
      </p:sp>
      <p:sp>
        <p:nvSpPr>
          <p:cNvPr id="29" name="Bar 1"/>
          <p:cNvSpPr/>
          <p:nvPr/>
        </p:nvSpPr>
        <p:spPr>
          <a:xfrm>
            <a:off x="6217920" y="2295144"/>
            <a:ext cx="1885950" cy="219456"/>
          </a:xfrm>
          <a:prstGeom prst="roundRect">
            <a:avLst>
              <a:gd name="adj" fmla="val 25000"/>
            </a:avLst>
          </a:prstGeom>
          <a:solidFill>
            <a:srgbClr val="4C3A8F"/>
          </a:solidFill>
          <a:ln w="6350">
            <a:solidFill>
              <a:srgbClr val="4C3A8F"/>
            </a:solidFill>
            <a:prstDash val="solid"/>
          </a:ln>
        </p:spPr>
      </p:sp>
      <p:sp>
        <p:nvSpPr>
          <p:cNvPr id="30" name="Bar value 1"/>
          <p:cNvSpPr txBox="1"/>
          <p:nvPr/>
        </p:nvSpPr>
        <p:spPr>
          <a:xfrm>
            <a:off x="8149590" y="2240280"/>
            <a:ext cx="640080" cy="329184"/>
          </a:xfrm>
          <a:prstGeom prst="rect">
            <a:avLst/>
          </a:prstGeom>
          <a:noFill/>
          <a:ln/>
        </p:spPr>
        <p:txBody>
          <a:bodyPr wrap="square" lIns="0" tIns="0" rIns="0" bIns="0" rtlCol="0" anchor="ctr"/>
          <a:lstStyle/>
          <a:p>
            <a:pPr indent="0" marL="0">
              <a:buNone/>
            </a:pPr>
            <a:r>
              <a:rPr lang="en-US" sz="950" b="1" dirty="0">
                <a:solidFill>
                  <a:srgbClr val="FFFFFF"/>
                </a:solidFill>
              </a:rPr>
              <a:t>US$50</a:t>
            </a:r>
            <a:endParaRPr lang="en-US" sz="950" dirty="0"/>
          </a:p>
        </p:txBody>
      </p:sp>
      <p:sp>
        <p:nvSpPr>
          <p:cNvPr id="31" name="Bar label 2"/>
          <p:cNvSpPr txBox="1"/>
          <p:nvPr/>
        </p:nvSpPr>
        <p:spPr>
          <a:xfrm>
            <a:off x="4572000" y="2697480"/>
            <a:ext cx="1600200" cy="329184"/>
          </a:xfrm>
          <a:prstGeom prst="rect">
            <a:avLst/>
          </a:prstGeom>
          <a:noFill/>
          <a:ln/>
        </p:spPr>
        <p:txBody>
          <a:bodyPr wrap="square" lIns="0" tIns="0" rIns="0" bIns="0" rtlCol="0" anchor="ctr"/>
          <a:lstStyle/>
          <a:p>
            <a:pPr indent="0" marL="0">
              <a:buNone/>
            </a:pPr>
            <a:r>
              <a:rPr lang="en-US" sz="950" dirty="0">
                <a:solidFill>
                  <a:srgbClr val="D6D3E6"/>
                </a:solidFill>
              </a:rPr>
              <a:t>Fudo (international)</a:t>
            </a:r>
            <a:endParaRPr lang="en-US" sz="950" dirty="0"/>
          </a:p>
        </p:txBody>
      </p:sp>
      <p:sp>
        <p:nvSpPr>
          <p:cNvPr id="32" name="Bar 2"/>
          <p:cNvSpPr/>
          <p:nvPr/>
        </p:nvSpPr>
        <p:spPr>
          <a:xfrm>
            <a:off x="6217920" y="2752344"/>
            <a:ext cx="1524000" cy="219456"/>
          </a:xfrm>
          <a:prstGeom prst="roundRect">
            <a:avLst>
              <a:gd name="adj" fmla="val 25000"/>
            </a:avLst>
          </a:prstGeom>
          <a:solidFill>
            <a:srgbClr val="4C3A8F"/>
          </a:solidFill>
          <a:ln w="6350">
            <a:solidFill>
              <a:srgbClr val="4C3A8F"/>
            </a:solidFill>
            <a:prstDash val="solid"/>
          </a:ln>
        </p:spPr>
      </p:sp>
      <p:sp>
        <p:nvSpPr>
          <p:cNvPr id="33" name="Bar value 2"/>
          <p:cNvSpPr txBox="1"/>
          <p:nvPr/>
        </p:nvSpPr>
        <p:spPr>
          <a:xfrm>
            <a:off x="7787640" y="2697480"/>
            <a:ext cx="640080" cy="329184"/>
          </a:xfrm>
          <a:prstGeom prst="rect">
            <a:avLst/>
          </a:prstGeom>
          <a:noFill/>
          <a:ln/>
        </p:spPr>
        <p:txBody>
          <a:bodyPr wrap="square" lIns="0" tIns="0" rIns="0" bIns="0" rtlCol="0" anchor="ctr"/>
          <a:lstStyle/>
          <a:p>
            <a:pPr indent="0" marL="0">
              <a:buNone/>
            </a:pPr>
            <a:r>
              <a:rPr lang="en-US" sz="950" b="1" dirty="0">
                <a:solidFill>
                  <a:srgbClr val="FFFFFF"/>
                </a:solidFill>
              </a:rPr>
              <a:t>US$40</a:t>
            </a:r>
            <a:endParaRPr lang="en-US" sz="950" dirty="0"/>
          </a:p>
        </p:txBody>
      </p:sp>
      <p:sp>
        <p:nvSpPr>
          <p:cNvPr id="34" name="Bar label 3"/>
          <p:cNvSpPr txBox="1"/>
          <p:nvPr/>
        </p:nvSpPr>
        <p:spPr>
          <a:xfrm>
            <a:off x="4572000" y="3154680"/>
            <a:ext cx="1600200" cy="329184"/>
          </a:xfrm>
          <a:prstGeom prst="rect">
            <a:avLst/>
          </a:prstGeom>
          <a:noFill/>
          <a:ln/>
        </p:spPr>
        <p:txBody>
          <a:bodyPr wrap="square" lIns="0" tIns="0" rIns="0" bIns="0" rtlCol="0" anchor="ctr"/>
          <a:lstStyle/>
          <a:p>
            <a:pPr indent="0" marL="0">
              <a:buNone/>
            </a:pPr>
            <a:r>
              <a:rPr lang="en-US" sz="950" dirty="0">
                <a:solidFill>
                  <a:srgbClr val="D6D3E6"/>
                </a:solidFill>
              </a:rPr>
              <a:t>Siigo POS Gastrobar</a:t>
            </a:r>
            <a:endParaRPr lang="en-US" sz="950" dirty="0"/>
          </a:p>
        </p:txBody>
      </p:sp>
      <p:sp>
        <p:nvSpPr>
          <p:cNvPr id="35" name="Bar 3"/>
          <p:cNvSpPr/>
          <p:nvPr/>
        </p:nvSpPr>
        <p:spPr>
          <a:xfrm>
            <a:off x="6217920" y="3209544"/>
            <a:ext cx="1436370" cy="219456"/>
          </a:xfrm>
          <a:prstGeom prst="roundRect">
            <a:avLst>
              <a:gd name="adj" fmla="val 25000"/>
            </a:avLst>
          </a:prstGeom>
          <a:solidFill>
            <a:srgbClr val="4C3A8F"/>
          </a:solidFill>
          <a:ln w="6350">
            <a:solidFill>
              <a:srgbClr val="4C3A8F"/>
            </a:solidFill>
            <a:prstDash val="solid"/>
          </a:ln>
        </p:spPr>
      </p:sp>
      <p:sp>
        <p:nvSpPr>
          <p:cNvPr id="36" name="Bar value 3"/>
          <p:cNvSpPr txBox="1"/>
          <p:nvPr/>
        </p:nvSpPr>
        <p:spPr>
          <a:xfrm>
            <a:off x="7700010" y="3154680"/>
            <a:ext cx="640080" cy="329184"/>
          </a:xfrm>
          <a:prstGeom prst="rect">
            <a:avLst/>
          </a:prstGeom>
          <a:noFill/>
          <a:ln/>
        </p:spPr>
        <p:txBody>
          <a:bodyPr wrap="square" lIns="0" tIns="0" rIns="0" bIns="0" rtlCol="0" anchor="ctr"/>
          <a:lstStyle/>
          <a:p>
            <a:pPr indent="0" marL="0">
              <a:buNone/>
            </a:pPr>
            <a:r>
              <a:rPr lang="en-US" sz="950" b="1" dirty="0">
                <a:solidFill>
                  <a:srgbClr val="FFFFFF"/>
                </a:solidFill>
              </a:rPr>
              <a:t>US$38</a:t>
            </a:r>
            <a:endParaRPr lang="en-US" sz="950" dirty="0"/>
          </a:p>
        </p:txBody>
      </p:sp>
      <p:sp>
        <p:nvSpPr>
          <p:cNvPr id="37" name="Bar label 4"/>
          <p:cNvSpPr txBox="1"/>
          <p:nvPr/>
        </p:nvSpPr>
        <p:spPr>
          <a:xfrm>
            <a:off x="4572000" y="3611880"/>
            <a:ext cx="1600200" cy="329184"/>
          </a:xfrm>
          <a:prstGeom prst="rect">
            <a:avLst/>
          </a:prstGeom>
          <a:noFill/>
          <a:ln/>
        </p:spPr>
        <p:txBody>
          <a:bodyPr wrap="square" lIns="0" tIns="0" rIns="0" bIns="0" rtlCol="0" anchor="ctr"/>
          <a:lstStyle/>
          <a:p>
            <a:pPr indent="0" marL="0">
              <a:buNone/>
            </a:pPr>
            <a:r>
              <a:rPr lang="en-US" sz="950" b="1" dirty="0">
                <a:solidFill>
                  <a:srgbClr val="34D399"/>
                </a:solidFill>
              </a:rPr>
              <a:t>Vento (avg. customer)</a:t>
            </a:r>
            <a:endParaRPr lang="en-US" sz="950" dirty="0"/>
          </a:p>
        </p:txBody>
      </p:sp>
      <p:sp>
        <p:nvSpPr>
          <p:cNvPr id="38" name="Bar 4"/>
          <p:cNvSpPr/>
          <p:nvPr/>
        </p:nvSpPr>
        <p:spPr>
          <a:xfrm>
            <a:off x="6217920" y="3666744"/>
            <a:ext cx="855726" cy="219456"/>
          </a:xfrm>
          <a:prstGeom prst="roundRect">
            <a:avLst>
              <a:gd name="adj" fmla="val 25000"/>
            </a:avLst>
          </a:prstGeom>
          <a:solidFill>
            <a:srgbClr val="34D399"/>
          </a:solidFill>
          <a:ln w="6350">
            <a:solidFill>
              <a:srgbClr val="34D399"/>
            </a:solidFill>
            <a:prstDash val="solid"/>
          </a:ln>
        </p:spPr>
      </p:sp>
      <p:sp>
        <p:nvSpPr>
          <p:cNvPr id="39" name="Bar value 4"/>
          <p:cNvSpPr txBox="1"/>
          <p:nvPr/>
        </p:nvSpPr>
        <p:spPr>
          <a:xfrm>
            <a:off x="7119366" y="3611880"/>
            <a:ext cx="640080" cy="329184"/>
          </a:xfrm>
          <a:prstGeom prst="rect">
            <a:avLst/>
          </a:prstGeom>
          <a:noFill/>
          <a:ln/>
        </p:spPr>
        <p:txBody>
          <a:bodyPr wrap="square" lIns="0" tIns="0" rIns="0" bIns="0" rtlCol="0" anchor="ctr"/>
          <a:lstStyle/>
          <a:p>
            <a:pPr indent="0" marL="0">
              <a:buNone/>
            </a:pPr>
            <a:r>
              <a:rPr lang="en-US" sz="950" b="1" dirty="0">
                <a:solidFill>
                  <a:srgbClr val="34D399"/>
                </a:solidFill>
              </a:rPr>
              <a:t>US$22</a:t>
            </a:r>
            <a:endParaRPr lang="en-US" sz="950" dirty="0"/>
          </a:p>
        </p:txBody>
      </p:sp>
      <p:sp>
        <p:nvSpPr>
          <p:cNvPr id="40" name="Bar label 5"/>
          <p:cNvSpPr txBox="1"/>
          <p:nvPr/>
        </p:nvSpPr>
        <p:spPr>
          <a:xfrm>
            <a:off x="4572000" y="4069080"/>
            <a:ext cx="1600200" cy="329184"/>
          </a:xfrm>
          <a:prstGeom prst="rect">
            <a:avLst/>
          </a:prstGeom>
          <a:noFill/>
          <a:ln/>
        </p:spPr>
        <p:txBody>
          <a:bodyPr wrap="square" lIns="0" tIns="0" rIns="0" bIns="0" rtlCol="0" anchor="ctr"/>
          <a:lstStyle/>
          <a:p>
            <a:pPr indent="0" marL="0">
              <a:buNone/>
            </a:pPr>
            <a:r>
              <a:rPr lang="en-US" sz="950" dirty="0">
                <a:solidFill>
                  <a:srgbClr val="D6D3E6"/>
                </a:solidFill>
              </a:rPr>
              <a:t>Treinta (basic, free)</a:t>
            </a:r>
            <a:endParaRPr lang="en-US" sz="950" dirty="0"/>
          </a:p>
        </p:txBody>
      </p:sp>
      <p:sp>
        <p:nvSpPr>
          <p:cNvPr id="41" name="Bar value 5"/>
          <p:cNvSpPr txBox="1"/>
          <p:nvPr/>
        </p:nvSpPr>
        <p:spPr>
          <a:xfrm>
            <a:off x="6263640" y="4069080"/>
            <a:ext cx="640080" cy="329184"/>
          </a:xfrm>
          <a:prstGeom prst="rect">
            <a:avLst/>
          </a:prstGeom>
          <a:noFill/>
          <a:ln/>
        </p:spPr>
        <p:txBody>
          <a:bodyPr wrap="square" lIns="0" tIns="0" rIns="0" bIns="0" rtlCol="0" anchor="ctr"/>
          <a:lstStyle/>
          <a:p>
            <a:pPr indent="0" marL="0">
              <a:buNone/>
            </a:pPr>
            <a:r>
              <a:rPr lang="en-US" sz="950" b="1" dirty="0">
                <a:solidFill>
                  <a:srgbClr val="FFFFFF"/>
                </a:solidFill>
              </a:rPr>
              <a:t>free</a:t>
            </a:r>
            <a:endParaRPr lang="en-US" sz="950" dirty="0"/>
          </a:p>
        </p:txBody>
      </p:sp>
      <p:sp>
        <p:nvSpPr>
          <p:cNvPr id="42" name="Source"/>
          <p:cNvSpPr txBox="1"/>
          <p:nvPr/>
        </p:nvSpPr>
        <p:spPr>
          <a:xfrm>
            <a:off x="640080" y="4773168"/>
            <a:ext cx="7498080" cy="228600"/>
          </a:xfrm>
          <a:prstGeom prst="rect">
            <a:avLst/>
          </a:prstGeom>
          <a:noFill/>
          <a:ln/>
        </p:spPr>
        <p:txBody>
          <a:bodyPr wrap="square" lIns="0" tIns="0" rIns="0" bIns="0" rtlCol="0" anchor="ctr"/>
          <a:lstStyle/>
          <a:p>
            <a:pPr indent="0" marL="0">
              <a:buNone/>
            </a:pPr>
            <a:r>
              <a:rPr lang="en-US" sz="850" dirty="0">
                <a:solidFill>
                  <a:srgbClr val="6E6A85"/>
                </a:solidFill>
              </a:rPr>
              <a:t>Source: Alegra blog · Descubre.vc · Capterra (public prices, Oct 2026). Fudo at midpoint of US$35–45. FX COP 3,313/US$.</a:t>
            </a:r>
            <a:endParaRPr lang="en-US" sz="85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A8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Background light"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Kicker"/>
          <p:cNvSpPr txBox="1"/>
          <p:nvPr/>
        </p:nvSpPr>
        <p:spPr>
          <a:xfrm>
            <a:off x="640080" y="292608"/>
            <a:ext cx="5486400" cy="256032"/>
          </a:xfrm>
          <a:prstGeom prst="rect">
            <a:avLst/>
          </a:prstGeom>
          <a:noFill/>
          <a:ln/>
        </p:spPr>
        <p:txBody>
          <a:bodyPr wrap="square" lIns="0" tIns="0" rIns="0" bIns="0" rtlCol="0" anchor="ctr"/>
          <a:lstStyle/>
          <a:p>
            <a:pPr indent="0" marL="0">
              <a:buNone/>
            </a:pPr>
            <a:r>
              <a:rPr lang="en-US" sz="1050" b="1" spc="300" kern="0" dirty="0">
                <a:solidFill>
                  <a:srgbClr val="34D399"/>
                </a:solidFill>
              </a:rPr>
              <a:t>GO-TO-MARKET</a:t>
            </a:r>
            <a:endParaRPr lang="en-US" sz="1050" dirty="0"/>
          </a:p>
        </p:txBody>
      </p:sp>
      <p:sp>
        <p:nvSpPr>
          <p:cNvPr id="4" name="Text 0"/>
          <p:cNvSpPr/>
          <p:nvPr>
            <p:ph idx="100" type="title" hasCustomPrompt="1"/>
          </p:nvPr>
        </p:nvSpPr>
        <p:spPr>
          <a:xfrm>
            <a:off x="640080" y="566928"/>
            <a:ext cx="7863840" cy="640080"/>
          </a:xfrm>
          <a:prstGeom prst="rect">
            <a:avLst/>
          </a:prstGeom>
          <a:noFill/>
          <a:ln/>
        </p:spPr>
        <p:txBody>
          <a:bodyPr wrap="square" lIns="0" tIns="0" rIns="0" bIns="0" rtlCol="0" anchor="ctr"/>
          <a:lstStyle/>
          <a:p>
            <a:pPr indent="0" marL="0">
              <a:buNone/>
            </a:pPr>
            <a:r>
              <a:rPr lang="en-US" sz="3000" b="1" dirty="0">
                <a:solidFill>
                  <a:schemeClr val="bg1"/>
                </a:solidFill>
              </a:rPr>
              <a:t>How we sell and grow</a:t>
            </a:r>
            <a:endParaRPr lang="en-US" sz="3000" dirty="0"/>
          </a:p>
        </p:txBody>
      </p:sp>
      <p:sp>
        <p:nvSpPr>
          <p:cNvPr id="5" name="GTM 0 circle"/>
          <p:cNvSpPr/>
          <p:nvPr/>
        </p:nvSpPr>
        <p:spPr>
          <a:xfrm>
            <a:off x="640080" y="1389888"/>
            <a:ext cx="502920" cy="502920"/>
          </a:xfrm>
          <a:prstGeom prst="ellipse">
            <a:avLst/>
          </a:prstGeom>
          <a:solidFill>
            <a:srgbClr val="7C3AED"/>
          </a:solidFill>
          <a:ln w="12700">
            <a:solidFill>
              <a:srgbClr val="7C3AED"/>
            </a:solidFill>
            <a:prstDash val="solid"/>
          </a:ln>
        </p:spPr>
      </p:sp>
      <p:pic>
        <p:nvPicPr>
          <p:cNvPr id="6" name="GTM 0 icon" descr="preencoded.png">    </p:cNvPr>
          <p:cNvPicPr>
            <a:picLocks noChangeAspect="1"/>
          </p:cNvPicPr>
          <p:nvPr/>
        </p:nvPicPr>
        <p:blipFill>
          <a:blip r:embed="rId2"/>
          <a:stretch>
            <a:fillRect/>
          </a:stretch>
        </p:blipFill>
        <p:spPr>
          <a:xfrm>
            <a:off x="765810" y="1515618"/>
            <a:ext cx="251460" cy="251460"/>
          </a:xfrm>
          <a:prstGeom prst="rect">
            <a:avLst/>
          </a:prstGeom>
        </p:spPr>
      </p:pic>
      <p:sp>
        <p:nvSpPr>
          <p:cNvPr id="7" name="GTM title 0"/>
          <p:cNvSpPr txBox="1"/>
          <p:nvPr/>
        </p:nvSpPr>
        <p:spPr>
          <a:xfrm>
            <a:off x="1325880" y="1371600"/>
            <a:ext cx="292608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Field sales</a:t>
            </a:r>
            <a:endParaRPr lang="en-US" sz="1350" dirty="0"/>
          </a:p>
        </p:txBody>
      </p:sp>
      <p:sp>
        <p:nvSpPr>
          <p:cNvPr id="8" name="GTM text 0"/>
          <p:cNvSpPr txBox="1"/>
          <p:nvPr/>
        </p:nvSpPr>
        <p:spPr>
          <a:xfrm>
            <a:off x="1325880" y="1645920"/>
            <a:ext cx="2926080" cy="457200"/>
          </a:xfrm>
          <a:prstGeom prst="rect">
            <a:avLst/>
          </a:prstGeom>
          <a:noFill/>
          <a:ln/>
        </p:spPr>
        <p:txBody>
          <a:bodyPr wrap="square" lIns="0" tIns="0" rIns="0" bIns="0" rtlCol="0" anchor="t"/>
          <a:lstStyle/>
          <a:p>
            <a:pPr indent="0" marL="0">
              <a:buNone/>
            </a:pPr>
            <a:r>
              <a:rPr lang="en-US" sz="1000" dirty="0">
                <a:solidFill>
                  <a:srgbClr val="A9A6BD"/>
                </a:solidFill>
              </a:rPr>
              <a:t>Door-to-door in commercial zones: a 10-minute demo by voice closes the sale.</a:t>
            </a:r>
            <a:endParaRPr lang="en-US" sz="1000" dirty="0"/>
          </a:p>
        </p:txBody>
      </p:sp>
      <p:sp>
        <p:nvSpPr>
          <p:cNvPr id="9" name="GTM 1 circle"/>
          <p:cNvSpPr/>
          <p:nvPr/>
        </p:nvSpPr>
        <p:spPr>
          <a:xfrm>
            <a:off x="640080" y="2194560"/>
            <a:ext cx="502920" cy="502920"/>
          </a:xfrm>
          <a:prstGeom prst="ellipse">
            <a:avLst/>
          </a:prstGeom>
          <a:solidFill>
            <a:srgbClr val="7C3AED"/>
          </a:solidFill>
          <a:ln w="12700">
            <a:solidFill>
              <a:srgbClr val="7C3AED"/>
            </a:solidFill>
            <a:prstDash val="solid"/>
          </a:ln>
        </p:spPr>
      </p:sp>
      <p:pic>
        <p:nvPicPr>
          <p:cNvPr id="10" name="GTM 1 icon" descr="preencoded.png">    </p:cNvPr>
          <p:cNvPicPr>
            <a:picLocks noChangeAspect="1"/>
          </p:cNvPicPr>
          <p:nvPr/>
        </p:nvPicPr>
        <p:blipFill>
          <a:blip r:embed="rId3"/>
          <a:stretch>
            <a:fillRect/>
          </a:stretch>
        </p:blipFill>
        <p:spPr>
          <a:xfrm>
            <a:off x="765810" y="2320290"/>
            <a:ext cx="251460" cy="251460"/>
          </a:xfrm>
          <a:prstGeom prst="rect">
            <a:avLst/>
          </a:prstGeom>
        </p:spPr>
      </p:pic>
      <p:sp>
        <p:nvSpPr>
          <p:cNvPr id="11" name="GTM title 1"/>
          <p:cNvSpPr txBox="1"/>
          <p:nvPr/>
        </p:nvSpPr>
        <p:spPr>
          <a:xfrm>
            <a:off x="1325880" y="2176272"/>
            <a:ext cx="292608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Referrals</a:t>
            </a:r>
            <a:endParaRPr lang="en-US" sz="1350" dirty="0"/>
          </a:p>
        </p:txBody>
      </p:sp>
      <p:sp>
        <p:nvSpPr>
          <p:cNvPr id="12" name="GTM text 1"/>
          <p:cNvSpPr txBox="1"/>
          <p:nvPr/>
        </p:nvSpPr>
        <p:spPr>
          <a:xfrm>
            <a:off x="1325880" y="2450592"/>
            <a:ext cx="2926080" cy="457200"/>
          </a:xfrm>
          <a:prstGeom prst="rect">
            <a:avLst/>
          </a:prstGeom>
          <a:noFill/>
          <a:ln/>
        </p:spPr>
        <p:txBody>
          <a:bodyPr wrap="square" lIns="0" tIns="0" rIns="0" bIns="0" rtlCol="0" anchor="t"/>
          <a:lstStyle/>
          <a:p>
            <a:pPr indent="0" marL="0">
              <a:buNone/>
            </a:pPr>
            <a:r>
              <a:rPr lang="en-US" sz="1000" dirty="0">
                <a:solidFill>
                  <a:srgbClr val="A9A6BD"/>
                </a:solidFill>
              </a:rPr>
              <a:t>Owners talk to owners: a free month for each business they bring.</a:t>
            </a:r>
            <a:endParaRPr lang="en-US" sz="1000" dirty="0"/>
          </a:p>
        </p:txBody>
      </p:sp>
      <p:sp>
        <p:nvSpPr>
          <p:cNvPr id="13" name="GTM 2 circle"/>
          <p:cNvSpPr/>
          <p:nvPr/>
        </p:nvSpPr>
        <p:spPr>
          <a:xfrm>
            <a:off x="640080" y="2999232"/>
            <a:ext cx="502920" cy="502920"/>
          </a:xfrm>
          <a:prstGeom prst="ellipse">
            <a:avLst/>
          </a:prstGeom>
          <a:solidFill>
            <a:srgbClr val="7C3AED"/>
          </a:solidFill>
          <a:ln w="12700">
            <a:solidFill>
              <a:srgbClr val="7C3AED"/>
            </a:solidFill>
            <a:prstDash val="solid"/>
          </a:ln>
        </p:spPr>
      </p:sp>
      <p:pic>
        <p:nvPicPr>
          <p:cNvPr id="14" name="GTM 2 icon" descr="preencoded.png">    </p:cNvPr>
          <p:cNvPicPr>
            <a:picLocks noChangeAspect="1"/>
          </p:cNvPicPr>
          <p:nvPr/>
        </p:nvPicPr>
        <p:blipFill>
          <a:blip r:embed="rId4"/>
          <a:stretch>
            <a:fillRect/>
          </a:stretch>
        </p:blipFill>
        <p:spPr>
          <a:xfrm>
            <a:off x="765810" y="3124962"/>
            <a:ext cx="251460" cy="251460"/>
          </a:xfrm>
          <a:prstGeom prst="rect">
            <a:avLst/>
          </a:prstGeom>
        </p:spPr>
      </p:pic>
      <p:sp>
        <p:nvSpPr>
          <p:cNvPr id="15" name="GTM title 2"/>
          <p:cNvSpPr txBox="1"/>
          <p:nvPr/>
        </p:nvSpPr>
        <p:spPr>
          <a:xfrm>
            <a:off x="1325880" y="2980944"/>
            <a:ext cx="292608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Partners</a:t>
            </a:r>
            <a:endParaRPr lang="en-US" sz="1350" dirty="0"/>
          </a:p>
        </p:txBody>
      </p:sp>
      <p:sp>
        <p:nvSpPr>
          <p:cNvPr id="16" name="GTM text 2"/>
          <p:cNvSpPr txBox="1"/>
          <p:nvPr/>
        </p:nvSpPr>
        <p:spPr>
          <a:xfrm>
            <a:off x="1325880" y="3255264"/>
            <a:ext cx="2926080" cy="457200"/>
          </a:xfrm>
          <a:prstGeom prst="rect">
            <a:avLst/>
          </a:prstGeom>
          <a:noFill/>
          <a:ln/>
        </p:spPr>
        <p:txBody>
          <a:bodyPr wrap="square" lIns="0" tIns="0" rIns="0" bIns="0" rtlCol="0" anchor="t"/>
          <a:lstStyle/>
          <a:p>
            <a:pPr indent="0" marL="0">
              <a:buNone/>
            </a:pPr>
            <a:r>
              <a:rPr lang="en-US" sz="1000" dirty="0">
                <a:solidFill>
                  <a:srgbClr val="A9A6BD"/>
                </a:solidFill>
              </a:rPr>
              <a:t>Accountants and suppliers who already visit thousands of stores.</a:t>
            </a:r>
            <a:endParaRPr lang="en-US" sz="1000" dirty="0"/>
          </a:p>
        </p:txBody>
      </p:sp>
      <p:sp>
        <p:nvSpPr>
          <p:cNvPr id="17" name="GTM 3 circle"/>
          <p:cNvSpPr/>
          <p:nvPr/>
        </p:nvSpPr>
        <p:spPr>
          <a:xfrm>
            <a:off x="640080" y="3803904"/>
            <a:ext cx="502920" cy="502920"/>
          </a:xfrm>
          <a:prstGeom prst="ellipse">
            <a:avLst/>
          </a:prstGeom>
          <a:solidFill>
            <a:srgbClr val="7C3AED"/>
          </a:solidFill>
          <a:ln w="12700">
            <a:solidFill>
              <a:srgbClr val="7C3AED"/>
            </a:solidFill>
            <a:prstDash val="solid"/>
          </a:ln>
        </p:spPr>
      </p:sp>
      <p:pic>
        <p:nvPicPr>
          <p:cNvPr id="18" name="GTM 3 icon" descr="preencoded.png">    </p:cNvPr>
          <p:cNvPicPr>
            <a:picLocks noChangeAspect="1"/>
          </p:cNvPicPr>
          <p:nvPr/>
        </p:nvPicPr>
        <p:blipFill>
          <a:blip r:embed="rId5"/>
          <a:stretch>
            <a:fillRect/>
          </a:stretch>
        </p:blipFill>
        <p:spPr>
          <a:xfrm>
            <a:off x="765810" y="3929634"/>
            <a:ext cx="251460" cy="251460"/>
          </a:xfrm>
          <a:prstGeom prst="rect">
            <a:avLst/>
          </a:prstGeom>
        </p:spPr>
      </p:pic>
      <p:sp>
        <p:nvSpPr>
          <p:cNvPr id="19" name="GTM title 3"/>
          <p:cNvSpPr txBox="1"/>
          <p:nvPr/>
        </p:nvSpPr>
        <p:spPr>
          <a:xfrm>
            <a:off x="1325880" y="3785616"/>
            <a:ext cx="292608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Google Play &amp; content</a:t>
            </a:r>
            <a:endParaRPr lang="en-US" sz="1350" dirty="0"/>
          </a:p>
        </p:txBody>
      </p:sp>
      <p:sp>
        <p:nvSpPr>
          <p:cNvPr id="20" name="GTM text 3"/>
          <p:cNvSpPr txBox="1"/>
          <p:nvPr/>
        </p:nvSpPr>
        <p:spPr>
          <a:xfrm>
            <a:off x="1325880" y="4059936"/>
            <a:ext cx="2926080" cy="457200"/>
          </a:xfrm>
          <a:prstGeom prst="rect">
            <a:avLst/>
          </a:prstGeom>
          <a:noFill/>
          <a:ln/>
        </p:spPr>
        <p:txBody>
          <a:bodyPr wrap="square" lIns="0" tIns="0" rIns="0" bIns="0" rtlCol="0" anchor="t"/>
          <a:lstStyle/>
          <a:p>
            <a:pPr indent="0" marL="0">
              <a:buNone/>
            </a:pPr>
            <a:r>
              <a:rPr lang="en-US" sz="1000" dirty="0">
                <a:solidFill>
                  <a:srgbClr val="A9A6BD"/>
                </a:solidFill>
              </a:rPr>
              <a:t>Short videos of real businesses; organic installs from the store.</a:t>
            </a:r>
            <a:endParaRPr lang="en-US" sz="1000" dirty="0"/>
          </a:p>
        </p:txBody>
      </p:sp>
      <p:sp>
        <p:nvSpPr>
          <p:cNvPr id="21" name="Growth 0"/>
          <p:cNvSpPr/>
          <p:nvPr/>
        </p:nvSpPr>
        <p:spPr>
          <a:xfrm>
            <a:off x="4754880" y="1371600"/>
            <a:ext cx="3749040" cy="658368"/>
          </a:xfrm>
          <a:prstGeom prst="roundRect">
            <a:avLst>
              <a:gd name="adj" fmla="val 19444"/>
            </a:avLst>
          </a:prstGeom>
          <a:solidFill>
            <a:srgbClr val="10251D"/>
          </a:solidFill>
          <a:ln w="9525">
            <a:solidFill>
              <a:srgbClr val="1F5A44"/>
            </a:solidFill>
            <a:prstDash val="solid"/>
          </a:ln>
        </p:spPr>
      </p:sp>
      <p:sp>
        <p:nvSpPr>
          <p:cNvPr id="22" name="Growth step 0"/>
          <p:cNvSpPr txBox="1"/>
          <p:nvPr/>
        </p:nvSpPr>
        <p:spPr>
          <a:xfrm>
            <a:off x="4937760" y="1444752"/>
            <a:ext cx="2286000" cy="237744"/>
          </a:xfrm>
          <a:prstGeom prst="rect">
            <a:avLst/>
          </a:prstGeom>
          <a:noFill/>
          <a:ln/>
        </p:spPr>
        <p:txBody>
          <a:bodyPr wrap="square" lIns="0" tIns="0" rIns="0" bIns="0" rtlCol="0" anchor="ctr"/>
          <a:lstStyle/>
          <a:p>
            <a:pPr indent="0" marL="0">
              <a:buNone/>
            </a:pPr>
            <a:r>
              <a:rPr lang="en-US" sz="1050" b="1" spc="200" kern="0" dirty="0">
                <a:solidFill>
                  <a:srgbClr val="34D399"/>
                </a:solidFill>
              </a:rPr>
              <a:t>LAND</a:t>
            </a:r>
            <a:endParaRPr lang="en-US" sz="1050" dirty="0"/>
          </a:p>
        </p:txBody>
      </p:sp>
      <p:sp>
        <p:nvSpPr>
          <p:cNvPr id="23" name="Growth text 0"/>
          <p:cNvSpPr txBox="1"/>
          <p:nvPr/>
        </p:nvSpPr>
        <p:spPr>
          <a:xfrm>
            <a:off x="4937760" y="1700784"/>
            <a:ext cx="3383280" cy="274320"/>
          </a:xfrm>
          <a:prstGeom prst="rect">
            <a:avLst/>
          </a:prstGeom>
          <a:noFill/>
          <a:ln/>
        </p:spPr>
        <p:txBody>
          <a:bodyPr wrap="square" lIns="0" tIns="0" rIns="0" bIns="0" rtlCol="0" anchor="ctr"/>
          <a:lstStyle/>
          <a:p>
            <a:pPr indent="0" marL="0">
              <a:buNone/>
            </a:pPr>
            <a:r>
              <a:rPr lang="en-US" sz="1050" dirty="0">
                <a:solidFill>
                  <a:srgbClr val="F2F1F7"/>
                </a:solidFill>
              </a:rPr>
              <a:t>Tienda or Restobar plan</a:t>
            </a:r>
            <a:endParaRPr lang="en-US" sz="1050" dirty="0"/>
          </a:p>
        </p:txBody>
      </p:sp>
      <p:sp>
        <p:nvSpPr>
          <p:cNvPr id="24" name="Growth 1"/>
          <p:cNvSpPr/>
          <p:nvPr/>
        </p:nvSpPr>
        <p:spPr>
          <a:xfrm>
            <a:off x="4937760" y="2176272"/>
            <a:ext cx="3566160" cy="658368"/>
          </a:xfrm>
          <a:prstGeom prst="roundRect">
            <a:avLst>
              <a:gd name="adj" fmla="val 19444"/>
            </a:avLst>
          </a:prstGeom>
          <a:solidFill>
            <a:srgbClr val="17152A"/>
          </a:solidFill>
          <a:ln w="9525">
            <a:solidFill>
              <a:srgbClr val="2E2A48"/>
            </a:solidFill>
            <a:prstDash val="solid"/>
          </a:ln>
        </p:spPr>
      </p:sp>
      <p:sp>
        <p:nvSpPr>
          <p:cNvPr id="25" name="Growth step 1"/>
          <p:cNvSpPr txBox="1"/>
          <p:nvPr/>
        </p:nvSpPr>
        <p:spPr>
          <a:xfrm>
            <a:off x="5120640" y="2249424"/>
            <a:ext cx="2286000" cy="237744"/>
          </a:xfrm>
          <a:prstGeom prst="rect">
            <a:avLst/>
          </a:prstGeom>
          <a:noFill/>
          <a:ln/>
        </p:spPr>
        <p:txBody>
          <a:bodyPr wrap="square" lIns="0" tIns="0" rIns="0" bIns="0" rtlCol="0" anchor="ctr"/>
          <a:lstStyle/>
          <a:p>
            <a:pPr indent="0" marL="0">
              <a:buNone/>
            </a:pPr>
            <a:r>
              <a:rPr lang="en-US" sz="1050" b="1" spc="200" kern="0" dirty="0">
                <a:solidFill>
                  <a:srgbClr val="C4B5FD"/>
                </a:solidFill>
              </a:rPr>
              <a:t>EXPAND</a:t>
            </a:r>
            <a:endParaRPr lang="en-US" sz="1050" dirty="0"/>
          </a:p>
        </p:txBody>
      </p:sp>
      <p:sp>
        <p:nvSpPr>
          <p:cNvPr id="26" name="Growth text 1"/>
          <p:cNvSpPr txBox="1"/>
          <p:nvPr/>
        </p:nvSpPr>
        <p:spPr>
          <a:xfrm>
            <a:off x="5120640" y="2505456"/>
            <a:ext cx="3200400" cy="274320"/>
          </a:xfrm>
          <a:prstGeom prst="rect">
            <a:avLst/>
          </a:prstGeom>
          <a:noFill/>
          <a:ln/>
        </p:spPr>
        <p:txBody>
          <a:bodyPr wrap="square" lIns="0" tIns="0" rIns="0" bIns="0" rtlCol="0" anchor="ctr"/>
          <a:lstStyle/>
          <a:p>
            <a:pPr indent="0" marL="0">
              <a:buNone/>
            </a:pPr>
            <a:r>
              <a:rPr lang="en-US" sz="1050" dirty="0">
                <a:solidFill>
                  <a:srgbClr val="F2F1F7"/>
                </a:solidFill>
              </a:rPr>
              <a:t>More devices, Plus, branches, e-invoicing add-on</a:t>
            </a:r>
            <a:endParaRPr lang="en-US" sz="1050" dirty="0"/>
          </a:p>
        </p:txBody>
      </p:sp>
      <p:sp>
        <p:nvSpPr>
          <p:cNvPr id="27" name="Growth 2"/>
          <p:cNvSpPr/>
          <p:nvPr/>
        </p:nvSpPr>
        <p:spPr>
          <a:xfrm>
            <a:off x="5120640" y="2980944"/>
            <a:ext cx="3383280" cy="658368"/>
          </a:xfrm>
          <a:prstGeom prst="roundRect">
            <a:avLst>
              <a:gd name="adj" fmla="val 19444"/>
            </a:avLst>
          </a:prstGeom>
          <a:solidFill>
            <a:srgbClr val="17152A"/>
          </a:solidFill>
          <a:ln w="9525">
            <a:solidFill>
              <a:srgbClr val="2E2A48"/>
            </a:solidFill>
            <a:prstDash val="solid"/>
          </a:ln>
        </p:spPr>
      </p:sp>
      <p:sp>
        <p:nvSpPr>
          <p:cNvPr id="28" name="Growth step 2"/>
          <p:cNvSpPr txBox="1"/>
          <p:nvPr/>
        </p:nvSpPr>
        <p:spPr>
          <a:xfrm>
            <a:off x="5303520" y="3054096"/>
            <a:ext cx="2286000" cy="237744"/>
          </a:xfrm>
          <a:prstGeom prst="rect">
            <a:avLst/>
          </a:prstGeom>
          <a:noFill/>
          <a:ln/>
        </p:spPr>
        <p:txBody>
          <a:bodyPr wrap="square" lIns="0" tIns="0" rIns="0" bIns="0" rtlCol="0" anchor="ctr"/>
          <a:lstStyle/>
          <a:p>
            <a:pPr indent="0" marL="0">
              <a:buNone/>
            </a:pPr>
            <a:r>
              <a:rPr lang="en-US" sz="1050" b="1" spc="200" kern="0" dirty="0">
                <a:solidFill>
                  <a:srgbClr val="C4B5FD"/>
                </a:solidFill>
              </a:rPr>
              <a:t>NEW SECTORS</a:t>
            </a:r>
            <a:endParaRPr lang="en-US" sz="1050" dirty="0"/>
          </a:p>
        </p:txBody>
      </p:sp>
      <p:sp>
        <p:nvSpPr>
          <p:cNvPr id="29" name="Growth text 2"/>
          <p:cNvSpPr txBox="1"/>
          <p:nvPr/>
        </p:nvSpPr>
        <p:spPr>
          <a:xfrm>
            <a:off x="5303520" y="3310128"/>
            <a:ext cx="3017520" cy="274320"/>
          </a:xfrm>
          <a:prstGeom prst="rect">
            <a:avLst/>
          </a:prstGeom>
          <a:noFill/>
          <a:ln/>
        </p:spPr>
        <p:txBody>
          <a:bodyPr wrap="square" lIns="0" tIns="0" rIns="0" bIns="0" rtlCol="0" anchor="ctr"/>
          <a:lstStyle/>
          <a:p>
            <a:pPr indent="0" marL="0">
              <a:buNone/>
            </a:pPr>
            <a:r>
              <a:rPr lang="en-US" sz="1050" dirty="0">
                <a:solidFill>
                  <a:srgbClr val="F2F1F7"/>
                </a:solidFill>
              </a:rPr>
              <a:t>Salons, hotels, workshops: 75+ templates ready</a:t>
            </a:r>
            <a:endParaRPr lang="en-US" sz="1050" dirty="0"/>
          </a:p>
        </p:txBody>
      </p:sp>
      <p:sp>
        <p:nvSpPr>
          <p:cNvPr id="30" name="Growth 3"/>
          <p:cNvSpPr/>
          <p:nvPr/>
        </p:nvSpPr>
        <p:spPr>
          <a:xfrm>
            <a:off x="5303520" y="3785616"/>
            <a:ext cx="3200400" cy="658368"/>
          </a:xfrm>
          <a:prstGeom prst="roundRect">
            <a:avLst>
              <a:gd name="adj" fmla="val 19444"/>
            </a:avLst>
          </a:prstGeom>
          <a:solidFill>
            <a:srgbClr val="17152A"/>
          </a:solidFill>
          <a:ln w="9525">
            <a:solidFill>
              <a:srgbClr val="2E2A48"/>
            </a:solidFill>
            <a:prstDash val="solid"/>
          </a:ln>
        </p:spPr>
      </p:sp>
      <p:sp>
        <p:nvSpPr>
          <p:cNvPr id="31" name="Growth step 3"/>
          <p:cNvSpPr txBox="1"/>
          <p:nvPr/>
        </p:nvSpPr>
        <p:spPr>
          <a:xfrm>
            <a:off x="5486400" y="3858768"/>
            <a:ext cx="2286000" cy="237744"/>
          </a:xfrm>
          <a:prstGeom prst="rect">
            <a:avLst/>
          </a:prstGeom>
          <a:noFill/>
          <a:ln/>
        </p:spPr>
        <p:txBody>
          <a:bodyPr wrap="square" lIns="0" tIns="0" rIns="0" bIns="0" rtlCol="0" anchor="ctr"/>
          <a:lstStyle/>
          <a:p>
            <a:pPr indent="0" marL="0">
              <a:buNone/>
            </a:pPr>
            <a:r>
              <a:rPr lang="en-US" sz="1050" b="1" spc="200" kern="0" dirty="0">
                <a:solidFill>
                  <a:srgbClr val="FFFFFF"/>
                </a:solidFill>
              </a:rPr>
              <a:t>NEW COUNTRIES</a:t>
            </a:r>
            <a:endParaRPr lang="en-US" sz="1050" dirty="0"/>
          </a:p>
        </p:txBody>
      </p:sp>
      <p:sp>
        <p:nvSpPr>
          <p:cNvPr id="32" name="Growth text 3"/>
          <p:cNvSpPr txBox="1"/>
          <p:nvPr/>
        </p:nvSpPr>
        <p:spPr>
          <a:xfrm>
            <a:off x="5486400" y="4114800"/>
            <a:ext cx="2834640" cy="274320"/>
          </a:xfrm>
          <a:prstGeom prst="rect">
            <a:avLst/>
          </a:prstGeom>
          <a:noFill/>
          <a:ln/>
        </p:spPr>
        <p:txBody>
          <a:bodyPr wrap="square" lIns="0" tIns="0" rIns="0" bIns="0" rtlCol="0" anchor="ctr"/>
          <a:lstStyle/>
          <a:p>
            <a:pPr indent="0" marL="0">
              <a:buNone/>
            </a:pPr>
            <a:r>
              <a:rPr lang="en-US" sz="1050" dirty="0">
                <a:solidFill>
                  <a:srgbClr val="F2F1F7"/>
                </a:solidFill>
              </a:rPr>
              <a:t>Markets with instant-payment rails</a:t>
            </a:r>
            <a:endParaRPr lang="en-US" sz="105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A8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Background light"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Kicker"/>
          <p:cNvSpPr txBox="1"/>
          <p:nvPr/>
        </p:nvSpPr>
        <p:spPr>
          <a:xfrm>
            <a:off x="640080" y="292608"/>
            <a:ext cx="5486400" cy="256032"/>
          </a:xfrm>
          <a:prstGeom prst="rect">
            <a:avLst/>
          </a:prstGeom>
          <a:noFill/>
          <a:ln/>
        </p:spPr>
        <p:txBody>
          <a:bodyPr wrap="square" lIns="0" tIns="0" rIns="0" bIns="0" rtlCol="0" anchor="ctr"/>
          <a:lstStyle/>
          <a:p>
            <a:pPr indent="0" marL="0">
              <a:buNone/>
            </a:pPr>
            <a:r>
              <a:rPr lang="en-US" sz="1050" b="1" spc="300" kern="0" dirty="0">
                <a:solidFill>
                  <a:srgbClr val="34D399"/>
                </a:solidFill>
              </a:rPr>
              <a:t>UNIT ECONOMICS · MODEL</a:t>
            </a:r>
            <a:endParaRPr lang="en-US" sz="1050" dirty="0"/>
          </a:p>
        </p:txBody>
      </p:sp>
      <p:sp>
        <p:nvSpPr>
          <p:cNvPr id="4" name="Text 0"/>
          <p:cNvSpPr/>
          <p:nvPr>
            <p:ph idx="100" type="title" hasCustomPrompt="1"/>
          </p:nvPr>
        </p:nvSpPr>
        <p:spPr>
          <a:xfrm>
            <a:off x="640080" y="566928"/>
            <a:ext cx="7863840" cy="640080"/>
          </a:xfrm>
          <a:prstGeom prst="rect">
            <a:avLst/>
          </a:prstGeom>
          <a:noFill/>
          <a:ln/>
        </p:spPr>
        <p:txBody>
          <a:bodyPr wrap="square" lIns="0" tIns="0" rIns="0" bIns="0" rtlCol="0" anchor="ctr"/>
          <a:lstStyle/>
          <a:p>
            <a:pPr indent="0" marL="0">
              <a:buNone/>
            </a:pPr>
            <a:r>
              <a:rPr lang="en-US" sz="3000" b="1" dirty="0">
                <a:solidFill>
                  <a:schemeClr val="bg1"/>
                </a:solidFill>
              </a:rPr>
              <a:t>Each customer pays back in &lt; 4 months</a:t>
            </a:r>
            <a:endParaRPr lang="en-US" sz="3000" dirty="0"/>
          </a:p>
        </p:txBody>
      </p:sp>
      <p:sp>
        <p:nvSpPr>
          <p:cNvPr id="5" name="UE 0"/>
          <p:cNvSpPr/>
          <p:nvPr/>
        </p:nvSpPr>
        <p:spPr>
          <a:xfrm>
            <a:off x="640080" y="1417320"/>
            <a:ext cx="2514600" cy="1417320"/>
          </a:xfrm>
          <a:prstGeom prst="roundRect">
            <a:avLst>
              <a:gd name="adj" fmla="val 9032"/>
            </a:avLst>
          </a:prstGeom>
          <a:solidFill>
            <a:srgbClr val="1A1530"/>
          </a:solidFill>
          <a:ln w="9525">
            <a:solidFill>
              <a:srgbClr val="3B2F66"/>
            </a:solidFill>
            <a:prstDash val="solid"/>
          </a:ln>
        </p:spPr>
      </p:sp>
      <p:sp>
        <p:nvSpPr>
          <p:cNvPr id="6" name="UE value 0"/>
          <p:cNvSpPr txBox="1"/>
          <p:nvPr/>
        </p:nvSpPr>
        <p:spPr>
          <a:xfrm>
            <a:off x="841248" y="1527048"/>
            <a:ext cx="2103120" cy="59436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US$22</a:t>
            </a:r>
            <a:endParaRPr lang="en-US" sz="3200" dirty="0"/>
          </a:p>
        </p:txBody>
      </p:sp>
      <p:sp>
        <p:nvSpPr>
          <p:cNvPr id="7" name="UE label 0"/>
          <p:cNvSpPr txBox="1"/>
          <p:nvPr/>
        </p:nvSpPr>
        <p:spPr>
          <a:xfrm>
            <a:off x="841248" y="2148840"/>
            <a:ext cx="2103120" cy="256032"/>
          </a:xfrm>
          <a:prstGeom prst="rect">
            <a:avLst/>
          </a:prstGeom>
          <a:noFill/>
          <a:ln/>
        </p:spPr>
        <p:txBody>
          <a:bodyPr wrap="square" lIns="0" tIns="0" rIns="0" bIns="0" rtlCol="0" anchor="ctr"/>
          <a:lstStyle/>
          <a:p>
            <a:pPr indent="0" marL="0">
              <a:buNone/>
            </a:pPr>
            <a:r>
              <a:rPr lang="en-US" sz="1250" b="1" dirty="0">
                <a:solidFill>
                  <a:srgbClr val="C4B5FD"/>
                </a:solidFill>
                <a:latin typeface="Arial" pitchFamily="34" charset="0"/>
                <a:ea typeface="Arial" pitchFamily="34" charset="-122"/>
                <a:cs typeface="Arial" pitchFamily="34" charset="-120"/>
              </a:rPr>
              <a:t>ARPU / month</a:t>
            </a:r>
            <a:endParaRPr lang="en-US" sz="1250" dirty="0"/>
          </a:p>
        </p:txBody>
      </p:sp>
      <p:sp>
        <p:nvSpPr>
          <p:cNvPr id="8" name="UE note 0"/>
          <p:cNvSpPr txBox="1"/>
          <p:nvPr/>
        </p:nvSpPr>
        <p:spPr>
          <a:xfrm>
            <a:off x="841248" y="2404872"/>
            <a:ext cx="2148840" cy="365760"/>
          </a:xfrm>
          <a:prstGeom prst="rect">
            <a:avLst/>
          </a:prstGeom>
          <a:noFill/>
          <a:ln/>
        </p:spPr>
        <p:txBody>
          <a:bodyPr wrap="square" lIns="0" tIns="0" rIns="0" bIns="0" rtlCol="0" anchor="t"/>
          <a:lstStyle/>
          <a:p>
            <a:pPr indent="0" marL="0">
              <a:buNone/>
            </a:pPr>
            <a:r>
              <a:rPr lang="en-US" sz="950" dirty="0">
                <a:solidFill>
                  <a:srgbClr val="A9A6BD"/>
                </a:solidFill>
              </a:rPr>
              <a:t>COP 74,400 — tier mix 40 / 45 / 15 %</a:t>
            </a:r>
            <a:endParaRPr lang="en-US" sz="950" dirty="0"/>
          </a:p>
        </p:txBody>
      </p:sp>
      <p:sp>
        <p:nvSpPr>
          <p:cNvPr id="9" name="UE 1"/>
          <p:cNvSpPr/>
          <p:nvPr/>
        </p:nvSpPr>
        <p:spPr>
          <a:xfrm>
            <a:off x="3310128" y="1417320"/>
            <a:ext cx="2514600" cy="1417320"/>
          </a:xfrm>
          <a:prstGeom prst="roundRect">
            <a:avLst>
              <a:gd name="adj" fmla="val 9032"/>
            </a:avLst>
          </a:prstGeom>
          <a:solidFill>
            <a:srgbClr val="1A1530"/>
          </a:solidFill>
          <a:ln w="9525">
            <a:solidFill>
              <a:srgbClr val="3B2F66"/>
            </a:solidFill>
            <a:prstDash val="solid"/>
          </a:ln>
        </p:spPr>
      </p:sp>
      <p:sp>
        <p:nvSpPr>
          <p:cNvPr id="10" name="UE value 1"/>
          <p:cNvSpPr txBox="1"/>
          <p:nvPr/>
        </p:nvSpPr>
        <p:spPr>
          <a:xfrm>
            <a:off x="3511296" y="1527048"/>
            <a:ext cx="2103120" cy="594360"/>
          </a:xfrm>
          <a:prstGeom prst="rect">
            <a:avLst/>
          </a:prstGeom>
          <a:noFill/>
          <a:ln/>
        </p:spPr>
        <p:txBody>
          <a:bodyPr wrap="square" lIns="0" tIns="0" rIns="0" bIns="0" rtlCol="0" anchor="ctr"/>
          <a:lstStyle/>
          <a:p>
            <a:pPr indent="0" marL="0">
              <a:buNone/>
            </a:pPr>
            <a:r>
              <a:rPr lang="en-US" sz="3200" b="1" dirty="0">
                <a:solidFill>
                  <a:srgbClr val="34D399"/>
                </a:solidFill>
                <a:latin typeface="Arial" pitchFamily="34" charset="0"/>
                <a:ea typeface="Arial" pitchFamily="34" charset="-122"/>
                <a:cs typeface="Arial" pitchFamily="34" charset="-120"/>
              </a:rPr>
              <a:t>89%</a:t>
            </a:r>
            <a:endParaRPr lang="en-US" sz="3200" dirty="0"/>
          </a:p>
        </p:txBody>
      </p:sp>
      <p:sp>
        <p:nvSpPr>
          <p:cNvPr id="11" name="UE label 1"/>
          <p:cNvSpPr txBox="1"/>
          <p:nvPr/>
        </p:nvSpPr>
        <p:spPr>
          <a:xfrm>
            <a:off x="3511296" y="2148840"/>
            <a:ext cx="2103120" cy="256032"/>
          </a:xfrm>
          <a:prstGeom prst="rect">
            <a:avLst/>
          </a:prstGeom>
          <a:noFill/>
          <a:ln/>
        </p:spPr>
        <p:txBody>
          <a:bodyPr wrap="square" lIns="0" tIns="0" rIns="0" bIns="0" rtlCol="0" anchor="ctr"/>
          <a:lstStyle/>
          <a:p>
            <a:pPr indent="0" marL="0">
              <a:buNone/>
            </a:pPr>
            <a:r>
              <a:rPr lang="en-US" sz="1250" b="1" dirty="0">
                <a:solidFill>
                  <a:srgbClr val="C4B5FD"/>
                </a:solidFill>
                <a:latin typeface="Arial" pitchFamily="34" charset="0"/>
                <a:ea typeface="Arial" pitchFamily="34" charset="-122"/>
                <a:cs typeface="Arial" pitchFamily="34" charset="-120"/>
              </a:rPr>
              <a:t>Gross margin</a:t>
            </a:r>
            <a:endParaRPr lang="en-US" sz="1250" dirty="0"/>
          </a:p>
        </p:txBody>
      </p:sp>
      <p:sp>
        <p:nvSpPr>
          <p:cNvPr id="12" name="UE note 1"/>
          <p:cNvSpPr txBox="1"/>
          <p:nvPr/>
        </p:nvSpPr>
        <p:spPr>
          <a:xfrm>
            <a:off x="3511296" y="2404872"/>
            <a:ext cx="2148840" cy="365760"/>
          </a:xfrm>
          <a:prstGeom prst="rect">
            <a:avLst/>
          </a:prstGeom>
          <a:noFill/>
          <a:ln/>
        </p:spPr>
        <p:txBody>
          <a:bodyPr wrap="square" lIns="0" tIns="0" rIns="0" bIns="0" rtlCol="0" anchor="t"/>
          <a:lstStyle/>
          <a:p>
            <a:pPr indent="0" marL="0">
              <a:buNone/>
            </a:pPr>
            <a:r>
              <a:rPr lang="en-US" sz="950" dirty="0">
                <a:solidFill>
                  <a:srgbClr val="A9A6BD"/>
                </a:solidFill>
              </a:rPr>
              <a:t>Cloud, AI, support and billing fees ≈ COP 8,200</a:t>
            </a:r>
            <a:endParaRPr lang="en-US" sz="950" dirty="0"/>
          </a:p>
        </p:txBody>
      </p:sp>
      <p:sp>
        <p:nvSpPr>
          <p:cNvPr id="13" name="UE 2"/>
          <p:cNvSpPr/>
          <p:nvPr/>
        </p:nvSpPr>
        <p:spPr>
          <a:xfrm>
            <a:off x="5980176" y="1417320"/>
            <a:ext cx="2514600" cy="1417320"/>
          </a:xfrm>
          <a:prstGeom prst="roundRect">
            <a:avLst>
              <a:gd name="adj" fmla="val 9032"/>
            </a:avLst>
          </a:prstGeom>
          <a:solidFill>
            <a:srgbClr val="1A1530"/>
          </a:solidFill>
          <a:ln w="9525">
            <a:solidFill>
              <a:srgbClr val="3B2F66"/>
            </a:solidFill>
            <a:prstDash val="solid"/>
          </a:ln>
        </p:spPr>
      </p:sp>
      <p:sp>
        <p:nvSpPr>
          <p:cNvPr id="14" name="UE value 2"/>
          <p:cNvSpPr txBox="1"/>
          <p:nvPr/>
        </p:nvSpPr>
        <p:spPr>
          <a:xfrm>
            <a:off x="6181344" y="1527048"/>
            <a:ext cx="2103120" cy="59436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25 mo</a:t>
            </a:r>
            <a:endParaRPr lang="en-US" sz="3200" dirty="0"/>
          </a:p>
        </p:txBody>
      </p:sp>
      <p:sp>
        <p:nvSpPr>
          <p:cNvPr id="15" name="UE label 2"/>
          <p:cNvSpPr txBox="1"/>
          <p:nvPr/>
        </p:nvSpPr>
        <p:spPr>
          <a:xfrm>
            <a:off x="6181344" y="2148840"/>
            <a:ext cx="2103120" cy="256032"/>
          </a:xfrm>
          <a:prstGeom prst="rect">
            <a:avLst/>
          </a:prstGeom>
          <a:noFill/>
          <a:ln/>
        </p:spPr>
        <p:txBody>
          <a:bodyPr wrap="square" lIns="0" tIns="0" rIns="0" bIns="0" rtlCol="0" anchor="ctr"/>
          <a:lstStyle/>
          <a:p>
            <a:pPr indent="0" marL="0">
              <a:buNone/>
            </a:pPr>
            <a:r>
              <a:rPr lang="en-US" sz="1250" b="1" dirty="0">
                <a:solidFill>
                  <a:srgbClr val="C4B5FD"/>
                </a:solidFill>
                <a:latin typeface="Arial" pitchFamily="34" charset="0"/>
                <a:ea typeface="Arial" pitchFamily="34" charset="-122"/>
                <a:cs typeface="Arial" pitchFamily="34" charset="-120"/>
              </a:rPr>
              <a:t>Customer lifetime</a:t>
            </a:r>
            <a:endParaRPr lang="en-US" sz="1250" dirty="0"/>
          </a:p>
        </p:txBody>
      </p:sp>
      <p:sp>
        <p:nvSpPr>
          <p:cNvPr id="16" name="UE note 2"/>
          <p:cNvSpPr txBox="1"/>
          <p:nvPr/>
        </p:nvSpPr>
        <p:spPr>
          <a:xfrm>
            <a:off x="6181344" y="2404872"/>
            <a:ext cx="2148840" cy="365760"/>
          </a:xfrm>
          <a:prstGeom prst="rect">
            <a:avLst/>
          </a:prstGeom>
          <a:noFill/>
          <a:ln/>
        </p:spPr>
        <p:txBody>
          <a:bodyPr wrap="square" lIns="0" tIns="0" rIns="0" bIns="0" rtlCol="0" anchor="t"/>
          <a:lstStyle/>
          <a:p>
            <a:pPr indent="0" marL="0">
              <a:buNone/>
            </a:pPr>
            <a:r>
              <a:rPr lang="en-US" sz="950" dirty="0">
                <a:solidFill>
                  <a:srgbClr val="A9A6BD"/>
                </a:solidFill>
              </a:rPr>
              <a:t>Assumes 4% monthly churn</a:t>
            </a:r>
            <a:endParaRPr lang="en-US" sz="950" dirty="0"/>
          </a:p>
        </p:txBody>
      </p:sp>
      <p:sp>
        <p:nvSpPr>
          <p:cNvPr id="17" name="UE 3"/>
          <p:cNvSpPr/>
          <p:nvPr/>
        </p:nvSpPr>
        <p:spPr>
          <a:xfrm>
            <a:off x="640080" y="3017520"/>
            <a:ext cx="2514600" cy="1417320"/>
          </a:xfrm>
          <a:prstGeom prst="roundRect">
            <a:avLst>
              <a:gd name="adj" fmla="val 9032"/>
            </a:avLst>
          </a:prstGeom>
          <a:solidFill>
            <a:srgbClr val="1A1530"/>
          </a:solidFill>
          <a:ln w="9525">
            <a:solidFill>
              <a:srgbClr val="3B2F66"/>
            </a:solidFill>
            <a:prstDash val="solid"/>
          </a:ln>
        </p:spPr>
      </p:sp>
      <p:sp>
        <p:nvSpPr>
          <p:cNvPr id="18" name="UE value 3"/>
          <p:cNvSpPr txBox="1"/>
          <p:nvPr/>
        </p:nvSpPr>
        <p:spPr>
          <a:xfrm>
            <a:off x="841248" y="3127248"/>
            <a:ext cx="2103120" cy="594360"/>
          </a:xfrm>
          <a:prstGeom prst="rect">
            <a:avLst/>
          </a:prstGeom>
          <a:noFill/>
          <a:ln/>
        </p:spPr>
        <p:txBody>
          <a:bodyPr wrap="square" lIns="0" tIns="0" rIns="0" bIns="0" rtlCol="0" anchor="ctr"/>
          <a:lstStyle/>
          <a:p>
            <a:pPr indent="0" marL="0">
              <a:buNone/>
            </a:pPr>
            <a:r>
              <a:rPr lang="en-US" sz="3200" b="1" dirty="0">
                <a:solidFill>
                  <a:srgbClr val="C4B5FD"/>
                </a:solidFill>
                <a:latin typeface="Arial" pitchFamily="34" charset="0"/>
                <a:ea typeface="Arial" pitchFamily="34" charset="-122"/>
                <a:cs typeface="Arial" pitchFamily="34" charset="-120"/>
              </a:rPr>
              <a:t>US$500</a:t>
            </a:r>
            <a:endParaRPr lang="en-US" sz="3200" dirty="0"/>
          </a:p>
        </p:txBody>
      </p:sp>
      <p:sp>
        <p:nvSpPr>
          <p:cNvPr id="19" name="UE label 3"/>
          <p:cNvSpPr txBox="1"/>
          <p:nvPr/>
        </p:nvSpPr>
        <p:spPr>
          <a:xfrm>
            <a:off x="841248" y="3749040"/>
            <a:ext cx="2103120" cy="256032"/>
          </a:xfrm>
          <a:prstGeom prst="rect">
            <a:avLst/>
          </a:prstGeom>
          <a:noFill/>
          <a:ln/>
        </p:spPr>
        <p:txBody>
          <a:bodyPr wrap="square" lIns="0" tIns="0" rIns="0" bIns="0" rtlCol="0" anchor="ctr"/>
          <a:lstStyle/>
          <a:p>
            <a:pPr indent="0" marL="0">
              <a:buNone/>
            </a:pPr>
            <a:r>
              <a:rPr lang="en-US" sz="1250" b="1" dirty="0">
                <a:solidFill>
                  <a:srgbClr val="C4B5FD"/>
                </a:solidFill>
                <a:latin typeface="Arial" pitchFamily="34" charset="0"/>
                <a:ea typeface="Arial" pitchFamily="34" charset="-122"/>
                <a:cs typeface="Arial" pitchFamily="34" charset="-120"/>
              </a:rPr>
              <a:t>Lifetime value</a:t>
            </a:r>
            <a:endParaRPr lang="en-US" sz="1250" dirty="0"/>
          </a:p>
        </p:txBody>
      </p:sp>
      <p:sp>
        <p:nvSpPr>
          <p:cNvPr id="20" name="UE note 3"/>
          <p:cNvSpPr txBox="1"/>
          <p:nvPr/>
        </p:nvSpPr>
        <p:spPr>
          <a:xfrm>
            <a:off x="841248" y="4005072"/>
            <a:ext cx="2148840" cy="365760"/>
          </a:xfrm>
          <a:prstGeom prst="rect">
            <a:avLst/>
          </a:prstGeom>
          <a:noFill/>
          <a:ln/>
        </p:spPr>
        <p:txBody>
          <a:bodyPr wrap="square" lIns="0" tIns="0" rIns="0" bIns="0" rtlCol="0" anchor="t"/>
          <a:lstStyle/>
          <a:p>
            <a:pPr indent="0" marL="0">
              <a:buNone/>
            </a:pPr>
            <a:r>
              <a:rPr lang="en-US" sz="950" dirty="0">
                <a:solidFill>
                  <a:srgbClr val="A9A6BD"/>
                </a:solidFill>
              </a:rPr>
              <a:t>Gross margin × lifetime</a:t>
            </a:r>
            <a:endParaRPr lang="en-US" sz="950" dirty="0"/>
          </a:p>
        </p:txBody>
      </p:sp>
      <p:sp>
        <p:nvSpPr>
          <p:cNvPr id="21" name="UE 4"/>
          <p:cNvSpPr/>
          <p:nvPr/>
        </p:nvSpPr>
        <p:spPr>
          <a:xfrm>
            <a:off x="3310128" y="3017520"/>
            <a:ext cx="2514600" cy="1417320"/>
          </a:xfrm>
          <a:prstGeom prst="roundRect">
            <a:avLst>
              <a:gd name="adj" fmla="val 9032"/>
            </a:avLst>
          </a:prstGeom>
          <a:solidFill>
            <a:srgbClr val="1A1530"/>
          </a:solidFill>
          <a:ln w="9525">
            <a:solidFill>
              <a:srgbClr val="3B2F66"/>
            </a:solidFill>
            <a:prstDash val="solid"/>
          </a:ln>
        </p:spPr>
      </p:sp>
      <p:sp>
        <p:nvSpPr>
          <p:cNvPr id="22" name="UE value 4"/>
          <p:cNvSpPr txBox="1"/>
          <p:nvPr/>
        </p:nvSpPr>
        <p:spPr>
          <a:xfrm>
            <a:off x="3511296" y="3127248"/>
            <a:ext cx="2103120" cy="59436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US$75</a:t>
            </a:r>
            <a:endParaRPr lang="en-US" sz="3200" dirty="0"/>
          </a:p>
        </p:txBody>
      </p:sp>
      <p:sp>
        <p:nvSpPr>
          <p:cNvPr id="23" name="UE label 4"/>
          <p:cNvSpPr txBox="1"/>
          <p:nvPr/>
        </p:nvSpPr>
        <p:spPr>
          <a:xfrm>
            <a:off x="3511296" y="3749040"/>
            <a:ext cx="2103120" cy="256032"/>
          </a:xfrm>
          <a:prstGeom prst="rect">
            <a:avLst/>
          </a:prstGeom>
          <a:noFill/>
          <a:ln/>
        </p:spPr>
        <p:txBody>
          <a:bodyPr wrap="square" lIns="0" tIns="0" rIns="0" bIns="0" rtlCol="0" anchor="ctr"/>
          <a:lstStyle/>
          <a:p>
            <a:pPr indent="0" marL="0">
              <a:buNone/>
            </a:pPr>
            <a:r>
              <a:rPr lang="en-US" sz="1250" b="1" dirty="0">
                <a:solidFill>
                  <a:srgbClr val="C4B5FD"/>
                </a:solidFill>
                <a:latin typeface="Arial" pitchFamily="34" charset="0"/>
                <a:ea typeface="Arial" pitchFamily="34" charset="-122"/>
                <a:cs typeface="Arial" pitchFamily="34" charset="-120"/>
              </a:rPr>
              <a:t>CAC</a:t>
            </a:r>
            <a:endParaRPr lang="en-US" sz="1250" dirty="0"/>
          </a:p>
        </p:txBody>
      </p:sp>
      <p:sp>
        <p:nvSpPr>
          <p:cNvPr id="24" name="UE note 4"/>
          <p:cNvSpPr txBox="1"/>
          <p:nvPr/>
        </p:nvSpPr>
        <p:spPr>
          <a:xfrm>
            <a:off x="3511296" y="4005072"/>
            <a:ext cx="2148840" cy="365760"/>
          </a:xfrm>
          <a:prstGeom prst="rect">
            <a:avLst/>
          </a:prstGeom>
          <a:noFill/>
          <a:ln/>
        </p:spPr>
        <p:txBody>
          <a:bodyPr wrap="square" lIns="0" tIns="0" rIns="0" bIns="0" rtlCol="0" anchor="t"/>
          <a:lstStyle/>
          <a:p>
            <a:pPr indent="0" marL="0">
              <a:buNone/>
            </a:pPr>
            <a:r>
              <a:rPr lang="en-US" sz="950" dirty="0">
                <a:solidFill>
                  <a:srgbClr val="A9A6BD"/>
                </a:solidFill>
              </a:rPr>
              <a:t>Field sales cost ≈ COP 250,000 per account</a:t>
            </a:r>
            <a:endParaRPr lang="en-US" sz="950" dirty="0"/>
          </a:p>
        </p:txBody>
      </p:sp>
      <p:sp>
        <p:nvSpPr>
          <p:cNvPr id="25" name="UE 5"/>
          <p:cNvSpPr/>
          <p:nvPr/>
        </p:nvSpPr>
        <p:spPr>
          <a:xfrm>
            <a:off x="5980176" y="3017520"/>
            <a:ext cx="2514600" cy="1417320"/>
          </a:xfrm>
          <a:prstGeom prst="roundRect">
            <a:avLst>
              <a:gd name="adj" fmla="val 9032"/>
            </a:avLst>
          </a:prstGeom>
          <a:solidFill>
            <a:srgbClr val="1A1530"/>
          </a:solidFill>
          <a:ln w="9525">
            <a:solidFill>
              <a:srgbClr val="3B2F66"/>
            </a:solidFill>
            <a:prstDash val="solid"/>
          </a:ln>
        </p:spPr>
      </p:sp>
      <p:sp>
        <p:nvSpPr>
          <p:cNvPr id="26" name="UE value 5"/>
          <p:cNvSpPr txBox="1"/>
          <p:nvPr/>
        </p:nvSpPr>
        <p:spPr>
          <a:xfrm>
            <a:off x="6181344" y="3127248"/>
            <a:ext cx="2103120" cy="594360"/>
          </a:xfrm>
          <a:prstGeom prst="rect">
            <a:avLst/>
          </a:prstGeom>
          <a:noFill/>
          <a:ln/>
        </p:spPr>
        <p:txBody>
          <a:bodyPr wrap="square" lIns="0" tIns="0" rIns="0" bIns="0" rtlCol="0" anchor="ctr"/>
          <a:lstStyle/>
          <a:p>
            <a:pPr indent="0" marL="0">
              <a:buNone/>
            </a:pPr>
            <a:r>
              <a:rPr lang="en-US" sz="3200" b="1" dirty="0">
                <a:solidFill>
                  <a:srgbClr val="34D399"/>
                </a:solidFill>
                <a:latin typeface="Arial" pitchFamily="34" charset="0"/>
                <a:ea typeface="Arial" pitchFamily="34" charset="-122"/>
                <a:cs typeface="Arial" pitchFamily="34" charset="-120"/>
              </a:rPr>
              <a:t>6.6x</a:t>
            </a:r>
            <a:endParaRPr lang="en-US" sz="3200" dirty="0"/>
          </a:p>
        </p:txBody>
      </p:sp>
      <p:sp>
        <p:nvSpPr>
          <p:cNvPr id="27" name="UE label 5"/>
          <p:cNvSpPr txBox="1"/>
          <p:nvPr/>
        </p:nvSpPr>
        <p:spPr>
          <a:xfrm>
            <a:off x="6181344" y="3749040"/>
            <a:ext cx="2103120" cy="256032"/>
          </a:xfrm>
          <a:prstGeom prst="rect">
            <a:avLst/>
          </a:prstGeom>
          <a:noFill/>
          <a:ln/>
        </p:spPr>
        <p:txBody>
          <a:bodyPr wrap="square" lIns="0" tIns="0" rIns="0" bIns="0" rtlCol="0" anchor="ctr"/>
          <a:lstStyle/>
          <a:p>
            <a:pPr indent="0" marL="0">
              <a:buNone/>
            </a:pPr>
            <a:r>
              <a:rPr lang="en-US" sz="1250" b="1" dirty="0">
                <a:solidFill>
                  <a:srgbClr val="C4B5FD"/>
                </a:solidFill>
                <a:latin typeface="Arial" pitchFamily="34" charset="0"/>
                <a:ea typeface="Arial" pitchFamily="34" charset="-122"/>
                <a:cs typeface="Arial" pitchFamily="34" charset="-120"/>
              </a:rPr>
              <a:t>LTV / CAC</a:t>
            </a:r>
            <a:endParaRPr lang="en-US" sz="1250" dirty="0"/>
          </a:p>
        </p:txBody>
      </p:sp>
      <p:sp>
        <p:nvSpPr>
          <p:cNvPr id="28" name="UE note 5"/>
          <p:cNvSpPr txBox="1"/>
          <p:nvPr/>
        </p:nvSpPr>
        <p:spPr>
          <a:xfrm>
            <a:off x="6181344" y="4005072"/>
            <a:ext cx="2148840" cy="365760"/>
          </a:xfrm>
          <a:prstGeom prst="rect">
            <a:avLst/>
          </a:prstGeom>
          <a:noFill/>
          <a:ln/>
        </p:spPr>
        <p:txBody>
          <a:bodyPr wrap="square" lIns="0" tIns="0" rIns="0" bIns="0" rtlCol="0" anchor="t"/>
          <a:lstStyle/>
          <a:p>
            <a:pPr indent="0" marL="0">
              <a:buNone/>
            </a:pPr>
            <a:r>
              <a:rPr lang="en-US" sz="950" dirty="0">
                <a:solidFill>
                  <a:srgbClr val="A9A6BD"/>
                </a:solidFill>
              </a:rPr>
              <a:t>Payback in 3.8 months</a:t>
            </a:r>
            <a:endParaRPr lang="en-US" sz="950" dirty="0"/>
          </a:p>
        </p:txBody>
      </p:sp>
      <p:sp>
        <p:nvSpPr>
          <p:cNvPr id="29" name="Source"/>
          <p:cNvSpPr txBox="1"/>
          <p:nvPr/>
        </p:nvSpPr>
        <p:spPr>
          <a:xfrm>
            <a:off x="640080" y="4773168"/>
            <a:ext cx="7498080" cy="228600"/>
          </a:xfrm>
          <a:prstGeom prst="rect">
            <a:avLst/>
          </a:prstGeom>
          <a:noFill/>
          <a:ln/>
        </p:spPr>
        <p:txBody>
          <a:bodyPr wrap="square" lIns="0" tIns="0" rIns="0" bIns="0" rtlCol="0" anchor="ctr"/>
          <a:lstStyle/>
          <a:p>
            <a:pPr indent="0" marL="0">
              <a:buNone/>
            </a:pPr>
            <a:r>
              <a:rPr lang="en-US" sz="850" dirty="0">
                <a:solidFill>
                  <a:srgbClr val="6E6A85"/>
                </a:solidFill>
              </a:rPr>
              <a:t>Source: Vento financial model (assumptions to be validated with paid pilots). FX: TRM COP 3,313 per US$.</a:t>
            </a:r>
            <a:endParaRPr lang="en-US" sz="85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A8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Background light"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Kicker"/>
          <p:cNvSpPr txBox="1"/>
          <p:nvPr/>
        </p:nvSpPr>
        <p:spPr>
          <a:xfrm>
            <a:off x="640080" y="292608"/>
            <a:ext cx="5486400" cy="256032"/>
          </a:xfrm>
          <a:prstGeom prst="rect">
            <a:avLst/>
          </a:prstGeom>
          <a:noFill/>
          <a:ln/>
        </p:spPr>
        <p:txBody>
          <a:bodyPr wrap="square" lIns="0" tIns="0" rIns="0" bIns="0" rtlCol="0" anchor="ctr"/>
          <a:lstStyle/>
          <a:p>
            <a:pPr indent="0" marL="0">
              <a:buNone/>
            </a:pPr>
            <a:r>
              <a:rPr lang="en-US" sz="1050" b="1" spc="300" kern="0" dirty="0">
                <a:solidFill>
                  <a:srgbClr val="34D399"/>
                </a:solidFill>
              </a:rPr>
              <a:t>PROJECTIONS · MODEL</a:t>
            </a:r>
            <a:endParaRPr lang="en-US" sz="1050" dirty="0"/>
          </a:p>
        </p:txBody>
      </p:sp>
      <p:sp>
        <p:nvSpPr>
          <p:cNvPr id="4" name="Text 0"/>
          <p:cNvSpPr/>
          <p:nvPr>
            <p:ph idx="100" type="title" hasCustomPrompt="1"/>
          </p:nvPr>
        </p:nvSpPr>
        <p:spPr>
          <a:xfrm>
            <a:off x="640080" y="566928"/>
            <a:ext cx="7863840" cy="640080"/>
          </a:xfrm>
          <a:prstGeom prst="rect">
            <a:avLst/>
          </a:prstGeom>
          <a:noFill/>
          <a:ln/>
        </p:spPr>
        <p:txBody>
          <a:bodyPr wrap="square" lIns="0" tIns="0" rIns="0" bIns="0" rtlCol="0" anchor="ctr"/>
          <a:lstStyle/>
          <a:p>
            <a:pPr indent="0" marL="0">
              <a:buNone/>
            </a:pPr>
            <a:r>
              <a:rPr lang="en-US" sz="3000" b="1" dirty="0">
                <a:solidFill>
                  <a:schemeClr val="bg1"/>
                </a:solidFill>
              </a:rPr>
              <a:t>US$1.2M ARR by month 36 (base case)</a:t>
            </a:r>
            <a:endParaRPr lang="en-US" sz="3000" dirty="0"/>
          </a:p>
        </p:txBody>
      </p:sp>
      <p:sp>
        <p:nvSpPr>
          <p:cNvPr id="5" name="Chart axis"/>
          <p:cNvSpPr/>
          <p:nvPr/>
        </p:nvSpPr>
        <p:spPr>
          <a:xfrm>
            <a:off x="640080" y="4343400"/>
            <a:ext cx="5120640" cy="0"/>
          </a:xfrm>
          <a:prstGeom prst="line">
            <a:avLst/>
          </a:prstGeom>
          <a:noFill/>
          <a:ln w="12700">
            <a:solidFill>
              <a:srgbClr val="3B2F66"/>
            </a:solidFill>
            <a:prstDash val="solid"/>
          </a:ln>
        </p:spPr>
      </p:sp>
      <p:sp>
        <p:nvSpPr>
          <p:cNvPr id="6" name="Bar 00"/>
          <p:cNvSpPr/>
          <p:nvPr/>
        </p:nvSpPr>
        <p:spPr>
          <a:xfrm>
            <a:off x="868680" y="4315968"/>
            <a:ext cx="365760" cy="27432"/>
          </a:xfrm>
          <a:prstGeom prst="rect">
            <a:avLst/>
          </a:prstGeom>
          <a:solidFill>
            <a:srgbClr val="4C3A8F"/>
          </a:solidFill>
          <a:ln w="6350">
            <a:solidFill>
              <a:srgbClr val="4C3A8F"/>
            </a:solidFill>
            <a:prstDash val="solid"/>
          </a:ln>
        </p:spPr>
      </p:sp>
      <p:sp>
        <p:nvSpPr>
          <p:cNvPr id="7" name="Bar value 00"/>
          <p:cNvSpPr txBox="1"/>
          <p:nvPr/>
        </p:nvSpPr>
        <p:spPr>
          <a:xfrm>
            <a:off x="685800" y="4078224"/>
            <a:ext cx="731520" cy="219456"/>
          </a:xfrm>
          <a:prstGeom prst="rect">
            <a:avLst/>
          </a:prstGeom>
          <a:noFill/>
          <a:ln/>
        </p:spPr>
        <p:txBody>
          <a:bodyPr wrap="square" lIns="0" tIns="0" rIns="0" bIns="0" rtlCol="0" anchor="ctr"/>
          <a:lstStyle/>
          <a:p>
            <a:pPr algn="ctr" indent="0" marL="0">
              <a:buNone/>
            </a:pPr>
            <a:r>
              <a:rPr lang="en-US" sz="850" dirty="0">
                <a:solidFill>
                  <a:srgbClr val="D6D3E6"/>
                </a:solidFill>
              </a:rPr>
              <a:t>$41K</a:t>
            </a:r>
            <a:endParaRPr lang="en-US" sz="850" dirty="0"/>
          </a:p>
        </p:txBody>
      </p:sp>
      <p:sp>
        <p:nvSpPr>
          <p:cNvPr id="8" name="Bar 01"/>
          <p:cNvSpPr/>
          <p:nvPr/>
        </p:nvSpPr>
        <p:spPr>
          <a:xfrm>
            <a:off x="1307592" y="4284613"/>
            <a:ext cx="365760" cy="58787"/>
          </a:xfrm>
          <a:prstGeom prst="rect">
            <a:avLst/>
          </a:prstGeom>
          <a:solidFill>
            <a:srgbClr val="34D399"/>
          </a:solidFill>
          <a:ln w="6350">
            <a:solidFill>
              <a:srgbClr val="34D399"/>
            </a:solidFill>
            <a:prstDash val="solid"/>
          </a:ln>
        </p:spPr>
      </p:sp>
      <p:sp>
        <p:nvSpPr>
          <p:cNvPr id="9" name="Bar value 01"/>
          <p:cNvSpPr txBox="1"/>
          <p:nvPr/>
        </p:nvSpPr>
        <p:spPr>
          <a:xfrm>
            <a:off x="1124712" y="4046869"/>
            <a:ext cx="731520" cy="219456"/>
          </a:xfrm>
          <a:prstGeom prst="rect">
            <a:avLst/>
          </a:prstGeom>
          <a:noFill/>
          <a:ln/>
        </p:spPr>
        <p:txBody>
          <a:bodyPr wrap="square" lIns="0" tIns="0" rIns="0" bIns="0" rtlCol="0" anchor="ctr"/>
          <a:lstStyle/>
          <a:p>
            <a:pPr algn="ctr" indent="0" marL="0">
              <a:buNone/>
            </a:pPr>
            <a:r>
              <a:rPr lang="en-US" sz="850" b="1" dirty="0">
                <a:solidFill>
                  <a:srgbClr val="34D399"/>
                </a:solidFill>
              </a:rPr>
              <a:t>$97K</a:t>
            </a:r>
            <a:endParaRPr lang="en-US" sz="850" dirty="0"/>
          </a:p>
        </p:txBody>
      </p:sp>
      <p:sp>
        <p:nvSpPr>
          <p:cNvPr id="10" name="Bar 02"/>
          <p:cNvSpPr/>
          <p:nvPr/>
        </p:nvSpPr>
        <p:spPr>
          <a:xfrm>
            <a:off x="1746504" y="4204007"/>
            <a:ext cx="365760" cy="139393"/>
          </a:xfrm>
          <a:prstGeom prst="rect">
            <a:avLst/>
          </a:prstGeom>
          <a:solidFill>
            <a:srgbClr val="C4B5FD"/>
          </a:solidFill>
          <a:ln w="6350">
            <a:solidFill>
              <a:srgbClr val="C4B5FD"/>
            </a:solidFill>
            <a:prstDash val="solid"/>
          </a:ln>
        </p:spPr>
      </p:sp>
      <p:sp>
        <p:nvSpPr>
          <p:cNvPr id="11" name="Bar value 02"/>
          <p:cNvSpPr txBox="1"/>
          <p:nvPr/>
        </p:nvSpPr>
        <p:spPr>
          <a:xfrm>
            <a:off x="1563624" y="3966263"/>
            <a:ext cx="731520" cy="219456"/>
          </a:xfrm>
          <a:prstGeom prst="rect">
            <a:avLst/>
          </a:prstGeom>
          <a:noFill/>
          <a:ln/>
        </p:spPr>
        <p:txBody>
          <a:bodyPr wrap="square" lIns="0" tIns="0" rIns="0" bIns="0" rtlCol="0" anchor="ctr"/>
          <a:lstStyle/>
          <a:p>
            <a:pPr algn="ctr" indent="0" marL="0">
              <a:buNone/>
            </a:pPr>
            <a:r>
              <a:rPr lang="en-US" sz="850" dirty="0">
                <a:solidFill>
                  <a:srgbClr val="D6D3E6"/>
                </a:solidFill>
              </a:rPr>
              <a:t>$230K</a:t>
            </a:r>
            <a:endParaRPr lang="en-US" sz="850" dirty="0"/>
          </a:p>
        </p:txBody>
      </p:sp>
      <p:sp>
        <p:nvSpPr>
          <p:cNvPr id="12" name="Year label 0"/>
          <p:cNvSpPr txBox="1"/>
          <p:nvPr/>
        </p:nvSpPr>
        <p:spPr>
          <a:xfrm>
            <a:off x="868680" y="4416552"/>
            <a:ext cx="1280160" cy="228600"/>
          </a:xfrm>
          <a:prstGeom prst="rect">
            <a:avLst/>
          </a:prstGeom>
          <a:noFill/>
          <a:ln/>
        </p:spPr>
        <p:txBody>
          <a:bodyPr wrap="square" lIns="0" tIns="0" rIns="0" bIns="0" rtlCol="0" anchor="ctr"/>
          <a:lstStyle/>
          <a:p>
            <a:pPr algn="ctr" indent="0" marL="0">
              <a:buNone/>
            </a:pPr>
            <a:r>
              <a:rPr lang="en-US" sz="1000" b="1" dirty="0">
                <a:solidFill>
                  <a:srgbClr val="FFFFFF"/>
                </a:solidFill>
              </a:rPr>
              <a:t>Month 12</a:t>
            </a:r>
            <a:endParaRPr lang="en-US" sz="1000" dirty="0"/>
          </a:p>
        </p:txBody>
      </p:sp>
      <p:sp>
        <p:nvSpPr>
          <p:cNvPr id="13" name="Bar 10"/>
          <p:cNvSpPr/>
          <p:nvPr/>
        </p:nvSpPr>
        <p:spPr>
          <a:xfrm>
            <a:off x="2560320" y="4267643"/>
            <a:ext cx="365760" cy="75757"/>
          </a:xfrm>
          <a:prstGeom prst="rect">
            <a:avLst/>
          </a:prstGeom>
          <a:solidFill>
            <a:srgbClr val="4C3A8F"/>
          </a:solidFill>
          <a:ln w="6350">
            <a:solidFill>
              <a:srgbClr val="4C3A8F"/>
            </a:solidFill>
            <a:prstDash val="solid"/>
          </a:ln>
        </p:spPr>
      </p:sp>
      <p:sp>
        <p:nvSpPr>
          <p:cNvPr id="14" name="Bar value 10"/>
          <p:cNvSpPr txBox="1"/>
          <p:nvPr/>
        </p:nvSpPr>
        <p:spPr>
          <a:xfrm>
            <a:off x="2377440" y="4029899"/>
            <a:ext cx="731520" cy="219456"/>
          </a:xfrm>
          <a:prstGeom prst="rect">
            <a:avLst/>
          </a:prstGeom>
          <a:noFill/>
          <a:ln/>
        </p:spPr>
        <p:txBody>
          <a:bodyPr wrap="square" lIns="0" tIns="0" rIns="0" bIns="0" rtlCol="0" anchor="ctr"/>
          <a:lstStyle/>
          <a:p>
            <a:pPr algn="ctr" indent="0" marL="0">
              <a:buNone/>
            </a:pPr>
            <a:r>
              <a:rPr lang="en-US" sz="850" dirty="0">
                <a:solidFill>
                  <a:srgbClr val="D6D3E6"/>
                </a:solidFill>
              </a:rPr>
              <a:t>$125K</a:t>
            </a:r>
            <a:endParaRPr lang="en-US" sz="850" dirty="0"/>
          </a:p>
        </p:txBody>
      </p:sp>
      <p:sp>
        <p:nvSpPr>
          <p:cNvPr id="15" name="Bar 11"/>
          <p:cNvSpPr/>
          <p:nvPr/>
        </p:nvSpPr>
        <p:spPr>
          <a:xfrm>
            <a:off x="2999232" y="4122190"/>
            <a:ext cx="365760" cy="221210"/>
          </a:xfrm>
          <a:prstGeom prst="rect">
            <a:avLst/>
          </a:prstGeom>
          <a:solidFill>
            <a:srgbClr val="34D399"/>
          </a:solidFill>
          <a:ln w="6350">
            <a:solidFill>
              <a:srgbClr val="34D399"/>
            </a:solidFill>
            <a:prstDash val="solid"/>
          </a:ln>
        </p:spPr>
      </p:sp>
      <p:sp>
        <p:nvSpPr>
          <p:cNvPr id="16" name="Bar value 11"/>
          <p:cNvSpPr txBox="1"/>
          <p:nvPr/>
        </p:nvSpPr>
        <p:spPr>
          <a:xfrm>
            <a:off x="2816352" y="3884446"/>
            <a:ext cx="731520" cy="219456"/>
          </a:xfrm>
          <a:prstGeom prst="rect">
            <a:avLst/>
          </a:prstGeom>
          <a:noFill/>
          <a:ln/>
        </p:spPr>
        <p:txBody>
          <a:bodyPr wrap="square" lIns="0" tIns="0" rIns="0" bIns="0" rtlCol="0" anchor="ctr"/>
          <a:lstStyle/>
          <a:p>
            <a:pPr algn="ctr" indent="0" marL="0">
              <a:buNone/>
            </a:pPr>
            <a:r>
              <a:rPr lang="en-US" sz="850" b="1" dirty="0">
                <a:solidFill>
                  <a:srgbClr val="34D399"/>
                </a:solidFill>
              </a:rPr>
              <a:t>$365K</a:t>
            </a:r>
            <a:endParaRPr lang="en-US" sz="850" dirty="0"/>
          </a:p>
        </p:txBody>
      </p:sp>
      <p:sp>
        <p:nvSpPr>
          <p:cNvPr id="17" name="Bar 12"/>
          <p:cNvSpPr/>
          <p:nvPr/>
        </p:nvSpPr>
        <p:spPr>
          <a:xfrm>
            <a:off x="3438144" y="3703405"/>
            <a:ext cx="365760" cy="639995"/>
          </a:xfrm>
          <a:prstGeom prst="rect">
            <a:avLst/>
          </a:prstGeom>
          <a:solidFill>
            <a:srgbClr val="C4B5FD"/>
          </a:solidFill>
          <a:ln w="6350">
            <a:solidFill>
              <a:srgbClr val="C4B5FD"/>
            </a:solidFill>
            <a:prstDash val="solid"/>
          </a:ln>
        </p:spPr>
      </p:sp>
      <p:sp>
        <p:nvSpPr>
          <p:cNvPr id="18" name="Bar value 12"/>
          <p:cNvSpPr txBox="1"/>
          <p:nvPr/>
        </p:nvSpPr>
        <p:spPr>
          <a:xfrm>
            <a:off x="3255264" y="3465661"/>
            <a:ext cx="731520" cy="219456"/>
          </a:xfrm>
          <a:prstGeom prst="rect">
            <a:avLst/>
          </a:prstGeom>
          <a:noFill/>
          <a:ln/>
        </p:spPr>
        <p:txBody>
          <a:bodyPr wrap="square" lIns="0" tIns="0" rIns="0" bIns="0" rtlCol="0" anchor="ctr"/>
          <a:lstStyle/>
          <a:p>
            <a:pPr algn="ctr" indent="0" marL="0">
              <a:buNone/>
            </a:pPr>
            <a:r>
              <a:rPr lang="en-US" sz="850" dirty="0">
                <a:solidFill>
                  <a:srgbClr val="D6D3E6"/>
                </a:solidFill>
              </a:rPr>
              <a:t>$1.1M</a:t>
            </a:r>
            <a:endParaRPr lang="en-US" sz="850" dirty="0"/>
          </a:p>
        </p:txBody>
      </p:sp>
      <p:sp>
        <p:nvSpPr>
          <p:cNvPr id="19" name="Year label 1"/>
          <p:cNvSpPr txBox="1"/>
          <p:nvPr/>
        </p:nvSpPr>
        <p:spPr>
          <a:xfrm>
            <a:off x="2560320" y="4416552"/>
            <a:ext cx="1280160" cy="228600"/>
          </a:xfrm>
          <a:prstGeom prst="rect">
            <a:avLst/>
          </a:prstGeom>
          <a:noFill/>
          <a:ln/>
        </p:spPr>
        <p:txBody>
          <a:bodyPr wrap="square" lIns="0" tIns="0" rIns="0" bIns="0" rtlCol="0" anchor="ctr"/>
          <a:lstStyle/>
          <a:p>
            <a:pPr algn="ctr" indent="0" marL="0">
              <a:buNone/>
            </a:pPr>
            <a:r>
              <a:rPr lang="en-US" sz="1000" b="1" dirty="0">
                <a:solidFill>
                  <a:srgbClr val="FFFFFF"/>
                </a:solidFill>
              </a:rPr>
              <a:t>Month 24</a:t>
            </a:r>
            <a:endParaRPr lang="en-US" sz="1000" dirty="0"/>
          </a:p>
        </p:txBody>
      </p:sp>
      <p:sp>
        <p:nvSpPr>
          <p:cNvPr id="20" name="Bar 20"/>
          <p:cNvSpPr/>
          <p:nvPr/>
        </p:nvSpPr>
        <p:spPr>
          <a:xfrm>
            <a:off x="4251960" y="4144614"/>
            <a:ext cx="365760" cy="198786"/>
          </a:xfrm>
          <a:prstGeom prst="rect">
            <a:avLst/>
          </a:prstGeom>
          <a:solidFill>
            <a:srgbClr val="4C3A8F"/>
          </a:solidFill>
          <a:ln w="6350">
            <a:solidFill>
              <a:srgbClr val="4C3A8F"/>
            </a:solidFill>
            <a:prstDash val="solid"/>
          </a:ln>
        </p:spPr>
      </p:sp>
      <p:sp>
        <p:nvSpPr>
          <p:cNvPr id="21" name="Bar value 20"/>
          <p:cNvSpPr txBox="1"/>
          <p:nvPr/>
        </p:nvSpPr>
        <p:spPr>
          <a:xfrm>
            <a:off x="4069080" y="3906870"/>
            <a:ext cx="731520" cy="219456"/>
          </a:xfrm>
          <a:prstGeom prst="rect">
            <a:avLst/>
          </a:prstGeom>
          <a:noFill/>
          <a:ln/>
        </p:spPr>
        <p:txBody>
          <a:bodyPr wrap="square" lIns="0" tIns="0" rIns="0" bIns="0" rtlCol="0" anchor="ctr"/>
          <a:lstStyle/>
          <a:p>
            <a:pPr algn="ctr" indent="0" marL="0">
              <a:buNone/>
            </a:pPr>
            <a:r>
              <a:rPr lang="en-US" sz="850" dirty="0">
                <a:solidFill>
                  <a:srgbClr val="D6D3E6"/>
                </a:solidFill>
              </a:rPr>
              <a:t>$328K</a:t>
            </a:r>
            <a:endParaRPr lang="en-US" sz="850" dirty="0"/>
          </a:p>
        </p:txBody>
      </p:sp>
      <p:sp>
        <p:nvSpPr>
          <p:cNvPr id="22" name="Bar 21"/>
          <p:cNvSpPr/>
          <p:nvPr/>
        </p:nvSpPr>
        <p:spPr>
          <a:xfrm>
            <a:off x="4690872" y="3627648"/>
            <a:ext cx="365760" cy="715752"/>
          </a:xfrm>
          <a:prstGeom prst="rect">
            <a:avLst/>
          </a:prstGeom>
          <a:solidFill>
            <a:srgbClr val="34D399"/>
          </a:solidFill>
          <a:ln w="6350">
            <a:solidFill>
              <a:srgbClr val="34D399"/>
            </a:solidFill>
            <a:prstDash val="solid"/>
          </a:ln>
        </p:spPr>
      </p:sp>
      <p:sp>
        <p:nvSpPr>
          <p:cNvPr id="23" name="Bar value 21"/>
          <p:cNvSpPr txBox="1"/>
          <p:nvPr/>
        </p:nvSpPr>
        <p:spPr>
          <a:xfrm>
            <a:off x="4507992" y="3389904"/>
            <a:ext cx="731520" cy="219456"/>
          </a:xfrm>
          <a:prstGeom prst="rect">
            <a:avLst/>
          </a:prstGeom>
          <a:noFill/>
          <a:ln/>
        </p:spPr>
        <p:txBody>
          <a:bodyPr wrap="square" lIns="0" tIns="0" rIns="0" bIns="0" rtlCol="0" anchor="ctr"/>
          <a:lstStyle/>
          <a:p>
            <a:pPr algn="ctr" indent="0" marL="0">
              <a:buNone/>
            </a:pPr>
            <a:r>
              <a:rPr lang="en-US" sz="850" b="1" dirty="0">
                <a:solidFill>
                  <a:srgbClr val="34D399"/>
                </a:solidFill>
              </a:rPr>
              <a:t>$1.2M</a:t>
            </a:r>
            <a:endParaRPr lang="en-US" sz="850" dirty="0"/>
          </a:p>
        </p:txBody>
      </p:sp>
      <p:sp>
        <p:nvSpPr>
          <p:cNvPr id="24" name="Bar 22"/>
          <p:cNvSpPr/>
          <p:nvPr/>
        </p:nvSpPr>
        <p:spPr>
          <a:xfrm>
            <a:off x="5129784" y="1782208"/>
            <a:ext cx="365760" cy="2561192"/>
          </a:xfrm>
          <a:prstGeom prst="rect">
            <a:avLst/>
          </a:prstGeom>
          <a:solidFill>
            <a:srgbClr val="C4B5FD"/>
          </a:solidFill>
          <a:ln w="6350">
            <a:solidFill>
              <a:srgbClr val="C4B5FD"/>
            </a:solidFill>
            <a:prstDash val="solid"/>
          </a:ln>
        </p:spPr>
      </p:sp>
      <p:sp>
        <p:nvSpPr>
          <p:cNvPr id="25" name="Bar value 22"/>
          <p:cNvSpPr txBox="1"/>
          <p:nvPr/>
        </p:nvSpPr>
        <p:spPr>
          <a:xfrm>
            <a:off x="4946904" y="1544464"/>
            <a:ext cx="731520" cy="219456"/>
          </a:xfrm>
          <a:prstGeom prst="rect">
            <a:avLst/>
          </a:prstGeom>
          <a:noFill/>
          <a:ln/>
        </p:spPr>
        <p:txBody>
          <a:bodyPr wrap="square" lIns="0" tIns="0" rIns="0" bIns="0" rtlCol="0" anchor="ctr"/>
          <a:lstStyle/>
          <a:p>
            <a:pPr algn="ctr" indent="0" marL="0">
              <a:buNone/>
            </a:pPr>
            <a:r>
              <a:rPr lang="en-US" sz="850" dirty="0">
                <a:solidFill>
                  <a:srgbClr val="D6D3E6"/>
                </a:solidFill>
              </a:rPr>
              <a:t>$4.2M</a:t>
            </a:r>
            <a:endParaRPr lang="en-US" sz="850" dirty="0"/>
          </a:p>
        </p:txBody>
      </p:sp>
      <p:sp>
        <p:nvSpPr>
          <p:cNvPr id="26" name="Year label 2"/>
          <p:cNvSpPr txBox="1"/>
          <p:nvPr/>
        </p:nvSpPr>
        <p:spPr>
          <a:xfrm>
            <a:off x="4251960" y="4416552"/>
            <a:ext cx="1280160" cy="228600"/>
          </a:xfrm>
          <a:prstGeom prst="rect">
            <a:avLst/>
          </a:prstGeom>
          <a:noFill/>
          <a:ln/>
        </p:spPr>
        <p:txBody>
          <a:bodyPr wrap="square" lIns="0" tIns="0" rIns="0" bIns="0" rtlCol="0" anchor="ctr"/>
          <a:lstStyle/>
          <a:p>
            <a:pPr algn="ctr" indent="0" marL="0">
              <a:buNone/>
            </a:pPr>
            <a:r>
              <a:rPr lang="en-US" sz="1000" b="1" dirty="0">
                <a:solidFill>
                  <a:srgbClr val="FFFFFF"/>
                </a:solidFill>
              </a:rPr>
              <a:t>Month 36</a:t>
            </a:r>
            <a:endParaRPr lang="en-US" sz="1000" dirty="0"/>
          </a:p>
        </p:txBody>
      </p:sp>
      <p:sp>
        <p:nvSpPr>
          <p:cNvPr id="27" name="Chart title"/>
          <p:cNvSpPr txBox="1"/>
          <p:nvPr/>
        </p:nvSpPr>
        <p:spPr>
          <a:xfrm>
            <a:off x="640080" y="1371600"/>
            <a:ext cx="1828800" cy="228600"/>
          </a:xfrm>
          <a:prstGeom prst="rect">
            <a:avLst/>
          </a:prstGeom>
          <a:noFill/>
          <a:ln/>
        </p:spPr>
        <p:txBody>
          <a:bodyPr wrap="square" lIns="0" tIns="0" rIns="0" bIns="0" rtlCol="0" anchor="ctr"/>
          <a:lstStyle/>
          <a:p>
            <a:pPr indent="0" marL="0">
              <a:buNone/>
            </a:pPr>
            <a:r>
              <a:rPr lang="en-US" sz="1000" b="1" dirty="0">
                <a:solidFill>
                  <a:srgbClr val="A9A6BD"/>
                </a:solidFill>
              </a:rPr>
              <a:t>ARR (US$)</a:t>
            </a:r>
            <a:endParaRPr lang="en-US" sz="1000" dirty="0"/>
          </a:p>
        </p:txBody>
      </p:sp>
      <p:sp>
        <p:nvSpPr>
          <p:cNvPr id="28" name="Legend 0"/>
          <p:cNvSpPr/>
          <p:nvPr/>
        </p:nvSpPr>
        <p:spPr>
          <a:xfrm>
            <a:off x="2103120" y="1426464"/>
            <a:ext cx="128016" cy="128016"/>
          </a:xfrm>
          <a:prstGeom prst="rect">
            <a:avLst/>
          </a:prstGeom>
          <a:solidFill>
            <a:srgbClr val="4C3A8F"/>
          </a:solidFill>
          <a:ln w="6350">
            <a:solidFill>
              <a:srgbClr val="4C3A8F"/>
            </a:solidFill>
            <a:prstDash val="solid"/>
          </a:ln>
        </p:spPr>
      </p:sp>
      <p:sp>
        <p:nvSpPr>
          <p:cNvPr id="29" name="Legend text 0"/>
          <p:cNvSpPr txBox="1"/>
          <p:nvPr/>
        </p:nvSpPr>
        <p:spPr>
          <a:xfrm>
            <a:off x="2286000" y="1371600"/>
            <a:ext cx="1005840" cy="228600"/>
          </a:xfrm>
          <a:prstGeom prst="rect">
            <a:avLst/>
          </a:prstGeom>
          <a:noFill/>
          <a:ln/>
        </p:spPr>
        <p:txBody>
          <a:bodyPr wrap="square" lIns="0" tIns="0" rIns="0" bIns="0" rtlCol="0" anchor="ctr"/>
          <a:lstStyle/>
          <a:p>
            <a:pPr indent="0" marL="0">
              <a:buNone/>
            </a:pPr>
            <a:r>
              <a:rPr lang="en-US" sz="900" dirty="0">
                <a:solidFill>
                  <a:srgbClr val="D6D3E6"/>
                </a:solidFill>
              </a:rPr>
              <a:t>Conservative</a:t>
            </a:r>
            <a:endParaRPr lang="en-US" sz="900" dirty="0"/>
          </a:p>
        </p:txBody>
      </p:sp>
      <p:sp>
        <p:nvSpPr>
          <p:cNvPr id="30" name="Legend 1"/>
          <p:cNvSpPr/>
          <p:nvPr/>
        </p:nvSpPr>
        <p:spPr>
          <a:xfrm>
            <a:off x="3291840" y="1426464"/>
            <a:ext cx="128016" cy="128016"/>
          </a:xfrm>
          <a:prstGeom prst="rect">
            <a:avLst/>
          </a:prstGeom>
          <a:solidFill>
            <a:srgbClr val="34D399"/>
          </a:solidFill>
          <a:ln w="6350">
            <a:solidFill>
              <a:srgbClr val="34D399"/>
            </a:solidFill>
            <a:prstDash val="solid"/>
          </a:ln>
        </p:spPr>
      </p:sp>
      <p:sp>
        <p:nvSpPr>
          <p:cNvPr id="31" name="Legend text 1"/>
          <p:cNvSpPr txBox="1"/>
          <p:nvPr/>
        </p:nvSpPr>
        <p:spPr>
          <a:xfrm>
            <a:off x="3474720" y="1371600"/>
            <a:ext cx="1005840" cy="228600"/>
          </a:xfrm>
          <a:prstGeom prst="rect">
            <a:avLst/>
          </a:prstGeom>
          <a:noFill/>
          <a:ln/>
        </p:spPr>
        <p:txBody>
          <a:bodyPr wrap="square" lIns="0" tIns="0" rIns="0" bIns="0" rtlCol="0" anchor="ctr"/>
          <a:lstStyle/>
          <a:p>
            <a:pPr indent="0" marL="0">
              <a:buNone/>
            </a:pPr>
            <a:r>
              <a:rPr lang="en-US" sz="900" dirty="0">
                <a:solidFill>
                  <a:srgbClr val="D6D3E6"/>
                </a:solidFill>
              </a:rPr>
              <a:t>Base</a:t>
            </a:r>
            <a:endParaRPr lang="en-US" sz="900" dirty="0"/>
          </a:p>
        </p:txBody>
      </p:sp>
      <p:sp>
        <p:nvSpPr>
          <p:cNvPr id="32" name="Legend 2"/>
          <p:cNvSpPr/>
          <p:nvPr/>
        </p:nvSpPr>
        <p:spPr>
          <a:xfrm>
            <a:off x="4480560" y="1426464"/>
            <a:ext cx="128016" cy="128016"/>
          </a:xfrm>
          <a:prstGeom prst="rect">
            <a:avLst/>
          </a:prstGeom>
          <a:solidFill>
            <a:srgbClr val="C4B5FD"/>
          </a:solidFill>
          <a:ln w="6350">
            <a:solidFill>
              <a:srgbClr val="C4B5FD"/>
            </a:solidFill>
            <a:prstDash val="solid"/>
          </a:ln>
        </p:spPr>
      </p:sp>
      <p:sp>
        <p:nvSpPr>
          <p:cNvPr id="33" name="Legend text 2"/>
          <p:cNvSpPr txBox="1"/>
          <p:nvPr/>
        </p:nvSpPr>
        <p:spPr>
          <a:xfrm>
            <a:off x="4663440" y="1371600"/>
            <a:ext cx="1005840" cy="228600"/>
          </a:xfrm>
          <a:prstGeom prst="rect">
            <a:avLst/>
          </a:prstGeom>
          <a:noFill/>
          <a:ln/>
        </p:spPr>
        <p:txBody>
          <a:bodyPr wrap="square" lIns="0" tIns="0" rIns="0" bIns="0" rtlCol="0" anchor="ctr"/>
          <a:lstStyle/>
          <a:p>
            <a:pPr indent="0" marL="0">
              <a:buNone/>
            </a:pPr>
            <a:r>
              <a:rPr lang="en-US" sz="900" dirty="0">
                <a:solidFill>
                  <a:srgbClr val="D6D3E6"/>
                </a:solidFill>
              </a:rPr>
              <a:t>Optimistic</a:t>
            </a:r>
            <a:endParaRPr lang="en-US" sz="900" dirty="0"/>
          </a:p>
        </p:txBody>
      </p:sp>
      <p:sp>
        <p:nvSpPr>
          <p:cNvPr id="34" name="Projection facts"/>
          <p:cNvSpPr/>
          <p:nvPr/>
        </p:nvSpPr>
        <p:spPr>
          <a:xfrm>
            <a:off x="6035040" y="1371600"/>
            <a:ext cx="2468880" cy="3154680"/>
          </a:xfrm>
          <a:prstGeom prst="roundRect">
            <a:avLst>
              <a:gd name="adj" fmla="val 5185"/>
            </a:avLst>
          </a:prstGeom>
          <a:solidFill>
            <a:srgbClr val="1A1530"/>
          </a:solidFill>
          <a:ln w="9525">
            <a:solidFill>
              <a:srgbClr val="3B2F66"/>
            </a:solidFill>
            <a:prstDash val="solid"/>
          </a:ln>
        </p:spPr>
      </p:sp>
      <p:sp>
        <p:nvSpPr>
          <p:cNvPr id="35" name="Fact value 0"/>
          <p:cNvSpPr txBox="1"/>
          <p:nvPr/>
        </p:nvSpPr>
        <p:spPr>
          <a:xfrm>
            <a:off x="6263640" y="1481328"/>
            <a:ext cx="2103120" cy="384048"/>
          </a:xfrm>
          <a:prstGeom prst="rect">
            <a:avLst/>
          </a:prstGeom>
          <a:noFill/>
          <a:ln/>
        </p:spPr>
        <p:txBody>
          <a:bodyPr wrap="square" lIns="0" tIns="0" rIns="0" bIns="0" rtlCol="0" anchor="ctr"/>
          <a:lstStyle/>
          <a:p>
            <a:pPr indent="0" marL="0">
              <a:buNone/>
            </a:pPr>
            <a:r>
              <a:rPr lang="en-US" sz="2100" b="1" dirty="0">
                <a:solidFill>
                  <a:srgbClr val="34D399"/>
                </a:solidFill>
                <a:latin typeface="Arial" pitchFamily="34" charset="0"/>
                <a:ea typeface="Arial" pitchFamily="34" charset="-122"/>
                <a:cs typeface="Arial" pitchFamily="34" charset="-120"/>
              </a:rPr>
              <a:t>4,383</a:t>
            </a:r>
            <a:endParaRPr lang="en-US" sz="2100" dirty="0"/>
          </a:p>
        </p:txBody>
      </p:sp>
      <p:sp>
        <p:nvSpPr>
          <p:cNvPr id="36" name="Fact label 0"/>
          <p:cNvSpPr txBox="1"/>
          <p:nvPr/>
        </p:nvSpPr>
        <p:spPr>
          <a:xfrm>
            <a:off x="6263640" y="1856232"/>
            <a:ext cx="2103120" cy="274320"/>
          </a:xfrm>
          <a:prstGeom prst="rect">
            <a:avLst/>
          </a:prstGeom>
          <a:noFill/>
          <a:ln/>
        </p:spPr>
        <p:txBody>
          <a:bodyPr wrap="square" lIns="0" tIns="0" rIns="0" bIns="0" rtlCol="0" anchor="ctr"/>
          <a:lstStyle/>
          <a:p>
            <a:pPr indent="0" marL="0">
              <a:buNone/>
            </a:pPr>
            <a:r>
              <a:rPr lang="en-US" sz="950" dirty="0">
                <a:solidFill>
                  <a:srgbClr val="A9A6BD"/>
                </a:solidFill>
              </a:rPr>
              <a:t>paying businesses at month 36 (base)</a:t>
            </a:r>
            <a:endParaRPr lang="en-US" sz="950" dirty="0"/>
          </a:p>
        </p:txBody>
      </p:sp>
      <p:sp>
        <p:nvSpPr>
          <p:cNvPr id="37" name="Fact value 1"/>
          <p:cNvSpPr txBox="1"/>
          <p:nvPr/>
        </p:nvSpPr>
        <p:spPr>
          <a:xfrm>
            <a:off x="6263640" y="2240280"/>
            <a:ext cx="2103120" cy="384048"/>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Arial" pitchFamily="34" charset="-122"/>
                <a:cs typeface="Arial" pitchFamily="34" charset="-120"/>
              </a:rPr>
              <a:t>0.19%</a:t>
            </a:r>
            <a:endParaRPr lang="en-US" sz="2100" dirty="0"/>
          </a:p>
        </p:txBody>
      </p:sp>
      <p:sp>
        <p:nvSpPr>
          <p:cNvPr id="38" name="Fact label 1"/>
          <p:cNvSpPr txBox="1"/>
          <p:nvPr/>
        </p:nvSpPr>
        <p:spPr>
          <a:xfrm>
            <a:off x="6263640" y="2615184"/>
            <a:ext cx="2103120" cy="274320"/>
          </a:xfrm>
          <a:prstGeom prst="rect">
            <a:avLst/>
          </a:prstGeom>
          <a:noFill/>
          <a:ln/>
        </p:spPr>
        <p:txBody>
          <a:bodyPr wrap="square" lIns="0" tIns="0" rIns="0" bIns="0" rtlCol="0" anchor="ctr"/>
          <a:lstStyle/>
          <a:p>
            <a:pPr indent="0" marL="0">
              <a:buNone/>
            </a:pPr>
            <a:r>
              <a:rPr lang="en-US" sz="950" dirty="0">
                <a:solidFill>
                  <a:srgbClr val="A9A6BD"/>
                </a:solidFill>
              </a:rPr>
              <a:t>of Colombia’s 2.3M micro-businesses</a:t>
            </a:r>
            <a:endParaRPr lang="en-US" sz="950" dirty="0"/>
          </a:p>
        </p:txBody>
      </p:sp>
      <p:sp>
        <p:nvSpPr>
          <p:cNvPr id="39" name="Fact value 2"/>
          <p:cNvSpPr txBox="1"/>
          <p:nvPr/>
        </p:nvSpPr>
        <p:spPr>
          <a:xfrm>
            <a:off x="6263640" y="2999232"/>
            <a:ext cx="2103120" cy="384048"/>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Arial" pitchFamily="34" charset="-122"/>
                <a:cs typeface="Arial" pitchFamily="34" charset="-120"/>
              </a:rPr>
              <a:t>Month 27</a:t>
            </a:r>
            <a:endParaRPr lang="en-US" sz="2100" dirty="0"/>
          </a:p>
        </p:txBody>
      </p:sp>
      <p:sp>
        <p:nvSpPr>
          <p:cNvPr id="40" name="Fact label 2"/>
          <p:cNvSpPr txBox="1"/>
          <p:nvPr/>
        </p:nvSpPr>
        <p:spPr>
          <a:xfrm>
            <a:off x="6263640" y="3374136"/>
            <a:ext cx="2103120" cy="274320"/>
          </a:xfrm>
          <a:prstGeom prst="rect">
            <a:avLst/>
          </a:prstGeom>
          <a:noFill/>
          <a:ln/>
        </p:spPr>
        <p:txBody>
          <a:bodyPr wrap="square" lIns="0" tIns="0" rIns="0" bIns="0" rtlCol="0" anchor="ctr"/>
          <a:lstStyle/>
          <a:p>
            <a:pPr indent="0" marL="0">
              <a:buNone/>
            </a:pPr>
            <a:r>
              <a:rPr lang="en-US" sz="950" dirty="0">
                <a:solidFill>
                  <a:srgbClr val="A9A6BD"/>
                </a:solidFill>
              </a:rPr>
              <a:t>operating break-even (base)</a:t>
            </a:r>
            <a:endParaRPr lang="en-US" sz="950" dirty="0"/>
          </a:p>
        </p:txBody>
      </p:sp>
      <p:sp>
        <p:nvSpPr>
          <p:cNvPr id="41" name="Fact value 3"/>
          <p:cNvSpPr txBox="1"/>
          <p:nvPr/>
        </p:nvSpPr>
        <p:spPr>
          <a:xfrm>
            <a:off x="6263640" y="3758184"/>
            <a:ext cx="2103120" cy="384048"/>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Arial" pitchFamily="34" charset="-122"/>
                <a:cs typeface="Arial" pitchFamily="34" charset="-120"/>
              </a:rPr>
              <a:t>US$315K</a:t>
            </a:r>
            <a:endParaRPr lang="en-US" sz="2100" dirty="0"/>
          </a:p>
        </p:txBody>
      </p:sp>
      <p:sp>
        <p:nvSpPr>
          <p:cNvPr id="42" name="Fact label 3"/>
          <p:cNvSpPr txBox="1"/>
          <p:nvPr/>
        </p:nvSpPr>
        <p:spPr>
          <a:xfrm>
            <a:off x="6263640" y="4133088"/>
            <a:ext cx="2103120" cy="274320"/>
          </a:xfrm>
          <a:prstGeom prst="rect">
            <a:avLst/>
          </a:prstGeom>
          <a:noFill/>
          <a:ln/>
        </p:spPr>
        <p:txBody>
          <a:bodyPr wrap="square" lIns="0" tIns="0" rIns="0" bIns="0" rtlCol="0" anchor="ctr"/>
          <a:lstStyle/>
          <a:p>
            <a:pPr indent="0" marL="0">
              <a:buNone/>
            </a:pPr>
            <a:r>
              <a:rPr lang="en-US" sz="950" dirty="0">
                <a:solidFill>
                  <a:srgbClr val="A9A6BD"/>
                </a:solidFill>
              </a:rPr>
              <a:t>cash needed to break-even (base)</a:t>
            </a:r>
            <a:endParaRPr lang="en-US" sz="950" dirty="0"/>
          </a:p>
        </p:txBody>
      </p:sp>
      <p:sp>
        <p:nvSpPr>
          <p:cNvPr id="43" name="Source"/>
          <p:cNvSpPr txBox="1"/>
          <p:nvPr/>
        </p:nvSpPr>
        <p:spPr>
          <a:xfrm>
            <a:off x="640080" y="4773168"/>
            <a:ext cx="7498080" cy="228600"/>
          </a:xfrm>
          <a:prstGeom prst="rect">
            <a:avLst/>
          </a:prstGeom>
          <a:noFill/>
          <a:ln/>
        </p:spPr>
        <p:txBody>
          <a:bodyPr wrap="square" lIns="0" tIns="0" rIns="0" bIns="0" rtlCol="0" anchor="ctr"/>
          <a:lstStyle/>
          <a:p>
            <a:pPr indent="0" marL="0">
              <a:buNone/>
            </a:pPr>
            <a:r>
              <a:rPr lang="en-US" sz="850" dirty="0">
                <a:solidFill>
                  <a:srgbClr val="6E6A85"/>
                </a:solidFill>
              </a:rPr>
              <a:t>Source: Vento financial model — estimates, not results. Churn 5/4/3% and new-customer growth 8/10/12% per month; costs from the hiring plan.</a:t>
            </a:r>
            <a:endParaRPr lang="en-US" sz="85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A8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Background light"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Kicker"/>
          <p:cNvSpPr txBox="1"/>
          <p:nvPr/>
        </p:nvSpPr>
        <p:spPr>
          <a:xfrm>
            <a:off x="640080" y="292608"/>
            <a:ext cx="5486400" cy="256032"/>
          </a:xfrm>
          <a:prstGeom prst="rect">
            <a:avLst/>
          </a:prstGeom>
          <a:noFill/>
          <a:ln/>
        </p:spPr>
        <p:txBody>
          <a:bodyPr wrap="square" lIns="0" tIns="0" rIns="0" bIns="0" rtlCol="0" anchor="ctr"/>
          <a:lstStyle/>
          <a:p>
            <a:pPr indent="0" marL="0">
              <a:buNone/>
            </a:pPr>
            <a:r>
              <a:rPr lang="en-US" sz="1050" b="1" spc="300" kern="0" dirty="0">
                <a:solidFill>
                  <a:srgbClr val="34D399"/>
                </a:solidFill>
              </a:rPr>
              <a:t>ROADMAP</a:t>
            </a:r>
            <a:endParaRPr lang="en-US" sz="1050" dirty="0"/>
          </a:p>
        </p:txBody>
      </p:sp>
      <p:sp>
        <p:nvSpPr>
          <p:cNvPr id="4" name="Text 0"/>
          <p:cNvSpPr/>
          <p:nvPr>
            <p:ph idx="100" type="title" hasCustomPrompt="1"/>
          </p:nvPr>
        </p:nvSpPr>
        <p:spPr>
          <a:xfrm>
            <a:off x="640080" y="566928"/>
            <a:ext cx="7863840" cy="640080"/>
          </a:xfrm>
          <a:prstGeom prst="rect">
            <a:avLst/>
          </a:prstGeom>
          <a:noFill/>
          <a:ln/>
        </p:spPr>
        <p:txBody>
          <a:bodyPr wrap="square" lIns="0" tIns="0" rIns="0" bIns="0" rtlCol="0" anchor="ctr"/>
          <a:lstStyle/>
          <a:p>
            <a:pPr indent="0" marL="0">
              <a:buNone/>
            </a:pPr>
            <a:r>
              <a:rPr lang="en-US" sz="3000" b="1" dirty="0">
                <a:solidFill>
                  <a:schemeClr val="bg1"/>
                </a:solidFill>
              </a:rPr>
              <a:t>From app to the voice of every counter</a:t>
            </a:r>
            <a:endParaRPr lang="en-US" sz="3000" dirty="0"/>
          </a:p>
        </p:txBody>
      </p:sp>
      <p:sp>
        <p:nvSpPr>
          <p:cNvPr id="5" name="Timeline"/>
          <p:cNvSpPr/>
          <p:nvPr/>
        </p:nvSpPr>
        <p:spPr>
          <a:xfrm>
            <a:off x="822960" y="1627632"/>
            <a:ext cx="7498080" cy="0"/>
          </a:xfrm>
          <a:prstGeom prst="line">
            <a:avLst/>
          </a:prstGeom>
          <a:noFill/>
          <a:ln w="25400">
            <a:solidFill>
              <a:srgbClr val="5B47A8"/>
            </a:solidFill>
            <a:prstDash val="solid"/>
          </a:ln>
        </p:spPr>
      </p:sp>
      <p:sp>
        <p:nvSpPr>
          <p:cNvPr id="6" name="Milestone LIVE"/>
          <p:cNvSpPr/>
          <p:nvPr/>
        </p:nvSpPr>
        <p:spPr>
          <a:xfrm>
            <a:off x="749808" y="1481328"/>
            <a:ext cx="292608" cy="292608"/>
          </a:xfrm>
          <a:prstGeom prst="ellipse">
            <a:avLst/>
          </a:prstGeom>
          <a:solidFill>
            <a:srgbClr val="34D399"/>
          </a:solidFill>
          <a:ln w="25400">
            <a:solidFill>
              <a:srgbClr val="0B0A12"/>
            </a:solidFill>
            <a:prstDash val="solid"/>
          </a:ln>
        </p:spPr>
      </p:sp>
      <p:sp>
        <p:nvSpPr>
          <p:cNvPr id="7" name="Phase LIVE"/>
          <p:cNvSpPr txBox="1"/>
          <p:nvPr/>
        </p:nvSpPr>
        <p:spPr>
          <a:xfrm>
            <a:off x="1170432" y="1463040"/>
            <a:ext cx="1828800" cy="329184"/>
          </a:xfrm>
          <a:prstGeom prst="rect">
            <a:avLst/>
          </a:prstGeom>
          <a:noFill/>
          <a:ln/>
        </p:spPr>
        <p:txBody>
          <a:bodyPr wrap="square" lIns="0" tIns="0" rIns="0" bIns="0" rtlCol="0" anchor="ctr"/>
          <a:lstStyle/>
          <a:p>
            <a:pPr indent="0" marL="0">
              <a:buNone/>
            </a:pPr>
            <a:r>
              <a:rPr lang="en-US" sz="1400" b="1" spc="200" kern="0" dirty="0">
                <a:solidFill>
                  <a:srgbClr val="34D399"/>
                </a:solidFill>
                <a:latin typeface="Arial" pitchFamily="34" charset="0"/>
                <a:ea typeface="Arial" pitchFamily="34" charset="-122"/>
                <a:cs typeface="Arial" pitchFamily="34" charset="-120"/>
              </a:rPr>
              <a:t>LIVE</a:t>
            </a:r>
            <a:endParaRPr lang="en-US" sz="1400" dirty="0"/>
          </a:p>
        </p:txBody>
      </p:sp>
      <p:sp>
        <p:nvSpPr>
          <p:cNvPr id="8" name="Phase card LIVE"/>
          <p:cNvSpPr/>
          <p:nvPr/>
        </p:nvSpPr>
        <p:spPr>
          <a:xfrm>
            <a:off x="640080" y="2011680"/>
            <a:ext cx="2514600" cy="2514600"/>
          </a:xfrm>
          <a:prstGeom prst="roundRect">
            <a:avLst>
              <a:gd name="adj" fmla="val 5091"/>
            </a:avLst>
          </a:prstGeom>
          <a:solidFill>
            <a:srgbClr val="10251D"/>
          </a:solidFill>
          <a:ln w="9525">
            <a:solidFill>
              <a:srgbClr val="1F5A44"/>
            </a:solidFill>
            <a:prstDash val="solid"/>
          </a:ln>
        </p:spPr>
      </p:sp>
      <p:sp>
        <p:nvSpPr>
          <p:cNvPr id="9" name="Phase items LIVE"/>
          <p:cNvSpPr txBox="1"/>
          <p:nvPr/>
        </p:nvSpPr>
        <p:spPr>
          <a:xfrm>
            <a:off x="822960" y="2194560"/>
            <a:ext cx="2194560" cy="21945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2F1F7"/>
                </a:solidFill>
              </a:rPr>
              <a:t>Voice &amp; “Hola Vento”</a:t>
            </a:r>
            <a:endParaRPr lang="en-US" sz="1200" dirty="0"/>
          </a:p>
          <a:p>
            <a:pPr marL="342900" indent="-342900">
              <a:spcAft>
                <a:spcPts val="800"/>
              </a:spcAft>
              <a:buSzPct val="100000"/>
              <a:buChar char="•"/>
            </a:pPr>
            <a:r>
              <a:rPr lang="en-US" sz="1200" dirty="0">
                <a:solidFill>
                  <a:srgbClr val="F2F1F7"/>
                </a:solidFill>
              </a:rPr>
              <a:t>Verified payments</a:t>
            </a:r>
            <a:endParaRPr lang="en-US" sz="1200" dirty="0"/>
          </a:p>
          <a:p>
            <a:pPr marL="342900" indent="-342900">
              <a:spcAft>
                <a:spcPts val="800"/>
              </a:spcAft>
              <a:buSzPct val="100000"/>
              <a:buChar char="•"/>
            </a:pPr>
            <a:r>
              <a:rPr lang="en-US" sz="1200" dirty="0">
                <a:solidFill>
                  <a:srgbClr val="F2F1F7"/>
                </a:solidFill>
              </a:rPr>
              <a:t>Vento AI · QR · TV music</a:t>
            </a:r>
            <a:endParaRPr lang="en-US" sz="1200" dirty="0"/>
          </a:p>
          <a:p>
            <a:pPr marL="342900" indent="-342900">
              <a:spcAft>
                <a:spcPts val="800"/>
              </a:spcAft>
              <a:buSzPct val="100000"/>
              <a:buChar char="•"/>
            </a:pPr>
            <a:r>
              <a:rPr lang="en-US" sz="1200" dirty="0">
                <a:solidFill>
                  <a:srgbClr val="F2F1F7"/>
                </a:solidFill>
              </a:rPr>
              <a:t>Android + web + admin console</a:t>
            </a:r>
            <a:endParaRPr lang="en-US" sz="1200" dirty="0"/>
          </a:p>
        </p:txBody>
      </p:sp>
      <p:sp>
        <p:nvSpPr>
          <p:cNvPr id="10" name="Milestone NEXT"/>
          <p:cNvSpPr/>
          <p:nvPr/>
        </p:nvSpPr>
        <p:spPr>
          <a:xfrm>
            <a:off x="3447288" y="1481328"/>
            <a:ext cx="292608" cy="292608"/>
          </a:xfrm>
          <a:prstGeom prst="ellipse">
            <a:avLst/>
          </a:prstGeom>
          <a:solidFill>
            <a:srgbClr val="C4B5FD"/>
          </a:solidFill>
          <a:ln w="25400">
            <a:solidFill>
              <a:srgbClr val="0B0A12"/>
            </a:solidFill>
            <a:prstDash val="solid"/>
          </a:ln>
        </p:spPr>
      </p:sp>
      <p:sp>
        <p:nvSpPr>
          <p:cNvPr id="11" name="Phase NEXT"/>
          <p:cNvSpPr txBox="1"/>
          <p:nvPr/>
        </p:nvSpPr>
        <p:spPr>
          <a:xfrm>
            <a:off x="3867912" y="1463040"/>
            <a:ext cx="1828800" cy="329184"/>
          </a:xfrm>
          <a:prstGeom prst="rect">
            <a:avLst/>
          </a:prstGeom>
          <a:noFill/>
          <a:ln/>
        </p:spPr>
        <p:txBody>
          <a:bodyPr wrap="square" lIns="0" tIns="0" rIns="0" bIns="0" rtlCol="0" anchor="ctr"/>
          <a:lstStyle/>
          <a:p>
            <a:pPr indent="0" marL="0">
              <a:buNone/>
            </a:pPr>
            <a:r>
              <a:rPr lang="en-US" sz="1400" b="1" spc="200" kern="0" dirty="0">
                <a:solidFill>
                  <a:srgbClr val="C4B5FD"/>
                </a:solidFill>
                <a:latin typeface="Arial" pitchFamily="34" charset="0"/>
                <a:ea typeface="Arial" pitchFamily="34" charset="-122"/>
                <a:cs typeface="Arial" pitchFamily="34" charset="-120"/>
              </a:rPr>
              <a:t>NEXT</a:t>
            </a:r>
            <a:endParaRPr lang="en-US" sz="1400" dirty="0"/>
          </a:p>
        </p:txBody>
      </p:sp>
      <p:sp>
        <p:nvSpPr>
          <p:cNvPr id="12" name="Phase card NEXT"/>
          <p:cNvSpPr/>
          <p:nvPr/>
        </p:nvSpPr>
        <p:spPr>
          <a:xfrm>
            <a:off x="3337560" y="2011680"/>
            <a:ext cx="2514600" cy="2514600"/>
          </a:xfrm>
          <a:prstGeom prst="roundRect">
            <a:avLst>
              <a:gd name="adj" fmla="val 5091"/>
            </a:avLst>
          </a:prstGeom>
          <a:solidFill>
            <a:srgbClr val="17152A"/>
          </a:solidFill>
          <a:ln w="9525">
            <a:solidFill>
              <a:srgbClr val="2E2A48"/>
            </a:solidFill>
            <a:prstDash val="solid"/>
          </a:ln>
        </p:spPr>
      </p:sp>
      <p:sp>
        <p:nvSpPr>
          <p:cNvPr id="13" name="Phase items NEXT"/>
          <p:cNvSpPr txBox="1"/>
          <p:nvPr/>
        </p:nvSpPr>
        <p:spPr>
          <a:xfrm>
            <a:off x="3520440" y="2194560"/>
            <a:ext cx="2194560" cy="21945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2F1F7"/>
                </a:solidFill>
              </a:rPr>
              <a:t>E-invoicing (DIAN)</a:t>
            </a:r>
            <a:endParaRPr lang="en-US" sz="1200" dirty="0"/>
          </a:p>
          <a:p>
            <a:pPr marL="342900" indent="-342900">
              <a:spcAft>
                <a:spcPts val="800"/>
              </a:spcAft>
              <a:buSzPct val="100000"/>
              <a:buChar char="•"/>
            </a:pPr>
            <a:r>
              <a:rPr lang="en-US" sz="1200" dirty="0">
                <a:solidFill>
                  <a:srgbClr val="F2F1F7"/>
                </a:solidFill>
              </a:rPr>
              <a:t>Pay at the table from the QR</a:t>
            </a:r>
            <a:endParaRPr lang="en-US" sz="1200" dirty="0"/>
          </a:p>
          <a:p>
            <a:pPr marL="342900" indent="-342900">
              <a:spcAft>
                <a:spcPts val="800"/>
              </a:spcAft>
              <a:buSzPct val="100000"/>
              <a:buChar char="•"/>
            </a:pPr>
            <a:r>
              <a:rPr lang="en-US" sz="1200" dirty="0">
                <a:solidFill>
                  <a:srgbClr val="F2F1F7"/>
                </a:solidFill>
              </a:rPr>
              <a:t>Easy mode for older owners</a:t>
            </a:r>
            <a:endParaRPr lang="en-US" sz="1200" dirty="0"/>
          </a:p>
          <a:p>
            <a:pPr marL="342900" indent="-342900">
              <a:spcAft>
                <a:spcPts val="800"/>
              </a:spcAft>
              <a:buSzPct val="100000"/>
              <a:buChar char="•"/>
            </a:pPr>
            <a:r>
              <a:rPr lang="en-US" sz="1200" dirty="0">
                <a:solidFill>
                  <a:srgbClr val="F2F1F7"/>
                </a:solidFill>
              </a:rPr>
              <a:t>Loyalty &amp; bookings</a:t>
            </a:r>
            <a:endParaRPr lang="en-US" sz="1200" dirty="0"/>
          </a:p>
        </p:txBody>
      </p:sp>
      <p:sp>
        <p:nvSpPr>
          <p:cNvPr id="14" name="Milestone VISION"/>
          <p:cNvSpPr/>
          <p:nvPr/>
        </p:nvSpPr>
        <p:spPr>
          <a:xfrm>
            <a:off x="6144768" y="1481328"/>
            <a:ext cx="292608" cy="292608"/>
          </a:xfrm>
          <a:prstGeom prst="ellipse">
            <a:avLst/>
          </a:prstGeom>
          <a:solidFill>
            <a:srgbClr val="FFFFFF"/>
          </a:solidFill>
          <a:ln w="25400">
            <a:solidFill>
              <a:srgbClr val="0B0A12"/>
            </a:solidFill>
            <a:prstDash val="solid"/>
          </a:ln>
        </p:spPr>
      </p:sp>
      <p:sp>
        <p:nvSpPr>
          <p:cNvPr id="15" name="Phase VISION"/>
          <p:cNvSpPr txBox="1"/>
          <p:nvPr/>
        </p:nvSpPr>
        <p:spPr>
          <a:xfrm>
            <a:off x="6565392" y="1463040"/>
            <a:ext cx="1828800" cy="329184"/>
          </a:xfrm>
          <a:prstGeom prst="rect">
            <a:avLst/>
          </a:prstGeom>
          <a:noFill/>
          <a:ln/>
        </p:spPr>
        <p:txBody>
          <a:bodyPr wrap="square" lIns="0" tIns="0" rIns="0" bIns="0" rtlCol="0" anchor="ctr"/>
          <a:lstStyle/>
          <a:p>
            <a:pPr indent="0" marL="0">
              <a:buNone/>
            </a:pPr>
            <a:r>
              <a:rPr lang="en-US" sz="1400" b="1" spc="200" kern="0" dirty="0">
                <a:solidFill>
                  <a:srgbClr val="FFFFFF"/>
                </a:solidFill>
                <a:latin typeface="Arial" pitchFamily="34" charset="0"/>
                <a:ea typeface="Arial" pitchFamily="34" charset="-122"/>
                <a:cs typeface="Arial" pitchFamily="34" charset="-120"/>
              </a:rPr>
              <a:t>VISION</a:t>
            </a:r>
            <a:endParaRPr lang="en-US" sz="1400" dirty="0"/>
          </a:p>
        </p:txBody>
      </p:sp>
      <p:sp>
        <p:nvSpPr>
          <p:cNvPr id="16" name="Phase card VISION"/>
          <p:cNvSpPr/>
          <p:nvPr/>
        </p:nvSpPr>
        <p:spPr>
          <a:xfrm>
            <a:off x="6035040" y="2011680"/>
            <a:ext cx="2514600" cy="2514600"/>
          </a:xfrm>
          <a:prstGeom prst="roundRect">
            <a:avLst>
              <a:gd name="adj" fmla="val 5091"/>
            </a:avLst>
          </a:prstGeom>
          <a:solidFill>
            <a:srgbClr val="17152A"/>
          </a:solidFill>
          <a:ln w="9525">
            <a:solidFill>
              <a:srgbClr val="2E2A48"/>
            </a:solidFill>
            <a:prstDash val="solid"/>
          </a:ln>
        </p:spPr>
      </p:sp>
      <p:sp>
        <p:nvSpPr>
          <p:cNvPr id="17" name="Phase items VISION"/>
          <p:cNvSpPr txBox="1"/>
          <p:nvPr/>
        </p:nvSpPr>
        <p:spPr>
          <a:xfrm>
            <a:off x="6217920" y="2194560"/>
            <a:ext cx="2194560" cy="21945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2F1F7"/>
                </a:solidFill>
              </a:rPr>
              <a:t>Vento with a screen: a dedicated voice device for the counter</a:t>
            </a:r>
            <a:endParaRPr lang="en-US" sz="1200" dirty="0"/>
          </a:p>
          <a:p>
            <a:pPr marL="342900" indent="-342900">
              <a:spcAft>
                <a:spcPts val="800"/>
              </a:spcAft>
              <a:buSzPct val="100000"/>
              <a:buChar char="•"/>
            </a:pPr>
            <a:r>
              <a:rPr lang="en-US" sz="1200" dirty="0">
                <a:solidFill>
                  <a:srgbClr val="F2F1F7"/>
                </a:solidFill>
              </a:rPr>
              <a:t>Every sector: salons, hotels, workshops, events</a:t>
            </a:r>
            <a:endParaRPr lang="en-US" sz="1200" dirty="0"/>
          </a:p>
          <a:p>
            <a:pPr marL="342900" indent="-342900">
              <a:spcAft>
                <a:spcPts val="800"/>
              </a:spcAft>
              <a:buSzPct val="100000"/>
              <a:buChar char="•"/>
            </a:pPr>
            <a:r>
              <a:rPr lang="en-US" sz="1200" dirty="0">
                <a:solidFill>
                  <a:srgbClr val="F2F1F7"/>
                </a:solidFill>
              </a:rPr>
              <a:t>LatAm expansion</a:t>
            </a:r>
            <a:endParaRPr lang="en-US" sz="120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A8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Background light"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Kicker"/>
          <p:cNvSpPr txBox="1"/>
          <p:nvPr/>
        </p:nvSpPr>
        <p:spPr>
          <a:xfrm>
            <a:off x="640080" y="292608"/>
            <a:ext cx="5486400" cy="256032"/>
          </a:xfrm>
          <a:prstGeom prst="rect">
            <a:avLst/>
          </a:prstGeom>
          <a:noFill/>
          <a:ln/>
        </p:spPr>
        <p:txBody>
          <a:bodyPr wrap="square" lIns="0" tIns="0" rIns="0" bIns="0" rtlCol="0" anchor="ctr"/>
          <a:lstStyle/>
          <a:p>
            <a:pPr indent="0" marL="0">
              <a:buNone/>
            </a:pPr>
            <a:r>
              <a:rPr lang="en-US" sz="1050" b="1" spc="300" kern="0" dirty="0">
                <a:solidFill>
                  <a:srgbClr val="C4B5FD"/>
                </a:solidFill>
              </a:rPr>
              <a:t>VISION</a:t>
            </a:r>
            <a:endParaRPr lang="en-US" sz="1050" dirty="0"/>
          </a:p>
        </p:txBody>
      </p:sp>
      <p:sp>
        <p:nvSpPr>
          <p:cNvPr id="4" name="Text 0"/>
          <p:cNvSpPr/>
          <p:nvPr>
            <p:ph idx="100" type="title" hasCustomPrompt="1"/>
          </p:nvPr>
        </p:nvSpPr>
        <p:spPr>
          <a:xfrm>
            <a:off x="640080" y="566928"/>
            <a:ext cx="7863840" cy="640080"/>
          </a:xfrm>
          <a:prstGeom prst="rect">
            <a:avLst/>
          </a:prstGeom>
          <a:noFill/>
          <a:ln/>
        </p:spPr>
        <p:txBody>
          <a:bodyPr wrap="square" lIns="0" tIns="0" rIns="0" bIns="0" rtlCol="0" anchor="ctr"/>
          <a:lstStyle/>
          <a:p>
            <a:pPr indent="0" marL="0">
              <a:buNone/>
            </a:pPr>
            <a:r>
              <a:rPr lang="en-US" sz="3000" b="1" dirty="0">
                <a:solidFill>
                  <a:schemeClr val="bg1"/>
                </a:solidFill>
              </a:rPr>
              <a:t>Vento with a screen</a:t>
            </a:r>
            <a:endParaRPr lang="en-US" sz="3000" dirty="0"/>
          </a:p>
        </p:txBody>
      </p:sp>
      <p:sp>
        <p:nvSpPr>
          <p:cNvPr id="5" name="Device screen frame"/>
          <p:cNvSpPr/>
          <p:nvPr/>
        </p:nvSpPr>
        <p:spPr>
          <a:xfrm>
            <a:off x="777240" y="1417320"/>
            <a:ext cx="3840480" cy="2423160"/>
          </a:xfrm>
          <a:prstGeom prst="roundRect">
            <a:avLst>
              <a:gd name="adj" fmla="val 6792"/>
            </a:avLst>
          </a:prstGeom>
          <a:solidFill>
            <a:srgbClr val="05050A"/>
          </a:solidFill>
          <a:ln w="19050">
            <a:solidFill>
              <a:srgbClr val="5B47A8"/>
            </a:solidFill>
            <a:prstDash val="solid"/>
          </a:ln>
          <a:effectLst>
            <a:outerShdw sx="100000" sy="100000" kx="0" ky="0" algn="bl" rotWithShape="0" blurRad="330200" dist="38100" dir="5400000">
              <a:srgbClr val="7C3AED">
                <a:alpha val="50000"/>
              </a:srgbClr>
            </a:outerShdw>
          </a:effectLst>
        </p:spPr>
      </p:sp>
      <p:pic>
        <p:nvPicPr>
          <p:cNvPr id="6" name="Device screen" descr="preencoded.png">    </p:cNvPr>
          <p:cNvPicPr>
            <a:picLocks noChangeAspect="1"/>
          </p:cNvPicPr>
          <p:nvPr/>
        </p:nvPicPr>
        <p:blipFill>
          <a:blip r:embed="rId2"/>
          <a:stretch>
            <a:fillRect/>
          </a:stretch>
        </p:blipFill>
        <p:spPr>
          <a:xfrm>
            <a:off x="914400" y="1554480"/>
            <a:ext cx="3566160" cy="2148840"/>
          </a:xfrm>
          <a:prstGeom prst="rect">
            <a:avLst/>
          </a:prstGeom>
        </p:spPr>
      </p:pic>
      <p:sp>
        <p:nvSpPr>
          <p:cNvPr id="7" name="Device speaker"/>
          <p:cNvSpPr/>
          <p:nvPr/>
        </p:nvSpPr>
        <p:spPr>
          <a:xfrm>
            <a:off x="594360" y="3749040"/>
            <a:ext cx="4206240" cy="777240"/>
          </a:xfrm>
          <a:prstGeom prst="roundRect">
            <a:avLst>
              <a:gd name="adj" fmla="val 35294"/>
            </a:avLst>
          </a:prstGeom>
          <a:solidFill>
            <a:srgbClr val="17152A"/>
          </a:solidFill>
          <a:ln w="12700">
            <a:solidFill>
              <a:srgbClr val="5B47A8"/>
            </a:solidFill>
            <a:prstDash val="solid"/>
          </a:ln>
        </p:spPr>
      </p:sp>
      <p:sp>
        <p:nvSpPr>
          <p:cNvPr id="8" name="Grille 1"/>
          <p:cNvSpPr/>
          <p:nvPr/>
        </p:nvSpPr>
        <p:spPr>
          <a:xfrm>
            <a:off x="960120" y="4087368"/>
            <a:ext cx="91440" cy="91440"/>
          </a:xfrm>
          <a:prstGeom prst="ellipse">
            <a:avLst/>
          </a:prstGeom>
          <a:solidFill>
            <a:srgbClr val="5B47A8"/>
          </a:solidFill>
          <a:ln w="6350">
            <a:solidFill>
              <a:srgbClr val="5B47A8"/>
            </a:solidFill>
            <a:prstDash val="solid"/>
          </a:ln>
        </p:spPr>
      </p:sp>
      <p:sp>
        <p:nvSpPr>
          <p:cNvPr id="9" name="Grille 2"/>
          <p:cNvSpPr/>
          <p:nvPr/>
        </p:nvSpPr>
        <p:spPr>
          <a:xfrm>
            <a:off x="1216152" y="4087368"/>
            <a:ext cx="91440" cy="91440"/>
          </a:xfrm>
          <a:prstGeom prst="ellipse">
            <a:avLst/>
          </a:prstGeom>
          <a:solidFill>
            <a:srgbClr val="5B47A8"/>
          </a:solidFill>
          <a:ln w="6350">
            <a:solidFill>
              <a:srgbClr val="5B47A8"/>
            </a:solidFill>
            <a:prstDash val="solid"/>
          </a:ln>
        </p:spPr>
      </p:sp>
      <p:sp>
        <p:nvSpPr>
          <p:cNvPr id="10" name="Grille 3"/>
          <p:cNvSpPr/>
          <p:nvPr/>
        </p:nvSpPr>
        <p:spPr>
          <a:xfrm>
            <a:off x="1472184" y="4087368"/>
            <a:ext cx="91440" cy="91440"/>
          </a:xfrm>
          <a:prstGeom prst="ellipse">
            <a:avLst/>
          </a:prstGeom>
          <a:solidFill>
            <a:srgbClr val="5B47A8"/>
          </a:solidFill>
          <a:ln w="6350">
            <a:solidFill>
              <a:srgbClr val="5B47A8"/>
            </a:solidFill>
            <a:prstDash val="solid"/>
          </a:ln>
        </p:spPr>
      </p:sp>
      <p:sp>
        <p:nvSpPr>
          <p:cNvPr id="11" name="Grille 4"/>
          <p:cNvSpPr/>
          <p:nvPr/>
        </p:nvSpPr>
        <p:spPr>
          <a:xfrm>
            <a:off x="1728216" y="4087368"/>
            <a:ext cx="91440" cy="91440"/>
          </a:xfrm>
          <a:prstGeom prst="ellipse">
            <a:avLst/>
          </a:prstGeom>
          <a:solidFill>
            <a:srgbClr val="5B47A8"/>
          </a:solidFill>
          <a:ln w="6350">
            <a:solidFill>
              <a:srgbClr val="5B47A8"/>
            </a:solidFill>
            <a:prstDash val="solid"/>
          </a:ln>
        </p:spPr>
      </p:sp>
      <p:sp>
        <p:nvSpPr>
          <p:cNvPr id="12" name="Grille 5"/>
          <p:cNvSpPr/>
          <p:nvPr/>
        </p:nvSpPr>
        <p:spPr>
          <a:xfrm>
            <a:off x="1984248" y="4087368"/>
            <a:ext cx="91440" cy="91440"/>
          </a:xfrm>
          <a:prstGeom prst="ellipse">
            <a:avLst/>
          </a:prstGeom>
          <a:solidFill>
            <a:srgbClr val="5B47A8"/>
          </a:solidFill>
          <a:ln w="6350">
            <a:solidFill>
              <a:srgbClr val="5B47A8"/>
            </a:solidFill>
            <a:prstDash val="solid"/>
          </a:ln>
        </p:spPr>
      </p:sp>
      <p:sp>
        <p:nvSpPr>
          <p:cNvPr id="13" name="Grille 6"/>
          <p:cNvSpPr/>
          <p:nvPr/>
        </p:nvSpPr>
        <p:spPr>
          <a:xfrm>
            <a:off x="2240280" y="4087368"/>
            <a:ext cx="91440" cy="91440"/>
          </a:xfrm>
          <a:prstGeom prst="ellipse">
            <a:avLst/>
          </a:prstGeom>
          <a:solidFill>
            <a:srgbClr val="5B47A8"/>
          </a:solidFill>
          <a:ln w="6350">
            <a:solidFill>
              <a:srgbClr val="5B47A8"/>
            </a:solidFill>
            <a:prstDash val="solid"/>
          </a:ln>
        </p:spPr>
      </p:sp>
      <p:sp>
        <p:nvSpPr>
          <p:cNvPr id="14" name="Grille 7"/>
          <p:cNvSpPr/>
          <p:nvPr/>
        </p:nvSpPr>
        <p:spPr>
          <a:xfrm>
            <a:off x="2496312" y="4087368"/>
            <a:ext cx="91440" cy="91440"/>
          </a:xfrm>
          <a:prstGeom prst="ellipse">
            <a:avLst/>
          </a:prstGeom>
          <a:solidFill>
            <a:srgbClr val="5B47A8"/>
          </a:solidFill>
          <a:ln w="6350">
            <a:solidFill>
              <a:srgbClr val="5B47A8"/>
            </a:solidFill>
            <a:prstDash val="solid"/>
          </a:ln>
        </p:spPr>
      </p:sp>
      <p:sp>
        <p:nvSpPr>
          <p:cNvPr id="15" name="Grille 8"/>
          <p:cNvSpPr/>
          <p:nvPr/>
        </p:nvSpPr>
        <p:spPr>
          <a:xfrm>
            <a:off x="2752344" y="4087368"/>
            <a:ext cx="91440" cy="91440"/>
          </a:xfrm>
          <a:prstGeom prst="ellipse">
            <a:avLst/>
          </a:prstGeom>
          <a:solidFill>
            <a:srgbClr val="5B47A8"/>
          </a:solidFill>
          <a:ln w="6350">
            <a:solidFill>
              <a:srgbClr val="5B47A8"/>
            </a:solidFill>
            <a:prstDash val="solid"/>
          </a:ln>
        </p:spPr>
      </p:sp>
      <p:sp>
        <p:nvSpPr>
          <p:cNvPr id="16" name="Grille 9"/>
          <p:cNvSpPr/>
          <p:nvPr/>
        </p:nvSpPr>
        <p:spPr>
          <a:xfrm>
            <a:off x="3008376" y="4087368"/>
            <a:ext cx="91440" cy="91440"/>
          </a:xfrm>
          <a:prstGeom prst="ellipse">
            <a:avLst/>
          </a:prstGeom>
          <a:solidFill>
            <a:srgbClr val="5B47A8"/>
          </a:solidFill>
          <a:ln w="6350">
            <a:solidFill>
              <a:srgbClr val="5B47A8"/>
            </a:solidFill>
            <a:prstDash val="solid"/>
          </a:ln>
        </p:spPr>
      </p:sp>
      <p:sp>
        <p:nvSpPr>
          <p:cNvPr id="17" name="Grille 10"/>
          <p:cNvSpPr/>
          <p:nvPr/>
        </p:nvSpPr>
        <p:spPr>
          <a:xfrm>
            <a:off x="3264408" y="4087368"/>
            <a:ext cx="91440" cy="91440"/>
          </a:xfrm>
          <a:prstGeom prst="ellipse">
            <a:avLst/>
          </a:prstGeom>
          <a:solidFill>
            <a:srgbClr val="5B47A8"/>
          </a:solidFill>
          <a:ln w="6350">
            <a:solidFill>
              <a:srgbClr val="5B47A8"/>
            </a:solidFill>
            <a:prstDash val="solid"/>
          </a:ln>
        </p:spPr>
      </p:sp>
      <p:sp>
        <p:nvSpPr>
          <p:cNvPr id="18" name="Grille 11"/>
          <p:cNvSpPr/>
          <p:nvPr/>
        </p:nvSpPr>
        <p:spPr>
          <a:xfrm>
            <a:off x="3520440" y="4087368"/>
            <a:ext cx="91440" cy="91440"/>
          </a:xfrm>
          <a:prstGeom prst="ellipse">
            <a:avLst/>
          </a:prstGeom>
          <a:solidFill>
            <a:srgbClr val="5B47A8"/>
          </a:solidFill>
          <a:ln w="6350">
            <a:solidFill>
              <a:srgbClr val="5B47A8"/>
            </a:solidFill>
            <a:prstDash val="solid"/>
          </a:ln>
        </p:spPr>
      </p:sp>
      <p:sp>
        <p:nvSpPr>
          <p:cNvPr id="19" name="Grille 12"/>
          <p:cNvSpPr/>
          <p:nvPr/>
        </p:nvSpPr>
        <p:spPr>
          <a:xfrm>
            <a:off x="3776472" y="4087368"/>
            <a:ext cx="91440" cy="91440"/>
          </a:xfrm>
          <a:prstGeom prst="ellipse">
            <a:avLst/>
          </a:prstGeom>
          <a:solidFill>
            <a:srgbClr val="5B47A8"/>
          </a:solidFill>
          <a:ln w="6350">
            <a:solidFill>
              <a:srgbClr val="5B47A8"/>
            </a:solidFill>
            <a:prstDash val="solid"/>
          </a:ln>
        </p:spPr>
      </p:sp>
      <p:sp>
        <p:nvSpPr>
          <p:cNvPr id="20" name="Grille 13"/>
          <p:cNvSpPr/>
          <p:nvPr/>
        </p:nvSpPr>
        <p:spPr>
          <a:xfrm>
            <a:off x="4032504" y="4087368"/>
            <a:ext cx="91440" cy="91440"/>
          </a:xfrm>
          <a:prstGeom prst="ellipse">
            <a:avLst/>
          </a:prstGeom>
          <a:solidFill>
            <a:srgbClr val="5B47A8"/>
          </a:solidFill>
          <a:ln w="6350">
            <a:solidFill>
              <a:srgbClr val="5B47A8"/>
            </a:solidFill>
            <a:prstDash val="solid"/>
          </a:ln>
        </p:spPr>
      </p:sp>
      <p:sp>
        <p:nvSpPr>
          <p:cNvPr id="21" name="Grille 14"/>
          <p:cNvSpPr/>
          <p:nvPr/>
        </p:nvSpPr>
        <p:spPr>
          <a:xfrm>
            <a:off x="4288536" y="4087368"/>
            <a:ext cx="91440" cy="91440"/>
          </a:xfrm>
          <a:prstGeom prst="ellipse">
            <a:avLst/>
          </a:prstGeom>
          <a:solidFill>
            <a:srgbClr val="5B47A8"/>
          </a:solidFill>
          <a:ln w="6350">
            <a:solidFill>
              <a:srgbClr val="5B47A8"/>
            </a:solidFill>
            <a:prstDash val="solid"/>
          </a:ln>
        </p:spPr>
      </p:sp>
      <p:sp>
        <p:nvSpPr>
          <p:cNvPr id="22" name="Device 1 circle"/>
          <p:cNvSpPr/>
          <p:nvPr/>
        </p:nvSpPr>
        <p:spPr>
          <a:xfrm>
            <a:off x="5074920" y="1444752"/>
            <a:ext cx="502920" cy="502920"/>
          </a:xfrm>
          <a:prstGeom prst="ellipse">
            <a:avLst/>
          </a:prstGeom>
          <a:solidFill>
            <a:srgbClr val="7C3AED"/>
          </a:solidFill>
          <a:ln w="12700">
            <a:solidFill>
              <a:srgbClr val="7C3AED"/>
            </a:solidFill>
            <a:prstDash val="solid"/>
          </a:ln>
        </p:spPr>
      </p:sp>
      <p:pic>
        <p:nvPicPr>
          <p:cNvPr id="23" name="Device 1 icon" descr="preencoded.png">    </p:cNvPr>
          <p:cNvPicPr>
            <a:picLocks noChangeAspect="1"/>
          </p:cNvPicPr>
          <p:nvPr/>
        </p:nvPicPr>
        <p:blipFill>
          <a:blip r:embed="rId3"/>
          <a:stretch>
            <a:fillRect/>
          </a:stretch>
        </p:blipFill>
        <p:spPr>
          <a:xfrm>
            <a:off x="5200650" y="1570482"/>
            <a:ext cx="251460" cy="251460"/>
          </a:xfrm>
          <a:prstGeom prst="rect">
            <a:avLst/>
          </a:prstGeom>
        </p:spPr>
      </p:pic>
      <p:sp>
        <p:nvSpPr>
          <p:cNvPr id="24" name="Device title 1"/>
          <p:cNvSpPr txBox="1"/>
          <p:nvPr/>
        </p:nvSpPr>
        <p:spPr>
          <a:xfrm>
            <a:off x="5760720" y="1417320"/>
            <a:ext cx="274320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Always on at the counter</a:t>
            </a:r>
            <a:endParaRPr lang="en-US" sz="1350" dirty="0"/>
          </a:p>
        </p:txBody>
      </p:sp>
      <p:sp>
        <p:nvSpPr>
          <p:cNvPr id="25" name="Device text 1"/>
          <p:cNvSpPr txBox="1"/>
          <p:nvPr/>
        </p:nvSpPr>
        <p:spPr>
          <a:xfrm>
            <a:off x="5760720" y="1700784"/>
            <a:ext cx="2743200" cy="411480"/>
          </a:xfrm>
          <a:prstGeom prst="rect">
            <a:avLst/>
          </a:prstGeom>
          <a:noFill/>
          <a:ln/>
        </p:spPr>
        <p:txBody>
          <a:bodyPr wrap="square" lIns="0" tIns="0" rIns="0" bIns="0" rtlCol="0" anchor="t"/>
          <a:lstStyle/>
          <a:p>
            <a:pPr indent="0" marL="0">
              <a:buNone/>
            </a:pPr>
            <a:r>
              <a:rPr lang="en-US" sz="1050" dirty="0">
                <a:solidFill>
                  <a:srgbClr val="A9A6BD"/>
                </a:solidFill>
              </a:rPr>
              <a:t>A dedicated Vento device — no phone needed.</a:t>
            </a:r>
            <a:endParaRPr lang="en-US" sz="1050" dirty="0"/>
          </a:p>
        </p:txBody>
      </p:sp>
      <p:sp>
        <p:nvSpPr>
          <p:cNvPr id="26" name="Device 2 circle"/>
          <p:cNvSpPr/>
          <p:nvPr/>
        </p:nvSpPr>
        <p:spPr>
          <a:xfrm>
            <a:off x="5074920" y="2221992"/>
            <a:ext cx="502920" cy="502920"/>
          </a:xfrm>
          <a:prstGeom prst="ellipse">
            <a:avLst/>
          </a:prstGeom>
          <a:solidFill>
            <a:srgbClr val="7C3AED"/>
          </a:solidFill>
          <a:ln w="12700">
            <a:solidFill>
              <a:srgbClr val="7C3AED"/>
            </a:solidFill>
            <a:prstDash val="solid"/>
          </a:ln>
        </p:spPr>
      </p:sp>
      <p:pic>
        <p:nvPicPr>
          <p:cNvPr id="27" name="Device 2 icon" descr="preencoded.png">    </p:cNvPr>
          <p:cNvPicPr>
            <a:picLocks noChangeAspect="1"/>
          </p:cNvPicPr>
          <p:nvPr/>
        </p:nvPicPr>
        <p:blipFill>
          <a:blip r:embed="rId4"/>
          <a:stretch>
            <a:fillRect/>
          </a:stretch>
        </p:blipFill>
        <p:spPr>
          <a:xfrm>
            <a:off x="5200650" y="2347722"/>
            <a:ext cx="251460" cy="251460"/>
          </a:xfrm>
          <a:prstGeom prst="rect">
            <a:avLst/>
          </a:prstGeom>
        </p:spPr>
      </p:pic>
      <p:sp>
        <p:nvSpPr>
          <p:cNvPr id="28" name="Device title 2"/>
          <p:cNvSpPr txBox="1"/>
          <p:nvPr/>
        </p:nvSpPr>
        <p:spPr>
          <a:xfrm>
            <a:off x="5760720" y="2194560"/>
            <a:ext cx="274320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You talk, it shows</a:t>
            </a:r>
            <a:endParaRPr lang="en-US" sz="1350" dirty="0"/>
          </a:p>
        </p:txBody>
      </p:sp>
      <p:sp>
        <p:nvSpPr>
          <p:cNvPr id="29" name="Device text 2"/>
          <p:cNvSpPr txBox="1"/>
          <p:nvPr/>
        </p:nvSpPr>
        <p:spPr>
          <a:xfrm>
            <a:off x="5760720" y="2478024"/>
            <a:ext cx="2743200" cy="411480"/>
          </a:xfrm>
          <a:prstGeom prst="rect">
            <a:avLst/>
          </a:prstGeom>
          <a:noFill/>
          <a:ln/>
        </p:spPr>
        <p:txBody>
          <a:bodyPr wrap="square" lIns="0" tIns="0" rIns="0" bIns="0" rtlCol="0" anchor="t"/>
          <a:lstStyle/>
          <a:p>
            <a:pPr indent="0" marL="0">
              <a:buNone/>
            </a:pPr>
            <a:r>
              <a:rPr lang="en-US" sz="1050" dirty="0">
                <a:solidFill>
                  <a:srgbClr val="A9A6BD"/>
                </a:solidFill>
              </a:rPr>
              <a:t>See the tab, the order or the total while it answers.</a:t>
            </a:r>
            <a:endParaRPr lang="en-US" sz="1050" dirty="0"/>
          </a:p>
        </p:txBody>
      </p:sp>
      <p:sp>
        <p:nvSpPr>
          <p:cNvPr id="30" name="Device 3 circle"/>
          <p:cNvSpPr/>
          <p:nvPr/>
        </p:nvSpPr>
        <p:spPr>
          <a:xfrm>
            <a:off x="5074920" y="2999232"/>
            <a:ext cx="502920" cy="502920"/>
          </a:xfrm>
          <a:prstGeom prst="ellipse">
            <a:avLst/>
          </a:prstGeom>
          <a:solidFill>
            <a:srgbClr val="7C3AED"/>
          </a:solidFill>
          <a:ln w="12700">
            <a:solidFill>
              <a:srgbClr val="7C3AED"/>
            </a:solidFill>
            <a:prstDash val="solid"/>
          </a:ln>
        </p:spPr>
      </p:sp>
      <p:pic>
        <p:nvPicPr>
          <p:cNvPr id="31" name="Device 3 icon" descr="preencoded.png">    </p:cNvPr>
          <p:cNvPicPr>
            <a:picLocks noChangeAspect="1"/>
          </p:cNvPicPr>
          <p:nvPr/>
        </p:nvPicPr>
        <p:blipFill>
          <a:blip r:embed="rId5"/>
          <a:stretch>
            <a:fillRect/>
          </a:stretch>
        </p:blipFill>
        <p:spPr>
          <a:xfrm>
            <a:off x="5200650" y="3124962"/>
            <a:ext cx="251460" cy="251460"/>
          </a:xfrm>
          <a:prstGeom prst="rect">
            <a:avLst/>
          </a:prstGeom>
        </p:spPr>
      </p:pic>
      <p:sp>
        <p:nvSpPr>
          <p:cNvPr id="32" name="Device title 3"/>
          <p:cNvSpPr txBox="1"/>
          <p:nvPr/>
        </p:nvSpPr>
        <p:spPr>
          <a:xfrm>
            <a:off x="5760720" y="2971800"/>
            <a:ext cx="274320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Announces orders</a:t>
            </a:r>
            <a:endParaRPr lang="en-US" sz="1350" dirty="0"/>
          </a:p>
        </p:txBody>
      </p:sp>
      <p:sp>
        <p:nvSpPr>
          <p:cNvPr id="33" name="Device text 3"/>
          <p:cNvSpPr txBox="1"/>
          <p:nvPr/>
        </p:nvSpPr>
        <p:spPr>
          <a:xfrm>
            <a:off x="5760720" y="3255264"/>
            <a:ext cx="2743200" cy="411480"/>
          </a:xfrm>
          <a:prstGeom prst="rect">
            <a:avLst/>
          </a:prstGeom>
          <a:noFill/>
          <a:ln/>
        </p:spPr>
        <p:txBody>
          <a:bodyPr wrap="square" lIns="0" tIns="0" rIns="0" bIns="0" rtlCol="0" anchor="t"/>
          <a:lstStyle/>
          <a:p>
            <a:pPr indent="0" marL="0">
              <a:buNone/>
            </a:pPr>
            <a:r>
              <a:rPr lang="en-US" sz="1050" dirty="0">
                <a:solidFill>
                  <a:srgbClr val="A9A6BD"/>
                </a:solidFill>
              </a:rPr>
              <a:t>“New order from table 5,” out loud.</a:t>
            </a:r>
            <a:endParaRPr lang="en-US" sz="1050" dirty="0"/>
          </a:p>
        </p:txBody>
      </p:sp>
      <p:sp>
        <p:nvSpPr>
          <p:cNvPr id="34" name="Device 4 circle"/>
          <p:cNvSpPr/>
          <p:nvPr/>
        </p:nvSpPr>
        <p:spPr>
          <a:xfrm>
            <a:off x="5074920" y="3776472"/>
            <a:ext cx="502920" cy="502920"/>
          </a:xfrm>
          <a:prstGeom prst="ellipse">
            <a:avLst/>
          </a:prstGeom>
          <a:solidFill>
            <a:srgbClr val="7C3AED"/>
          </a:solidFill>
          <a:ln w="12700">
            <a:solidFill>
              <a:srgbClr val="7C3AED"/>
            </a:solidFill>
            <a:prstDash val="solid"/>
          </a:ln>
        </p:spPr>
      </p:sp>
      <p:pic>
        <p:nvPicPr>
          <p:cNvPr id="35" name="Device 4 icon" descr="preencoded.png">    </p:cNvPr>
          <p:cNvPicPr>
            <a:picLocks noChangeAspect="1"/>
          </p:cNvPicPr>
          <p:nvPr/>
        </p:nvPicPr>
        <p:blipFill>
          <a:blip r:embed="rId6"/>
          <a:stretch>
            <a:fillRect/>
          </a:stretch>
        </p:blipFill>
        <p:spPr>
          <a:xfrm>
            <a:off x="5200650" y="3902202"/>
            <a:ext cx="251460" cy="251460"/>
          </a:xfrm>
          <a:prstGeom prst="rect">
            <a:avLst/>
          </a:prstGeom>
        </p:spPr>
      </p:pic>
      <p:sp>
        <p:nvSpPr>
          <p:cNvPr id="36" name="Device title 4"/>
          <p:cNvSpPr txBox="1"/>
          <p:nvPr/>
        </p:nvSpPr>
        <p:spPr>
          <a:xfrm>
            <a:off x="5760720" y="3749040"/>
            <a:ext cx="274320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Built-in camera</a:t>
            </a:r>
            <a:endParaRPr lang="en-US" sz="1350" dirty="0"/>
          </a:p>
        </p:txBody>
      </p:sp>
      <p:sp>
        <p:nvSpPr>
          <p:cNvPr id="37" name="Device text 4"/>
          <p:cNvSpPr txBox="1"/>
          <p:nvPr/>
        </p:nvSpPr>
        <p:spPr>
          <a:xfrm>
            <a:off x="5760720" y="4032504"/>
            <a:ext cx="2743200" cy="411480"/>
          </a:xfrm>
          <a:prstGeom prst="rect">
            <a:avLst/>
          </a:prstGeom>
          <a:noFill/>
          <a:ln/>
        </p:spPr>
        <p:txBody>
          <a:bodyPr wrap="square" lIns="0" tIns="0" rIns="0" bIns="0" rtlCol="0" anchor="t"/>
          <a:lstStyle/>
          <a:p>
            <a:pPr indent="0" marL="0">
              <a:buNone/>
            </a:pPr>
            <a:r>
              <a:rPr lang="en-US" sz="1050" dirty="0">
                <a:solidFill>
                  <a:srgbClr val="A9A6BD"/>
                </a:solidFill>
              </a:rPr>
              <a:t>Reads invoices, barcodes and payment receipts.</a:t>
            </a:r>
            <a:endParaRPr lang="en-US" sz="105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A8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Background light"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Kicker"/>
          <p:cNvSpPr txBox="1"/>
          <p:nvPr/>
        </p:nvSpPr>
        <p:spPr>
          <a:xfrm>
            <a:off x="640080" y="292608"/>
            <a:ext cx="5486400" cy="256032"/>
          </a:xfrm>
          <a:prstGeom prst="rect">
            <a:avLst/>
          </a:prstGeom>
          <a:noFill/>
          <a:ln/>
        </p:spPr>
        <p:txBody>
          <a:bodyPr wrap="square" lIns="0" tIns="0" rIns="0" bIns="0" rtlCol="0" anchor="ctr"/>
          <a:lstStyle/>
          <a:p>
            <a:pPr indent="0" marL="0">
              <a:buNone/>
            </a:pPr>
            <a:r>
              <a:rPr lang="en-US" sz="1050" b="1" spc="300" kern="0" dirty="0">
                <a:solidFill>
                  <a:srgbClr val="34D399"/>
                </a:solidFill>
              </a:rPr>
              <a:t>TEAM</a:t>
            </a:r>
            <a:endParaRPr lang="en-US" sz="1050" dirty="0"/>
          </a:p>
        </p:txBody>
      </p:sp>
      <p:sp>
        <p:nvSpPr>
          <p:cNvPr id="4" name="Text 0"/>
          <p:cNvSpPr/>
          <p:nvPr>
            <p:ph idx="100" type="title" hasCustomPrompt="1"/>
          </p:nvPr>
        </p:nvSpPr>
        <p:spPr>
          <a:xfrm>
            <a:off x="640080" y="566928"/>
            <a:ext cx="7863840" cy="640080"/>
          </a:xfrm>
          <a:prstGeom prst="rect">
            <a:avLst/>
          </a:prstGeom>
          <a:noFill/>
          <a:ln/>
        </p:spPr>
        <p:txBody>
          <a:bodyPr wrap="square" lIns="0" tIns="0" rIns="0" bIns="0" rtlCol="0" anchor="ctr"/>
          <a:lstStyle/>
          <a:p>
            <a:pPr indent="0" marL="0">
              <a:buNone/>
            </a:pPr>
            <a:r>
              <a:rPr lang="en-US" sz="3000" b="1" dirty="0">
                <a:solidFill>
                  <a:schemeClr val="bg1"/>
                </a:solidFill>
              </a:rPr>
              <a:t>A father-and-son team, ready to scale</a:t>
            </a:r>
            <a:endParaRPr lang="en-US" sz="3000" dirty="0"/>
          </a:p>
        </p:txBody>
      </p:sp>
      <p:sp>
        <p:nvSpPr>
          <p:cNvPr id="5" name="Founder 0"/>
          <p:cNvSpPr/>
          <p:nvPr/>
        </p:nvSpPr>
        <p:spPr>
          <a:xfrm>
            <a:off x="640080" y="1371600"/>
            <a:ext cx="2514600" cy="2148840"/>
          </a:xfrm>
          <a:prstGeom prst="roundRect">
            <a:avLst>
              <a:gd name="adj" fmla="val 5957"/>
            </a:avLst>
          </a:prstGeom>
          <a:solidFill>
            <a:srgbClr val="1A1530"/>
          </a:solidFill>
          <a:ln w="9525">
            <a:solidFill>
              <a:srgbClr val="3B2F66"/>
            </a:solidFill>
            <a:prstDash val="solid"/>
          </a:ln>
        </p:spPr>
      </p:sp>
      <p:sp>
        <p:nvSpPr>
          <p:cNvPr id="6" name="Founder 0 circle"/>
          <p:cNvSpPr/>
          <p:nvPr/>
        </p:nvSpPr>
        <p:spPr>
          <a:xfrm>
            <a:off x="868680" y="1572768"/>
            <a:ext cx="640080" cy="640080"/>
          </a:xfrm>
          <a:prstGeom prst="ellipse">
            <a:avLst/>
          </a:prstGeom>
          <a:solidFill>
            <a:srgbClr val="7C3AED"/>
          </a:solidFill>
          <a:ln w="12700">
            <a:solidFill>
              <a:srgbClr val="7C3AED"/>
            </a:solidFill>
            <a:prstDash val="solid"/>
          </a:ln>
        </p:spPr>
      </p:sp>
      <p:pic>
        <p:nvPicPr>
          <p:cNvPr id="7" name="Founder 0 icon" descr="preencoded.png">    </p:cNvPr>
          <p:cNvPicPr>
            <a:picLocks noChangeAspect="1"/>
          </p:cNvPicPr>
          <p:nvPr/>
        </p:nvPicPr>
        <p:blipFill>
          <a:blip r:embed="rId2"/>
          <a:stretch>
            <a:fillRect/>
          </a:stretch>
        </p:blipFill>
        <p:spPr>
          <a:xfrm>
            <a:off x="1028700" y="1732788"/>
            <a:ext cx="320040" cy="320040"/>
          </a:xfrm>
          <a:prstGeom prst="rect">
            <a:avLst/>
          </a:prstGeom>
        </p:spPr>
      </p:pic>
      <p:sp>
        <p:nvSpPr>
          <p:cNvPr id="8" name="Founder role 0"/>
          <p:cNvSpPr txBox="1"/>
          <p:nvPr/>
        </p:nvSpPr>
        <p:spPr>
          <a:xfrm>
            <a:off x="1645920" y="1600200"/>
            <a:ext cx="1417320" cy="27432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Founder</a:t>
            </a:r>
            <a:endParaRPr lang="en-US" sz="1500" dirty="0"/>
          </a:p>
        </p:txBody>
      </p:sp>
      <p:sp>
        <p:nvSpPr>
          <p:cNvPr id="9" name="Founder area 0"/>
          <p:cNvSpPr txBox="1"/>
          <p:nvPr/>
        </p:nvSpPr>
        <p:spPr>
          <a:xfrm>
            <a:off x="1645920" y="1892808"/>
            <a:ext cx="1463040" cy="274320"/>
          </a:xfrm>
          <a:prstGeom prst="rect">
            <a:avLst/>
          </a:prstGeom>
          <a:noFill/>
          <a:ln/>
        </p:spPr>
        <p:txBody>
          <a:bodyPr wrap="square" lIns="0" tIns="0" rIns="0" bIns="0" rtlCol="0" anchor="ctr"/>
          <a:lstStyle/>
          <a:p>
            <a:pPr indent="0" marL="0">
              <a:buNone/>
            </a:pPr>
            <a:r>
              <a:rPr lang="en-US" sz="1000" b="1" dirty="0">
                <a:solidFill>
                  <a:srgbClr val="34D399"/>
                </a:solidFill>
              </a:rPr>
              <a:t>Product &amp; technology</a:t>
            </a:r>
            <a:endParaRPr lang="en-US" sz="1000" dirty="0"/>
          </a:p>
        </p:txBody>
      </p:sp>
      <p:sp>
        <p:nvSpPr>
          <p:cNvPr id="10" name="Founder text 0"/>
          <p:cNvSpPr txBox="1"/>
          <p:nvPr/>
        </p:nvSpPr>
        <p:spPr>
          <a:xfrm>
            <a:off x="868680" y="2377440"/>
            <a:ext cx="2103120" cy="1005840"/>
          </a:xfrm>
          <a:prstGeom prst="rect">
            <a:avLst/>
          </a:prstGeom>
          <a:noFill/>
          <a:ln/>
        </p:spPr>
        <p:txBody>
          <a:bodyPr wrap="square" lIns="0" tIns="0" rIns="0" bIns="0" rtlCol="0" anchor="t"/>
          <a:lstStyle/>
          <a:p>
            <a:pPr indent="0" marL="0">
              <a:buNone/>
            </a:pPr>
            <a:r>
              <a:rPr lang="en-US" sz="1050" dirty="0">
                <a:solidFill>
                  <a:srgbClr val="A9A6BD"/>
                </a:solidFill>
              </a:rPr>
              <a:t>Designed and built Vento end-to-end: web app, Android app, AI, payments and the admin console.</a:t>
            </a:r>
            <a:endParaRPr lang="en-US" sz="1050" dirty="0"/>
          </a:p>
        </p:txBody>
      </p:sp>
      <p:sp>
        <p:nvSpPr>
          <p:cNvPr id="11" name="Founder 1"/>
          <p:cNvSpPr/>
          <p:nvPr/>
        </p:nvSpPr>
        <p:spPr>
          <a:xfrm>
            <a:off x="3337560" y="1371600"/>
            <a:ext cx="2514600" cy="2148840"/>
          </a:xfrm>
          <a:prstGeom prst="roundRect">
            <a:avLst>
              <a:gd name="adj" fmla="val 5957"/>
            </a:avLst>
          </a:prstGeom>
          <a:solidFill>
            <a:srgbClr val="1A1530"/>
          </a:solidFill>
          <a:ln w="9525">
            <a:solidFill>
              <a:srgbClr val="3B2F66"/>
            </a:solidFill>
            <a:prstDash val="solid"/>
          </a:ln>
        </p:spPr>
      </p:sp>
      <p:sp>
        <p:nvSpPr>
          <p:cNvPr id="12" name="Founder 1 circle"/>
          <p:cNvSpPr/>
          <p:nvPr/>
        </p:nvSpPr>
        <p:spPr>
          <a:xfrm>
            <a:off x="3566160" y="1572768"/>
            <a:ext cx="640080" cy="640080"/>
          </a:xfrm>
          <a:prstGeom prst="ellipse">
            <a:avLst/>
          </a:prstGeom>
          <a:solidFill>
            <a:srgbClr val="7C3AED"/>
          </a:solidFill>
          <a:ln w="12700">
            <a:solidFill>
              <a:srgbClr val="7C3AED"/>
            </a:solidFill>
            <a:prstDash val="solid"/>
          </a:ln>
        </p:spPr>
      </p:sp>
      <p:pic>
        <p:nvPicPr>
          <p:cNvPr id="13" name="Founder 1 icon" descr="preencoded.png">    </p:cNvPr>
          <p:cNvPicPr>
            <a:picLocks noChangeAspect="1"/>
          </p:cNvPicPr>
          <p:nvPr/>
        </p:nvPicPr>
        <p:blipFill>
          <a:blip r:embed="rId3"/>
          <a:stretch>
            <a:fillRect/>
          </a:stretch>
        </p:blipFill>
        <p:spPr>
          <a:xfrm>
            <a:off x="3726180" y="1732788"/>
            <a:ext cx="320040" cy="320040"/>
          </a:xfrm>
          <a:prstGeom prst="rect">
            <a:avLst/>
          </a:prstGeom>
        </p:spPr>
      </p:pic>
      <p:sp>
        <p:nvSpPr>
          <p:cNvPr id="14" name="Founder role 1"/>
          <p:cNvSpPr txBox="1"/>
          <p:nvPr/>
        </p:nvSpPr>
        <p:spPr>
          <a:xfrm>
            <a:off x="4343400" y="1600200"/>
            <a:ext cx="1417320" cy="27432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Co-founder</a:t>
            </a:r>
            <a:endParaRPr lang="en-US" sz="1500" dirty="0"/>
          </a:p>
        </p:txBody>
      </p:sp>
      <p:sp>
        <p:nvSpPr>
          <p:cNvPr id="15" name="Founder area 1"/>
          <p:cNvSpPr txBox="1"/>
          <p:nvPr/>
        </p:nvSpPr>
        <p:spPr>
          <a:xfrm>
            <a:off x="4343400" y="1892808"/>
            <a:ext cx="1463040" cy="274320"/>
          </a:xfrm>
          <a:prstGeom prst="rect">
            <a:avLst/>
          </a:prstGeom>
          <a:noFill/>
          <a:ln/>
        </p:spPr>
        <p:txBody>
          <a:bodyPr wrap="square" lIns="0" tIns="0" rIns="0" bIns="0" rtlCol="0" anchor="ctr"/>
          <a:lstStyle/>
          <a:p>
            <a:pPr indent="0" marL="0">
              <a:buNone/>
            </a:pPr>
            <a:r>
              <a:rPr lang="en-US" sz="1000" b="1" dirty="0">
                <a:solidFill>
                  <a:srgbClr val="34D399"/>
                </a:solidFill>
              </a:rPr>
              <a:t>Operations &amp; business</a:t>
            </a:r>
            <a:endParaRPr lang="en-US" sz="1000" dirty="0"/>
          </a:p>
        </p:txBody>
      </p:sp>
      <p:sp>
        <p:nvSpPr>
          <p:cNvPr id="16" name="Founder text 1"/>
          <p:cNvSpPr txBox="1"/>
          <p:nvPr/>
        </p:nvSpPr>
        <p:spPr>
          <a:xfrm>
            <a:off x="3566160" y="2377440"/>
            <a:ext cx="2103120" cy="1005840"/>
          </a:xfrm>
          <a:prstGeom prst="rect">
            <a:avLst/>
          </a:prstGeom>
          <a:noFill/>
          <a:ln/>
        </p:spPr>
        <p:txBody>
          <a:bodyPr wrap="square" lIns="0" tIns="0" rIns="0" bIns="0" rtlCol="0" anchor="t"/>
          <a:lstStyle/>
          <a:p>
            <a:pPr indent="0" marL="0">
              <a:buNone/>
            </a:pPr>
            <a:r>
              <a:rPr lang="en-US" sz="1050" dirty="0">
                <a:solidFill>
                  <a:srgbClr val="A9A6BD"/>
                </a:solidFill>
              </a:rPr>
              <a:t>Day-to-day operations and relationships with the businesses Vento serves.</a:t>
            </a:r>
            <a:endParaRPr lang="en-US" sz="1050" dirty="0"/>
          </a:p>
        </p:txBody>
      </p:sp>
      <p:sp>
        <p:nvSpPr>
          <p:cNvPr id="17" name="Hiring plan"/>
          <p:cNvSpPr/>
          <p:nvPr/>
        </p:nvSpPr>
        <p:spPr>
          <a:xfrm>
            <a:off x="6035040" y="1371600"/>
            <a:ext cx="2468880" cy="3154680"/>
          </a:xfrm>
          <a:prstGeom prst="roundRect">
            <a:avLst>
              <a:gd name="adj" fmla="val 5185"/>
            </a:avLst>
          </a:prstGeom>
          <a:solidFill>
            <a:srgbClr val="17152A"/>
          </a:solidFill>
          <a:ln w="9525">
            <a:solidFill>
              <a:srgbClr val="2E2A48"/>
            </a:solidFill>
            <a:prstDash val="solid"/>
          </a:ln>
        </p:spPr>
      </p:sp>
      <p:sp>
        <p:nvSpPr>
          <p:cNvPr id="18" name="Hires title"/>
          <p:cNvSpPr txBox="1"/>
          <p:nvPr/>
        </p:nvSpPr>
        <p:spPr>
          <a:xfrm>
            <a:off x="6236208" y="1481328"/>
            <a:ext cx="210312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First hires with this round</a:t>
            </a:r>
            <a:endParaRPr lang="en-US" sz="1200" dirty="0"/>
          </a:p>
        </p:txBody>
      </p:sp>
      <p:sp>
        <p:nvSpPr>
          <p:cNvPr id="19" name="Hires list"/>
          <p:cNvSpPr txBox="1"/>
          <p:nvPr/>
        </p:nvSpPr>
        <p:spPr>
          <a:xfrm>
            <a:off x="6236208" y="1828800"/>
            <a:ext cx="2148840" cy="182880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F2F1F7"/>
                </a:solidFill>
              </a:rPr>
              <a:t>Full-stack developer</a:t>
            </a:r>
            <a:endParaRPr lang="en-US" sz="1100" dirty="0"/>
          </a:p>
          <a:p>
            <a:pPr marL="342900" indent="-342900">
              <a:spcAft>
                <a:spcPts val="600"/>
              </a:spcAft>
              <a:buSzPct val="100000"/>
              <a:buChar char="•"/>
            </a:pPr>
            <a:r>
              <a:rPr lang="en-US" sz="1100" dirty="0">
                <a:solidFill>
                  <a:srgbClr val="F2F1F7"/>
                </a:solidFill>
              </a:rPr>
              <a:t>Android / QA developer</a:t>
            </a:r>
            <a:endParaRPr lang="en-US" sz="1100" dirty="0"/>
          </a:p>
          <a:p>
            <a:pPr marL="342900" indent="-342900">
              <a:spcAft>
                <a:spcPts val="600"/>
              </a:spcAft>
              <a:buSzPct val="100000"/>
              <a:buChar char="•"/>
            </a:pPr>
            <a:r>
              <a:rPr lang="en-US" sz="1100" dirty="0">
                <a:solidFill>
                  <a:srgbClr val="F2F1F7"/>
                </a:solidFill>
              </a:rPr>
              <a:t>UX designer (part-time)</a:t>
            </a:r>
            <a:endParaRPr lang="en-US" sz="1100" dirty="0"/>
          </a:p>
          <a:p>
            <a:pPr marL="342900" indent="-342900">
              <a:spcAft>
                <a:spcPts val="600"/>
              </a:spcAft>
              <a:buSzPct val="100000"/>
              <a:buChar char="•"/>
            </a:pPr>
            <a:r>
              <a:rPr lang="en-US" sz="1100" dirty="0">
                <a:solidFill>
                  <a:srgbClr val="F2F1F7"/>
                </a:solidFill>
              </a:rPr>
              <a:t>2 field sales reps</a:t>
            </a:r>
            <a:endParaRPr lang="en-US" sz="1100" dirty="0"/>
          </a:p>
          <a:p>
            <a:pPr marL="342900" indent="-342900">
              <a:spcAft>
                <a:spcPts val="600"/>
              </a:spcAft>
              <a:buSzPct val="100000"/>
              <a:buChar char="•"/>
            </a:pPr>
            <a:r>
              <a:rPr lang="en-US" sz="1100" dirty="0">
                <a:solidFill>
                  <a:srgbClr val="F2F1F7"/>
                </a:solidFill>
              </a:rPr>
              <a:t>Customer support</a:t>
            </a:r>
            <a:endParaRPr lang="en-US" sz="1100" dirty="0"/>
          </a:p>
        </p:txBody>
      </p:sp>
      <p:sp>
        <p:nvSpPr>
          <p:cNvPr id="20" name="Advisors"/>
          <p:cNvSpPr/>
          <p:nvPr/>
        </p:nvSpPr>
        <p:spPr>
          <a:xfrm>
            <a:off x="640080" y="3703320"/>
            <a:ext cx="5166360" cy="822960"/>
          </a:xfrm>
          <a:prstGeom prst="roundRect">
            <a:avLst>
              <a:gd name="adj" fmla="val 15556"/>
            </a:avLst>
          </a:prstGeom>
          <a:solidFill>
            <a:srgbClr val="10251D"/>
          </a:solidFill>
          <a:ln w="9525">
            <a:solidFill>
              <a:srgbClr val="1F5A44"/>
            </a:solidFill>
            <a:prstDash val="solid"/>
          </a:ln>
        </p:spPr>
      </p:sp>
      <p:sp>
        <p:nvSpPr>
          <p:cNvPr id="21" name="Advisors text"/>
          <p:cNvSpPr txBox="1"/>
          <p:nvPr/>
        </p:nvSpPr>
        <p:spPr>
          <a:xfrm>
            <a:off x="868680" y="3749040"/>
            <a:ext cx="4754880" cy="731520"/>
          </a:xfrm>
          <a:prstGeom prst="rect">
            <a:avLst/>
          </a:prstGeom>
          <a:noFill/>
          <a:ln/>
        </p:spPr>
        <p:txBody>
          <a:bodyPr wrap="square" lIns="0" tIns="0" rIns="0" bIns="0" rtlCol="0" anchor="ctr"/>
          <a:lstStyle/>
          <a:p>
            <a:pPr indent="0" marL="0">
              <a:buNone/>
            </a:pPr>
            <a:r>
              <a:rPr lang="en-US" sz="1150" b="1" dirty="0">
                <a:solidFill>
                  <a:srgbClr val="34D399"/>
                </a:solidFill>
              </a:rPr>
              <a:t>Looking for: </a:t>
            </a:r>
            <a:pPr indent="0" marL="0">
              <a:buNone/>
            </a:pPr>
            <a:r>
              <a:rPr lang="en-US" sz="1150" dirty="0">
                <a:solidFill>
                  <a:srgbClr val="D9F7EC"/>
                </a:solidFill>
              </a:rPr>
              <a:t>advisors in payments, SMB sales in LatAm and Google Play distribution.</a:t>
            </a:r>
            <a:endParaRPr lang="en-US" sz="115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A8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Background light"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Kicker"/>
          <p:cNvSpPr txBox="1"/>
          <p:nvPr/>
        </p:nvSpPr>
        <p:spPr>
          <a:xfrm>
            <a:off x="640080" y="292608"/>
            <a:ext cx="5486400" cy="256032"/>
          </a:xfrm>
          <a:prstGeom prst="rect">
            <a:avLst/>
          </a:prstGeom>
          <a:noFill/>
          <a:ln/>
        </p:spPr>
        <p:txBody>
          <a:bodyPr wrap="square" lIns="0" tIns="0" rIns="0" bIns="0" rtlCol="0" anchor="ctr"/>
          <a:lstStyle/>
          <a:p>
            <a:pPr indent="0" marL="0">
              <a:buNone/>
            </a:pPr>
            <a:r>
              <a:rPr lang="en-US" sz="1050" b="1" spc="300" kern="0" dirty="0">
                <a:solidFill>
                  <a:srgbClr val="34D399"/>
                </a:solidFill>
              </a:rPr>
              <a:t>THE ASK</a:t>
            </a:r>
            <a:endParaRPr lang="en-US" sz="1050" dirty="0"/>
          </a:p>
        </p:txBody>
      </p:sp>
      <p:sp>
        <p:nvSpPr>
          <p:cNvPr id="4" name="Text 0"/>
          <p:cNvSpPr/>
          <p:nvPr>
            <p:ph idx="100" type="title" hasCustomPrompt="1"/>
          </p:nvPr>
        </p:nvSpPr>
        <p:spPr>
          <a:xfrm>
            <a:off x="640080" y="566928"/>
            <a:ext cx="7863840" cy="640080"/>
          </a:xfrm>
          <a:prstGeom prst="rect">
            <a:avLst/>
          </a:prstGeom>
          <a:noFill/>
          <a:ln/>
        </p:spPr>
        <p:txBody>
          <a:bodyPr wrap="square" lIns="0" tIns="0" rIns="0" bIns="0" rtlCol="0" anchor="ctr"/>
          <a:lstStyle/>
          <a:p>
            <a:pPr indent="0" marL="0">
              <a:buNone/>
            </a:pPr>
            <a:r>
              <a:rPr lang="en-US" sz="3000" b="1" dirty="0">
                <a:solidFill>
                  <a:schemeClr val="bg1"/>
                </a:solidFill>
              </a:rPr>
              <a:t>Raising US$350K pre-seed</a:t>
            </a:r>
            <a:endParaRPr lang="en-US" sz="3000" dirty="0"/>
          </a:p>
        </p:txBody>
      </p:sp>
      <p:sp>
        <p:nvSpPr>
          <p:cNvPr id="5" name="Use bar 0"/>
          <p:cNvSpPr/>
          <p:nvPr/>
        </p:nvSpPr>
        <p:spPr>
          <a:xfrm>
            <a:off x="640080" y="1417320"/>
            <a:ext cx="3538728" cy="457200"/>
          </a:xfrm>
          <a:prstGeom prst="rect">
            <a:avLst/>
          </a:prstGeom>
          <a:solidFill>
            <a:srgbClr val="7C3AED"/>
          </a:solidFill>
          <a:ln w="19050">
            <a:solidFill>
              <a:srgbClr val="0B0A12"/>
            </a:solidFill>
            <a:prstDash val="solid"/>
          </a:ln>
        </p:spPr>
      </p:sp>
      <p:sp>
        <p:nvSpPr>
          <p:cNvPr id="6" name="Use pct 0"/>
          <p:cNvSpPr txBox="1"/>
          <p:nvPr/>
        </p:nvSpPr>
        <p:spPr>
          <a:xfrm>
            <a:off x="640080" y="1417320"/>
            <a:ext cx="3538728" cy="457200"/>
          </a:xfrm>
          <a:prstGeom prst="rect">
            <a:avLst/>
          </a:prstGeom>
          <a:noFill/>
          <a:ln/>
        </p:spPr>
        <p:txBody>
          <a:bodyPr wrap="square" lIns="0" tIns="0" rIns="0" bIns="0" rtlCol="0" anchor="ctr"/>
          <a:lstStyle/>
          <a:p>
            <a:pPr algn="ctr" indent="0" marL="0">
              <a:buNone/>
            </a:pPr>
            <a:r>
              <a:rPr lang="en-US" sz="1200" b="1" dirty="0">
                <a:solidFill>
                  <a:srgbClr val="FFFFFF"/>
                </a:solidFill>
              </a:rPr>
              <a:t>45%</a:t>
            </a:r>
            <a:endParaRPr lang="en-US" sz="1200" dirty="0"/>
          </a:p>
        </p:txBody>
      </p:sp>
      <p:sp>
        <p:nvSpPr>
          <p:cNvPr id="7" name="Use bar 1"/>
          <p:cNvSpPr/>
          <p:nvPr/>
        </p:nvSpPr>
        <p:spPr>
          <a:xfrm>
            <a:off x="4178808" y="1417320"/>
            <a:ext cx="2359152" cy="457200"/>
          </a:xfrm>
          <a:prstGeom prst="rect">
            <a:avLst/>
          </a:prstGeom>
          <a:solidFill>
            <a:srgbClr val="34D399"/>
          </a:solidFill>
          <a:ln w="19050">
            <a:solidFill>
              <a:srgbClr val="0B0A12"/>
            </a:solidFill>
            <a:prstDash val="solid"/>
          </a:ln>
        </p:spPr>
      </p:sp>
      <p:sp>
        <p:nvSpPr>
          <p:cNvPr id="8" name="Use pct 1"/>
          <p:cNvSpPr txBox="1"/>
          <p:nvPr/>
        </p:nvSpPr>
        <p:spPr>
          <a:xfrm>
            <a:off x="4178808" y="1417320"/>
            <a:ext cx="2359152" cy="457200"/>
          </a:xfrm>
          <a:prstGeom prst="rect">
            <a:avLst/>
          </a:prstGeom>
          <a:noFill/>
          <a:ln/>
        </p:spPr>
        <p:txBody>
          <a:bodyPr wrap="square" lIns="0" tIns="0" rIns="0" bIns="0" rtlCol="0" anchor="ctr"/>
          <a:lstStyle/>
          <a:p>
            <a:pPr algn="ctr" indent="0" marL="0">
              <a:buNone/>
            </a:pPr>
            <a:r>
              <a:rPr lang="en-US" sz="1200" b="1" dirty="0">
                <a:solidFill>
                  <a:srgbClr val="0B0A12"/>
                </a:solidFill>
              </a:rPr>
              <a:t>30%</a:t>
            </a:r>
            <a:endParaRPr lang="en-US" sz="1200" dirty="0"/>
          </a:p>
        </p:txBody>
      </p:sp>
      <p:sp>
        <p:nvSpPr>
          <p:cNvPr id="9" name="Use bar 2"/>
          <p:cNvSpPr/>
          <p:nvPr/>
        </p:nvSpPr>
        <p:spPr>
          <a:xfrm>
            <a:off x="6537960" y="1417320"/>
            <a:ext cx="786384" cy="457200"/>
          </a:xfrm>
          <a:prstGeom prst="rect">
            <a:avLst/>
          </a:prstGeom>
          <a:solidFill>
            <a:srgbClr val="C4B5FD"/>
          </a:solidFill>
          <a:ln w="19050">
            <a:solidFill>
              <a:srgbClr val="0B0A12"/>
            </a:solidFill>
            <a:prstDash val="solid"/>
          </a:ln>
        </p:spPr>
      </p:sp>
      <p:sp>
        <p:nvSpPr>
          <p:cNvPr id="10" name="Use pct 2"/>
          <p:cNvSpPr txBox="1"/>
          <p:nvPr/>
        </p:nvSpPr>
        <p:spPr>
          <a:xfrm>
            <a:off x="6537960" y="1417320"/>
            <a:ext cx="786384" cy="457200"/>
          </a:xfrm>
          <a:prstGeom prst="rect">
            <a:avLst/>
          </a:prstGeom>
          <a:noFill/>
          <a:ln/>
        </p:spPr>
        <p:txBody>
          <a:bodyPr wrap="square" lIns="0" tIns="0" rIns="0" bIns="0" rtlCol="0" anchor="ctr"/>
          <a:lstStyle/>
          <a:p>
            <a:pPr algn="ctr" indent="0" marL="0">
              <a:buNone/>
            </a:pPr>
            <a:r>
              <a:rPr lang="en-US" sz="1200" b="1" dirty="0">
                <a:solidFill>
                  <a:srgbClr val="FFFFFF"/>
                </a:solidFill>
              </a:rPr>
              <a:t>10%</a:t>
            </a:r>
            <a:endParaRPr lang="en-US" sz="1200" dirty="0"/>
          </a:p>
        </p:txBody>
      </p:sp>
      <p:sp>
        <p:nvSpPr>
          <p:cNvPr id="11" name="Use bar 3"/>
          <p:cNvSpPr/>
          <p:nvPr/>
        </p:nvSpPr>
        <p:spPr>
          <a:xfrm>
            <a:off x="7324344" y="1417320"/>
            <a:ext cx="629107" cy="457200"/>
          </a:xfrm>
          <a:prstGeom prst="rect">
            <a:avLst/>
          </a:prstGeom>
          <a:solidFill>
            <a:srgbClr val="7C6FB0"/>
          </a:solidFill>
          <a:ln w="19050">
            <a:solidFill>
              <a:srgbClr val="0B0A12"/>
            </a:solidFill>
            <a:prstDash val="solid"/>
          </a:ln>
        </p:spPr>
      </p:sp>
      <p:sp>
        <p:nvSpPr>
          <p:cNvPr id="12" name="Use bar 4"/>
          <p:cNvSpPr/>
          <p:nvPr/>
        </p:nvSpPr>
        <p:spPr>
          <a:xfrm>
            <a:off x="7953451" y="1417320"/>
            <a:ext cx="550469" cy="457200"/>
          </a:xfrm>
          <a:prstGeom prst="rect">
            <a:avLst/>
          </a:prstGeom>
          <a:solidFill>
            <a:srgbClr val="F5A524"/>
          </a:solidFill>
          <a:ln w="19050">
            <a:solidFill>
              <a:srgbClr val="0B0A12"/>
            </a:solidFill>
            <a:prstDash val="solid"/>
          </a:ln>
        </p:spPr>
      </p:sp>
      <p:sp>
        <p:nvSpPr>
          <p:cNvPr id="13" name="Use legend 0"/>
          <p:cNvSpPr/>
          <p:nvPr/>
        </p:nvSpPr>
        <p:spPr>
          <a:xfrm>
            <a:off x="640080" y="2048256"/>
            <a:ext cx="128016" cy="128016"/>
          </a:xfrm>
          <a:prstGeom prst="rect">
            <a:avLst/>
          </a:prstGeom>
          <a:solidFill>
            <a:srgbClr val="7C3AED"/>
          </a:solidFill>
          <a:ln w="6350">
            <a:solidFill>
              <a:srgbClr val="7C3AED"/>
            </a:solidFill>
            <a:prstDash val="solid"/>
          </a:ln>
        </p:spPr>
      </p:sp>
      <p:sp>
        <p:nvSpPr>
          <p:cNvPr id="14" name="Use legend text 0"/>
          <p:cNvSpPr txBox="1"/>
          <p:nvPr/>
        </p:nvSpPr>
        <p:spPr>
          <a:xfrm>
            <a:off x="822960" y="1984248"/>
            <a:ext cx="1371600" cy="411480"/>
          </a:xfrm>
          <a:prstGeom prst="rect">
            <a:avLst/>
          </a:prstGeom>
          <a:noFill/>
          <a:ln/>
        </p:spPr>
        <p:txBody>
          <a:bodyPr wrap="square" lIns="0" tIns="0" rIns="0" bIns="0" rtlCol="0" anchor="t"/>
          <a:lstStyle/>
          <a:p>
            <a:pPr indent="0" marL="0">
              <a:buNone/>
            </a:pPr>
            <a:r>
              <a:rPr lang="en-US" sz="900" dirty="0">
                <a:solidFill>
                  <a:srgbClr val="D6D3E6"/>
                </a:solidFill>
              </a:rPr>
              <a:t>Product &amp; engineering</a:t>
            </a:r>
            <a:endParaRPr lang="en-US" sz="900" dirty="0"/>
          </a:p>
        </p:txBody>
      </p:sp>
      <p:sp>
        <p:nvSpPr>
          <p:cNvPr id="15" name="Use amount 0"/>
          <p:cNvSpPr txBox="1"/>
          <p:nvPr/>
        </p:nvSpPr>
        <p:spPr>
          <a:xfrm>
            <a:off x="822960" y="2331720"/>
            <a:ext cx="1371600" cy="228600"/>
          </a:xfrm>
          <a:prstGeom prst="rect">
            <a:avLst/>
          </a:prstGeom>
          <a:noFill/>
          <a:ln/>
        </p:spPr>
        <p:txBody>
          <a:bodyPr wrap="square" lIns="0" tIns="0" rIns="0" bIns="0" rtlCol="0" anchor="ctr"/>
          <a:lstStyle/>
          <a:p>
            <a:pPr indent="0" marL="0">
              <a:buNone/>
            </a:pPr>
            <a:r>
              <a:rPr lang="en-US" sz="1050" b="1" dirty="0">
                <a:solidFill>
                  <a:srgbClr val="FFFFFF"/>
                </a:solidFill>
              </a:rPr>
              <a:t>US$158K</a:t>
            </a:r>
            <a:endParaRPr lang="en-US" sz="1050" dirty="0"/>
          </a:p>
        </p:txBody>
      </p:sp>
      <p:sp>
        <p:nvSpPr>
          <p:cNvPr id="16" name="Use legend 1"/>
          <p:cNvSpPr/>
          <p:nvPr/>
        </p:nvSpPr>
        <p:spPr>
          <a:xfrm>
            <a:off x="2240280" y="2048256"/>
            <a:ext cx="128016" cy="128016"/>
          </a:xfrm>
          <a:prstGeom prst="rect">
            <a:avLst/>
          </a:prstGeom>
          <a:solidFill>
            <a:srgbClr val="34D399"/>
          </a:solidFill>
          <a:ln w="6350">
            <a:solidFill>
              <a:srgbClr val="34D399"/>
            </a:solidFill>
            <a:prstDash val="solid"/>
          </a:ln>
        </p:spPr>
      </p:sp>
      <p:sp>
        <p:nvSpPr>
          <p:cNvPr id="17" name="Use legend text 1"/>
          <p:cNvSpPr txBox="1"/>
          <p:nvPr/>
        </p:nvSpPr>
        <p:spPr>
          <a:xfrm>
            <a:off x="2423160" y="1984248"/>
            <a:ext cx="1371600" cy="411480"/>
          </a:xfrm>
          <a:prstGeom prst="rect">
            <a:avLst/>
          </a:prstGeom>
          <a:noFill/>
          <a:ln/>
        </p:spPr>
        <p:txBody>
          <a:bodyPr wrap="square" lIns="0" tIns="0" rIns="0" bIns="0" rtlCol="0" anchor="t"/>
          <a:lstStyle/>
          <a:p>
            <a:pPr indent="0" marL="0">
              <a:buNone/>
            </a:pPr>
            <a:r>
              <a:rPr lang="en-US" sz="900" dirty="0">
                <a:solidFill>
                  <a:srgbClr val="D6D3E6"/>
                </a:solidFill>
              </a:rPr>
              <a:t>Sales &amp; marketing</a:t>
            </a:r>
            <a:endParaRPr lang="en-US" sz="900" dirty="0"/>
          </a:p>
        </p:txBody>
      </p:sp>
      <p:sp>
        <p:nvSpPr>
          <p:cNvPr id="18" name="Use amount 1"/>
          <p:cNvSpPr txBox="1"/>
          <p:nvPr/>
        </p:nvSpPr>
        <p:spPr>
          <a:xfrm>
            <a:off x="2423160" y="2331720"/>
            <a:ext cx="1371600" cy="228600"/>
          </a:xfrm>
          <a:prstGeom prst="rect">
            <a:avLst/>
          </a:prstGeom>
          <a:noFill/>
          <a:ln/>
        </p:spPr>
        <p:txBody>
          <a:bodyPr wrap="square" lIns="0" tIns="0" rIns="0" bIns="0" rtlCol="0" anchor="ctr"/>
          <a:lstStyle/>
          <a:p>
            <a:pPr indent="0" marL="0">
              <a:buNone/>
            </a:pPr>
            <a:r>
              <a:rPr lang="en-US" sz="1050" b="1" dirty="0">
                <a:solidFill>
                  <a:srgbClr val="FFFFFF"/>
                </a:solidFill>
              </a:rPr>
              <a:t>US$105K</a:t>
            </a:r>
            <a:endParaRPr lang="en-US" sz="1050" dirty="0"/>
          </a:p>
        </p:txBody>
      </p:sp>
      <p:sp>
        <p:nvSpPr>
          <p:cNvPr id="19" name="Use legend 2"/>
          <p:cNvSpPr/>
          <p:nvPr/>
        </p:nvSpPr>
        <p:spPr>
          <a:xfrm>
            <a:off x="3840480" y="2048256"/>
            <a:ext cx="128016" cy="128016"/>
          </a:xfrm>
          <a:prstGeom prst="rect">
            <a:avLst/>
          </a:prstGeom>
          <a:solidFill>
            <a:srgbClr val="C4B5FD"/>
          </a:solidFill>
          <a:ln w="6350">
            <a:solidFill>
              <a:srgbClr val="C4B5FD"/>
            </a:solidFill>
            <a:prstDash val="solid"/>
          </a:ln>
        </p:spPr>
      </p:sp>
      <p:sp>
        <p:nvSpPr>
          <p:cNvPr id="20" name="Use legend text 2"/>
          <p:cNvSpPr txBox="1"/>
          <p:nvPr/>
        </p:nvSpPr>
        <p:spPr>
          <a:xfrm>
            <a:off x="4023360" y="1984248"/>
            <a:ext cx="1371600" cy="411480"/>
          </a:xfrm>
          <a:prstGeom prst="rect">
            <a:avLst/>
          </a:prstGeom>
          <a:noFill/>
          <a:ln/>
        </p:spPr>
        <p:txBody>
          <a:bodyPr wrap="square" lIns="0" tIns="0" rIns="0" bIns="0" rtlCol="0" anchor="t"/>
          <a:lstStyle/>
          <a:p>
            <a:pPr indent="0" marL="0">
              <a:buNone/>
            </a:pPr>
            <a:r>
              <a:rPr lang="en-US" sz="900" dirty="0">
                <a:solidFill>
                  <a:srgbClr val="D6D3E6"/>
                </a:solidFill>
              </a:rPr>
              <a:t>Support &amp; operations</a:t>
            </a:r>
            <a:endParaRPr lang="en-US" sz="900" dirty="0"/>
          </a:p>
        </p:txBody>
      </p:sp>
      <p:sp>
        <p:nvSpPr>
          <p:cNvPr id="21" name="Use amount 2"/>
          <p:cNvSpPr txBox="1"/>
          <p:nvPr/>
        </p:nvSpPr>
        <p:spPr>
          <a:xfrm>
            <a:off x="4023360" y="2331720"/>
            <a:ext cx="1371600" cy="228600"/>
          </a:xfrm>
          <a:prstGeom prst="rect">
            <a:avLst/>
          </a:prstGeom>
          <a:noFill/>
          <a:ln/>
        </p:spPr>
        <p:txBody>
          <a:bodyPr wrap="square" lIns="0" tIns="0" rIns="0" bIns="0" rtlCol="0" anchor="ctr"/>
          <a:lstStyle/>
          <a:p>
            <a:pPr indent="0" marL="0">
              <a:buNone/>
            </a:pPr>
            <a:r>
              <a:rPr lang="en-US" sz="1050" b="1" dirty="0">
                <a:solidFill>
                  <a:srgbClr val="FFFFFF"/>
                </a:solidFill>
              </a:rPr>
              <a:t>US$35K</a:t>
            </a:r>
            <a:endParaRPr lang="en-US" sz="1050" dirty="0"/>
          </a:p>
        </p:txBody>
      </p:sp>
      <p:sp>
        <p:nvSpPr>
          <p:cNvPr id="22" name="Use legend 3"/>
          <p:cNvSpPr/>
          <p:nvPr/>
        </p:nvSpPr>
        <p:spPr>
          <a:xfrm>
            <a:off x="5440680" y="2048256"/>
            <a:ext cx="128016" cy="128016"/>
          </a:xfrm>
          <a:prstGeom prst="rect">
            <a:avLst/>
          </a:prstGeom>
          <a:solidFill>
            <a:srgbClr val="7C6FB0"/>
          </a:solidFill>
          <a:ln w="6350">
            <a:solidFill>
              <a:srgbClr val="7C6FB0"/>
            </a:solidFill>
            <a:prstDash val="solid"/>
          </a:ln>
        </p:spPr>
      </p:sp>
      <p:sp>
        <p:nvSpPr>
          <p:cNvPr id="23" name="Use legend text 3"/>
          <p:cNvSpPr txBox="1"/>
          <p:nvPr/>
        </p:nvSpPr>
        <p:spPr>
          <a:xfrm>
            <a:off x="5623560" y="1984248"/>
            <a:ext cx="1371600" cy="411480"/>
          </a:xfrm>
          <a:prstGeom prst="rect">
            <a:avLst/>
          </a:prstGeom>
          <a:noFill/>
          <a:ln/>
        </p:spPr>
        <p:txBody>
          <a:bodyPr wrap="square" lIns="0" tIns="0" rIns="0" bIns="0" rtlCol="0" anchor="t"/>
          <a:lstStyle/>
          <a:p>
            <a:pPr indent="0" marL="0">
              <a:buNone/>
            </a:pPr>
            <a:r>
              <a:rPr lang="en-US" sz="900" dirty="0">
                <a:solidFill>
                  <a:srgbClr val="D6D3E6"/>
                </a:solidFill>
              </a:rPr>
              <a:t>Infrastructure &amp; reserve</a:t>
            </a:r>
            <a:endParaRPr lang="en-US" sz="900" dirty="0"/>
          </a:p>
        </p:txBody>
      </p:sp>
      <p:sp>
        <p:nvSpPr>
          <p:cNvPr id="24" name="Use amount 3"/>
          <p:cNvSpPr txBox="1"/>
          <p:nvPr/>
        </p:nvSpPr>
        <p:spPr>
          <a:xfrm>
            <a:off x="5623560" y="2331720"/>
            <a:ext cx="1371600" cy="228600"/>
          </a:xfrm>
          <a:prstGeom prst="rect">
            <a:avLst/>
          </a:prstGeom>
          <a:noFill/>
          <a:ln/>
        </p:spPr>
        <p:txBody>
          <a:bodyPr wrap="square" lIns="0" tIns="0" rIns="0" bIns="0" rtlCol="0" anchor="ctr"/>
          <a:lstStyle/>
          <a:p>
            <a:pPr indent="0" marL="0">
              <a:buNone/>
            </a:pPr>
            <a:r>
              <a:rPr lang="en-US" sz="1050" b="1" dirty="0">
                <a:solidFill>
                  <a:srgbClr val="FFFFFF"/>
                </a:solidFill>
              </a:rPr>
              <a:t>US$28K</a:t>
            </a:r>
            <a:endParaRPr lang="en-US" sz="1050" dirty="0"/>
          </a:p>
        </p:txBody>
      </p:sp>
      <p:sp>
        <p:nvSpPr>
          <p:cNvPr id="25" name="Use legend 4"/>
          <p:cNvSpPr/>
          <p:nvPr/>
        </p:nvSpPr>
        <p:spPr>
          <a:xfrm>
            <a:off x="7040880" y="2048256"/>
            <a:ext cx="128016" cy="128016"/>
          </a:xfrm>
          <a:prstGeom prst="rect">
            <a:avLst/>
          </a:prstGeom>
          <a:solidFill>
            <a:srgbClr val="F5A524"/>
          </a:solidFill>
          <a:ln w="6350">
            <a:solidFill>
              <a:srgbClr val="F5A524"/>
            </a:solidFill>
            <a:prstDash val="solid"/>
          </a:ln>
        </p:spPr>
      </p:sp>
      <p:sp>
        <p:nvSpPr>
          <p:cNvPr id="26" name="Use legend text 4"/>
          <p:cNvSpPr txBox="1"/>
          <p:nvPr/>
        </p:nvSpPr>
        <p:spPr>
          <a:xfrm>
            <a:off x="7223760" y="1984248"/>
            <a:ext cx="1371600" cy="411480"/>
          </a:xfrm>
          <a:prstGeom prst="rect">
            <a:avLst/>
          </a:prstGeom>
          <a:noFill/>
          <a:ln/>
        </p:spPr>
        <p:txBody>
          <a:bodyPr wrap="square" lIns="0" tIns="0" rIns="0" bIns="0" rtlCol="0" anchor="t"/>
          <a:lstStyle/>
          <a:p>
            <a:pPr indent="0" marL="0">
              <a:buNone/>
            </a:pPr>
            <a:r>
              <a:rPr lang="en-US" sz="900" dirty="0">
                <a:solidFill>
                  <a:srgbClr val="D6D3E6"/>
                </a:solidFill>
              </a:rPr>
              <a:t>Legal, brand &amp; e-invoicing</a:t>
            </a:r>
            <a:endParaRPr lang="en-US" sz="900" dirty="0"/>
          </a:p>
        </p:txBody>
      </p:sp>
      <p:sp>
        <p:nvSpPr>
          <p:cNvPr id="27" name="Use amount 4"/>
          <p:cNvSpPr txBox="1"/>
          <p:nvPr/>
        </p:nvSpPr>
        <p:spPr>
          <a:xfrm>
            <a:off x="7223760" y="2331720"/>
            <a:ext cx="1371600" cy="228600"/>
          </a:xfrm>
          <a:prstGeom prst="rect">
            <a:avLst/>
          </a:prstGeom>
          <a:noFill/>
          <a:ln/>
        </p:spPr>
        <p:txBody>
          <a:bodyPr wrap="square" lIns="0" tIns="0" rIns="0" bIns="0" rtlCol="0" anchor="ctr"/>
          <a:lstStyle/>
          <a:p>
            <a:pPr indent="0" marL="0">
              <a:buNone/>
            </a:pPr>
            <a:r>
              <a:rPr lang="en-US" sz="1050" b="1" dirty="0">
                <a:solidFill>
                  <a:srgbClr val="FFFFFF"/>
                </a:solidFill>
              </a:rPr>
              <a:t>US$25K</a:t>
            </a:r>
            <a:endParaRPr lang="en-US" sz="1050" dirty="0"/>
          </a:p>
        </p:txBody>
      </p:sp>
      <p:pic>
        <p:nvPicPr>
          <p:cNvPr id="28" name="Milestone icon 0" descr="preencoded.png">    </p:cNvPr>
          <p:cNvPicPr>
            <a:picLocks noChangeAspect="1"/>
          </p:cNvPicPr>
          <p:nvPr/>
        </p:nvPicPr>
        <p:blipFill>
          <a:blip r:embed="rId2"/>
          <a:stretch>
            <a:fillRect/>
          </a:stretch>
        </p:blipFill>
        <p:spPr>
          <a:xfrm>
            <a:off x="640080" y="2825496"/>
            <a:ext cx="256032" cy="256032"/>
          </a:xfrm>
          <a:prstGeom prst="rect">
            <a:avLst/>
          </a:prstGeom>
        </p:spPr>
      </p:pic>
      <p:sp>
        <p:nvSpPr>
          <p:cNvPr id="29" name="Milestone 0"/>
          <p:cNvSpPr txBox="1"/>
          <p:nvPr/>
        </p:nvSpPr>
        <p:spPr>
          <a:xfrm>
            <a:off x="1024128" y="2788920"/>
            <a:ext cx="3474720" cy="292608"/>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Launch on Google Play</a:t>
            </a:r>
            <a:endParaRPr lang="en-US" sz="1350" dirty="0"/>
          </a:p>
        </p:txBody>
      </p:sp>
      <p:sp>
        <p:nvSpPr>
          <p:cNvPr id="30" name="Milestone text 0"/>
          <p:cNvSpPr txBox="1"/>
          <p:nvPr/>
        </p:nvSpPr>
        <p:spPr>
          <a:xfrm>
            <a:off x="1024128" y="3090672"/>
            <a:ext cx="3474720" cy="274320"/>
          </a:xfrm>
          <a:prstGeom prst="rect">
            <a:avLst/>
          </a:prstGeom>
          <a:noFill/>
          <a:ln/>
        </p:spPr>
        <p:txBody>
          <a:bodyPr wrap="square" lIns="0" tIns="0" rIns="0" bIns="0" rtlCol="0" anchor="ctr"/>
          <a:lstStyle/>
          <a:p>
            <a:pPr indent="0" marL="0">
              <a:buNone/>
            </a:pPr>
            <a:r>
              <a:rPr lang="en-US" sz="1000" dirty="0">
                <a:solidFill>
                  <a:srgbClr val="A9A6BD"/>
                </a:solidFill>
              </a:rPr>
              <a:t>Store-ready app: Android 16, offline start, privacy &amp; account deletion</a:t>
            </a:r>
            <a:endParaRPr lang="en-US" sz="1000" dirty="0"/>
          </a:p>
        </p:txBody>
      </p:sp>
      <p:pic>
        <p:nvPicPr>
          <p:cNvPr id="31" name="Milestone icon 1" descr="preencoded.png">    </p:cNvPr>
          <p:cNvPicPr>
            <a:picLocks noChangeAspect="1"/>
          </p:cNvPicPr>
          <p:nvPr/>
        </p:nvPicPr>
        <p:blipFill>
          <a:blip r:embed="rId3"/>
          <a:stretch>
            <a:fillRect/>
          </a:stretch>
        </p:blipFill>
        <p:spPr>
          <a:xfrm>
            <a:off x="4617720" y="2825496"/>
            <a:ext cx="256032" cy="256032"/>
          </a:xfrm>
          <a:prstGeom prst="rect">
            <a:avLst/>
          </a:prstGeom>
        </p:spPr>
      </p:pic>
      <p:sp>
        <p:nvSpPr>
          <p:cNvPr id="32" name="Milestone 1"/>
          <p:cNvSpPr txBox="1"/>
          <p:nvPr/>
        </p:nvSpPr>
        <p:spPr>
          <a:xfrm>
            <a:off x="5001768" y="2788920"/>
            <a:ext cx="3474720" cy="292608"/>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Paid pilots → 360 businesses</a:t>
            </a:r>
            <a:endParaRPr lang="en-US" sz="1350" dirty="0"/>
          </a:p>
        </p:txBody>
      </p:sp>
      <p:sp>
        <p:nvSpPr>
          <p:cNvPr id="33" name="Milestone text 1"/>
          <p:cNvSpPr txBox="1"/>
          <p:nvPr/>
        </p:nvSpPr>
        <p:spPr>
          <a:xfrm>
            <a:off x="5001768" y="3090672"/>
            <a:ext cx="3474720" cy="274320"/>
          </a:xfrm>
          <a:prstGeom prst="rect">
            <a:avLst/>
          </a:prstGeom>
          <a:noFill/>
          <a:ln/>
        </p:spPr>
        <p:txBody>
          <a:bodyPr wrap="square" lIns="0" tIns="0" rIns="0" bIns="0" rtlCol="0" anchor="ctr"/>
          <a:lstStyle/>
          <a:p>
            <a:pPr indent="0" marL="0">
              <a:buNone/>
            </a:pPr>
            <a:r>
              <a:rPr lang="en-US" sz="1000" dirty="0">
                <a:solidFill>
                  <a:srgbClr val="A9A6BD"/>
                </a:solidFill>
              </a:rPr>
              <a:t>Year-1 target in the base case</a:t>
            </a:r>
            <a:endParaRPr lang="en-US" sz="1000" dirty="0"/>
          </a:p>
        </p:txBody>
      </p:sp>
      <p:pic>
        <p:nvPicPr>
          <p:cNvPr id="34" name="Milestone icon 2" descr="preencoded.png">    </p:cNvPr>
          <p:cNvPicPr>
            <a:picLocks noChangeAspect="1"/>
          </p:cNvPicPr>
          <p:nvPr/>
        </p:nvPicPr>
        <p:blipFill>
          <a:blip r:embed="rId4"/>
          <a:stretch>
            <a:fillRect/>
          </a:stretch>
        </p:blipFill>
        <p:spPr>
          <a:xfrm>
            <a:off x="640080" y="3694176"/>
            <a:ext cx="256032" cy="256032"/>
          </a:xfrm>
          <a:prstGeom prst="rect">
            <a:avLst/>
          </a:prstGeom>
        </p:spPr>
      </p:pic>
      <p:sp>
        <p:nvSpPr>
          <p:cNvPr id="35" name="Milestone 2"/>
          <p:cNvSpPr txBox="1"/>
          <p:nvPr/>
        </p:nvSpPr>
        <p:spPr>
          <a:xfrm>
            <a:off x="1024128" y="3657600"/>
            <a:ext cx="3474720" cy="292608"/>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Break-even in month 27</a:t>
            </a:r>
            <a:endParaRPr lang="en-US" sz="1350" dirty="0"/>
          </a:p>
        </p:txBody>
      </p:sp>
      <p:sp>
        <p:nvSpPr>
          <p:cNvPr id="36" name="Milestone text 2"/>
          <p:cNvSpPr txBox="1"/>
          <p:nvPr/>
        </p:nvSpPr>
        <p:spPr>
          <a:xfrm>
            <a:off x="1024128" y="3959352"/>
            <a:ext cx="3474720" cy="274320"/>
          </a:xfrm>
          <a:prstGeom prst="rect">
            <a:avLst/>
          </a:prstGeom>
          <a:noFill/>
          <a:ln/>
        </p:spPr>
        <p:txBody>
          <a:bodyPr wrap="square" lIns="0" tIns="0" rIns="0" bIns="0" rtlCol="0" anchor="ctr"/>
          <a:lstStyle/>
          <a:p>
            <a:pPr indent="0" marL="0">
              <a:buNone/>
            </a:pPr>
            <a:r>
              <a:rPr lang="en-US" sz="1000" dirty="0">
                <a:solidFill>
                  <a:srgbClr val="A9A6BD"/>
                </a:solidFill>
              </a:rPr>
              <a:t>Base case covered: model needs US$315K</a:t>
            </a:r>
            <a:endParaRPr lang="en-US" sz="1000" dirty="0"/>
          </a:p>
        </p:txBody>
      </p:sp>
      <p:pic>
        <p:nvPicPr>
          <p:cNvPr id="37" name="Milestone icon 3" descr="preencoded.png">    </p:cNvPr>
          <p:cNvPicPr>
            <a:picLocks noChangeAspect="1"/>
          </p:cNvPicPr>
          <p:nvPr/>
        </p:nvPicPr>
        <p:blipFill>
          <a:blip r:embed="rId5"/>
          <a:stretch>
            <a:fillRect/>
          </a:stretch>
        </p:blipFill>
        <p:spPr>
          <a:xfrm>
            <a:off x="4617720" y="3694176"/>
            <a:ext cx="256032" cy="256032"/>
          </a:xfrm>
          <a:prstGeom prst="rect">
            <a:avLst/>
          </a:prstGeom>
        </p:spPr>
      </p:pic>
      <p:sp>
        <p:nvSpPr>
          <p:cNvPr id="38" name="Milestone 3"/>
          <p:cNvSpPr txBox="1"/>
          <p:nvPr/>
        </p:nvSpPr>
        <p:spPr>
          <a:xfrm>
            <a:off x="5001768" y="3657600"/>
            <a:ext cx="3474720" cy="292608"/>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19 months of runway</a:t>
            </a:r>
            <a:endParaRPr lang="en-US" sz="1350" dirty="0"/>
          </a:p>
        </p:txBody>
      </p:sp>
      <p:sp>
        <p:nvSpPr>
          <p:cNvPr id="39" name="Milestone text 3"/>
          <p:cNvSpPr txBox="1"/>
          <p:nvPr/>
        </p:nvSpPr>
        <p:spPr>
          <a:xfrm>
            <a:off x="5001768" y="3959352"/>
            <a:ext cx="3474720" cy="274320"/>
          </a:xfrm>
          <a:prstGeom prst="rect">
            <a:avLst/>
          </a:prstGeom>
          <a:noFill/>
          <a:ln/>
        </p:spPr>
        <p:txBody>
          <a:bodyPr wrap="square" lIns="0" tIns="0" rIns="0" bIns="0" rtlCol="0" anchor="ctr"/>
          <a:lstStyle/>
          <a:p>
            <a:pPr indent="0" marL="0">
              <a:buNone/>
            </a:pPr>
            <a:r>
              <a:rPr lang="en-US" sz="1000" dirty="0">
                <a:solidFill>
                  <a:srgbClr val="A9A6BD"/>
                </a:solidFill>
              </a:rPr>
              <a:t>With the full hiring plan, before revenue</a:t>
            </a:r>
            <a:endParaRPr lang="en-US" sz="1000" dirty="0"/>
          </a:p>
        </p:txBody>
      </p:sp>
      <p:sp>
        <p:nvSpPr>
          <p:cNvPr id="40" name="Ask alternatives"/>
          <p:cNvSpPr txBox="1"/>
          <p:nvPr/>
        </p:nvSpPr>
        <p:spPr>
          <a:xfrm>
            <a:off x="640080" y="4553712"/>
            <a:ext cx="7863840" cy="228600"/>
          </a:xfrm>
          <a:prstGeom prst="rect">
            <a:avLst/>
          </a:prstGeom>
          <a:noFill/>
          <a:ln/>
        </p:spPr>
        <p:txBody>
          <a:bodyPr wrap="square" lIns="0" tIns="0" rIns="0" bIns="0" rtlCol="0" anchor="ctr"/>
          <a:lstStyle/>
          <a:p>
            <a:pPr indent="0" marL="0">
              <a:buNone/>
            </a:pPr>
            <a:r>
              <a:rPr lang="en-US" sz="950" i="1" dirty="0">
                <a:solidFill>
                  <a:srgbClr val="C4B5FD"/>
                </a:solidFill>
              </a:rPr>
              <a:t>Alternatives: US$100K angel round (lean launch) · US$700K seed (two cities + faster hiring).</a:t>
            </a:r>
            <a:endParaRPr lang="en-US" sz="950" dirty="0"/>
          </a:p>
        </p:txBody>
      </p:sp>
      <p:sp>
        <p:nvSpPr>
          <p:cNvPr id="25" name="Slide Number Placeholder 0"/>
          <p:cNvSpPr>
            <a:spLocks noGrp="1"/>
          </p:cNvSpPr>
          <p:nvPr>
            <p:ph type="sldNum" sz="quarter" idx="4294967295"/>
          </p:nvPr>
        </p:nvSpPr>
        <p:spPr>
          <a:xfrm>
            <a:off x="841248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E6A8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Background light"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Vento logo closing" descr="preencoded.png">    </p:cNvPr>
          <p:cNvPicPr>
            <a:picLocks noChangeAspect="1"/>
          </p:cNvPicPr>
          <p:nvPr/>
        </p:nvPicPr>
        <p:blipFill>
          <a:blip r:embed="rId2"/>
          <a:stretch>
            <a:fillRect/>
          </a:stretch>
        </p:blipFill>
        <p:spPr>
          <a:xfrm>
            <a:off x="640080" y="548640"/>
            <a:ext cx="731520" cy="731520"/>
          </a:xfrm>
          <a:prstGeom prst="rect">
            <a:avLst/>
          </a:prstGeom>
        </p:spPr>
      </p:pic>
      <p:sp>
        <p:nvSpPr>
          <p:cNvPr id="4" name="Text 0"/>
          <p:cNvSpPr/>
          <p:nvPr>
            <p:ph idx="100" type="title" hasCustomPrompt="1"/>
          </p:nvPr>
        </p:nvSpPr>
        <p:spPr>
          <a:xfrm>
            <a:off x="640080" y="1417320"/>
            <a:ext cx="5120640" cy="1280160"/>
          </a:xfrm>
          <a:prstGeom prst="rect">
            <a:avLst/>
          </a:prstGeom>
          <a:noFill/>
          <a:ln/>
        </p:spPr>
        <p:txBody>
          <a:bodyPr wrap="square" lIns="0" tIns="0" rIns="0" bIns="0" rtlCol="0" anchor="b"/>
          <a:lstStyle/>
          <a:p>
            <a:pPr indent="0" marL="0">
              <a:buNone/>
            </a:pPr>
            <a:r>
              <a:rPr lang="en-US" sz="4400" b="1" dirty="0">
                <a:solidFill>
                  <a:schemeClr val="bg1"/>
                </a:solidFill>
              </a:rPr>
              <a:t>Vento works for you.</a:t>
            </a:r>
            <a:endParaRPr lang="en-US" sz="6000" dirty="0"/>
          </a:p>
        </p:txBody>
      </p:sp>
      <p:sp>
        <p:nvSpPr>
          <p:cNvPr id="5" name="Text 0"/>
          <p:cNvSpPr/>
          <p:nvPr>
            <p:ph idx="101" type="body" hasCustomPrompt="1"/>
          </p:nvPr>
        </p:nvSpPr>
        <p:spPr>
          <a:xfrm>
            <a:off x="640080" y="2788920"/>
            <a:ext cx="4754880" cy="1280160"/>
          </a:xfrm>
          <a:prstGeom prst="rect">
            <a:avLst/>
          </a:prstGeom>
          <a:noFill/>
          <a:ln/>
        </p:spPr>
        <p:txBody>
          <a:bodyPr wrap="square" lIns="0" tIns="0" rIns="0" bIns="0" rtlCol="0" anchor="t"/>
          <a:lstStyle/>
          <a:p>
            <a:pPr indent="0" marL="0">
              <a:spcAft>
                <a:spcPts val="1200"/>
              </a:spcAft>
              <a:buNone/>
            </a:pPr>
            <a:r>
              <a:rPr lang="en-US" sz="2000" b="1" dirty="0">
                <a:solidFill>
                  <a:schemeClr val="accent2"/>
                </a:solidFill>
              </a:rPr>
              <a:t>Let’s build the voice of Latin America’s small businesses.</a:t>
            </a:r>
            <a:endParaRPr lang="en-US" sz="2000" dirty="0"/>
          </a:p>
          <a:p>
            <a:pPr indent="0" marL="0">
              <a:spcAft>
                <a:spcPts val="400"/>
              </a:spcAft>
              <a:buNone/>
            </a:pPr>
            <a:r>
              <a:rPr lang="en-US" sz="1500" dirty="0">
                <a:solidFill>
                  <a:srgbClr val="34D399"/>
                </a:solidFill>
              </a:rPr>
              <a:t>WhatsApp +57 313 895 0277</a:t>
            </a:r>
            <a:endParaRPr lang="en-US" sz="2000" dirty="0"/>
          </a:p>
          <a:p>
            <a:pPr indent="0" marL="0">
              <a:buNone/>
            </a:pPr>
            <a:r>
              <a:rPr lang="en-US" sz="1300" dirty="0">
                <a:solidFill>
                  <a:srgbClr val="B9B5CF"/>
                </a:solidFill>
              </a:rPr>
              <a:t>cristhianlujan45-blip.github.io/cuentas</a:t>
            </a:r>
            <a:endParaRPr lang="en-US" sz="2000" dirty="0"/>
          </a:p>
        </p:txBody>
      </p:sp>
      <p:sp>
        <p:nvSpPr>
          <p:cNvPr id="6" name="Payment screen frame"/>
          <p:cNvSpPr/>
          <p:nvPr/>
        </p:nvSpPr>
        <p:spPr>
          <a:xfrm>
            <a:off x="6336792" y="438912"/>
            <a:ext cx="2050531" cy="4288536"/>
          </a:xfrm>
          <a:prstGeom prst="roundRect">
            <a:avLst>
              <a:gd name="adj" fmla="val 9811"/>
            </a:avLst>
          </a:prstGeom>
          <a:solidFill>
            <a:srgbClr val="05050A"/>
          </a:solidFill>
          <a:ln w="19050">
            <a:solidFill>
              <a:srgbClr val="5B47A8"/>
            </a:solidFill>
            <a:prstDash val="solid"/>
          </a:ln>
          <a:effectLst>
            <a:outerShdw sx="100000" sy="100000" kx="0" ky="0" algn="bl" rotWithShape="0" blurRad="304800" dist="38100" dir="5400000">
              <a:srgbClr val="7C3AED">
                <a:alpha val="50000"/>
              </a:srgbClr>
            </a:outerShdw>
          </a:effectLst>
        </p:spPr>
      </p:sp>
      <p:pic>
        <p:nvPicPr>
          <p:cNvPr id="7" name="Payment screen" descr="preencoded.png">    </p:cNvPr>
          <p:cNvPicPr>
            <a:picLocks noChangeAspect="1"/>
          </p:cNvPicPr>
          <p:nvPr/>
        </p:nvPicPr>
        <p:blipFill>
          <a:blip r:embed="rId3"/>
          <a:stretch>
            <a:fillRect/>
          </a:stretch>
        </p:blipFill>
        <p:spPr>
          <a:xfrm>
            <a:off x="6400800" y="502920"/>
            <a:ext cx="1922515" cy="4160520"/>
          </a:xfrm>
          <a:prstGeom prst="rect">
            <a:avLst/>
          </a:prstGeom>
        </p:spPr>
      </p:pic>
    </p:spTree>
  </p:cSld>
  <p:clrMapOvr>
    <a:masterClrMapping/>
  </p:clrMapOvr>
</p:sld>
</file>

<file path=ppt/theme/theme1.xml><?xml version="1.0" encoding="utf-8"?>
<a:theme xmlns:a="http://schemas.openxmlformats.org/drawingml/2006/main" name="Vento Pitch">
  <a:themeElements>
    <a:clrScheme name="Vento Pitch">
      <a:dk1>
        <a:srgbClr val="0B0A12"/>
      </a:dk1>
      <a:lt1>
        <a:srgbClr val="FFFFFF"/>
      </a:lt1>
      <a:dk2>
        <a:srgbClr val="1C1A2B"/>
      </a:dk2>
      <a:lt2>
        <a:srgbClr val="F2F1F7"/>
      </a:lt2>
      <a:accent1>
        <a:srgbClr val="7C3AED"/>
      </a:accent1>
      <a:accent2>
        <a:srgbClr val="C4B5FD"/>
      </a:accent2>
      <a:accent3>
        <a:srgbClr val="34D399"/>
      </a:accent3>
      <a:accent4>
        <a:srgbClr val="A78BFA"/>
      </a:accent4>
      <a:accent5>
        <a:srgbClr val="FB7185"/>
      </a:accent5>
      <a:accent6>
        <a:srgbClr val="9A97AD"/>
      </a:accent6>
      <a:hlink>
        <a:srgbClr val="C4B5FD"/>
      </a:hlink>
      <a:folHlink>
        <a:srgbClr val="A78BFA"/>
      </a:folHlink>
    </a:clrScheme>
    <a:fontScheme name="Vento Pitch">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Vento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Vento — Investor presentation</dc:title>
  <dc:subject>PptxGenJS Presentation</dc:subject>
  <dc:creator>Vento</dc:creator>
  <cp:lastModifiedBy>Vento</cp:lastModifiedBy>
  <cp:revision>1</cp:revision>
  <dcterms:created xsi:type="dcterms:W3CDTF">2026-10-04T02:38:36Z</dcterms:created>
  <dcterms:modified xsi:type="dcterms:W3CDTF">2026-10-04T02:38:36Z</dcterms:modified>
</cp:coreProperties>
</file>