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216dfa0-d89f-c9f6-1b11-ee5c2b76fa15}">
          <p14:sldIdLst>
            <p14:sldId id="256"/>
          </p14:sldIdLst>
        </p14:section>
        <p14:section name="Problema" id="{02bc24f6-ffc7-cbac-2c54-afe4e4a0fdec}">
          <p14:sldIdLst>
            <p14:sldId id="257"/>
          </p14:sldIdLst>
        </p14:section>
        <p14:section name="Producto" id="{19d72f64-78c0-b9ab-01c6-398a353ef6a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ercado" id="{019ae6f1-27c2-7692-84b7-3312e10a9ad4}">
          <p14:sldIdLst>
            <p14:sldId id="264"/>
            <p14:sldId id="265"/>
          </p14:sldIdLst>
        </p14:section>
        <p14:section name="Negocio" id="{b25c9f0e-baf3-0404-709b-10424bc63d62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Visión" id="{8b826978-cbad-0e55-b16a-2d25712b47ce}">
          <p14:sldIdLst>
            <p14:sldId id="272"/>
            <p14:sldId id="273"/>
            <p14:sldId id="274"/>
            <p14:sldId id="275"/>
          </p14:sldIdLst>
        </p14:section>
        <p14:section name="Cierre" id="{36cbd90c-044f-beda-e20f-ae10ddad4ea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Vento entiende el español de Colombia, incluidos los nombres de cervezas y productos locales.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funciona. El aviso del banco se reenvía a Vento (hoy con la app gratis MacroDroid en el celular del negocio, o por el servidor de Vento). Como el SonoQR de Bold, Vento anuncia en voz alta cada pago. Vento no cobra comisión por venta ni por verificar; las tarifas de bancos o billeteras son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programas de referidos y aliados están planeados; validar su conversión en los pilotos.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Visión: un equipo que convierte a Vento en la voz del mostrador. Hoy esto ya se logra con una tableta con Vento y «Hola Vento».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Agregar el nombre, la foto y una línea de experiencia de cada fundador.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HERO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CONTENT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Vento 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Vento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788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El sistema operativo por voz para los pequeños negocios de Latinoamérica.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B9B5CF"/>
                </a:solidFill>
              </a:rPr>
              <a:t>Vende, verifica pagos, maneja el inventario y háblale a tu negocio, desde el celular que ya tienes.</a:t>
            </a:r>
            <a:endParaRPr lang="en-US" sz="2000" dirty="0"/>
          </a:p>
        </p:txBody>
      </p:sp>
      <p:sp>
        <p:nvSpPr>
          <p:cNvPr id="6" name="Pill EN VIVO · WEB + ANDROID"/>
          <p:cNvSpPr/>
          <p:nvPr/>
        </p:nvSpPr>
        <p:spPr>
          <a:xfrm>
            <a:off x="640080" y="43434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0251D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7" name="Pill text EN VIVO · WEB + ANDROID"/>
          <p:cNvSpPr txBox="1"/>
          <p:nvPr/>
        </p:nvSpPr>
        <p:spPr>
          <a:xfrm>
            <a:off x="640080" y="4343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</a:rPr>
              <a:t>EN VIVO · WEB + ANDROID</a:t>
            </a:r>
            <a:endParaRPr lang="en-US" sz="900" dirty="0"/>
          </a:p>
        </p:txBody>
      </p:sp>
      <p:sp>
        <p:nvSpPr>
          <p:cNvPr id="8" name="Pill HECHO EN COLOMBIA"/>
          <p:cNvSpPr/>
          <p:nvPr/>
        </p:nvSpPr>
        <p:spPr>
          <a:xfrm>
            <a:off x="2697480" y="434340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211A3D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9" name="Pill text HECHO EN COLOMBIA"/>
          <p:cNvSpPr txBox="1"/>
          <p:nvPr/>
        </p:nvSpPr>
        <p:spPr>
          <a:xfrm>
            <a:off x="2697480" y="43434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B5FD"/>
                </a:solidFill>
              </a:rPr>
              <a:t>HECHO EN COLOMBIA</a:t>
            </a:r>
            <a:endParaRPr lang="en-US" sz="900" dirty="0"/>
          </a:p>
        </p:txBody>
      </p:sp>
      <p:sp>
        <p:nvSpPr>
          <p:cNvPr id="10" name="Tables screen frame"/>
          <p:cNvSpPr/>
          <p:nvPr/>
        </p:nvSpPr>
        <p:spPr>
          <a:xfrm>
            <a:off x="6336792" y="438912"/>
            <a:ext cx="2050531" cy="4288536"/>
          </a:xfrm>
          <a:prstGeom prst="roundRect">
            <a:avLst>
              <a:gd name="adj" fmla="val 9811"/>
            </a:avLst>
          </a:prstGeom>
          <a:solidFill>
            <a:srgbClr val="05050A"/>
          </a:solidFill>
          <a:ln w="19050">
            <a:solidFill>
              <a:srgbClr val="5B47A8"/>
            </a:solidFill>
            <a:prstDash val="solid"/>
          </a:ln>
          <a:effectLst>
            <a:outerShdw sx="100000" sy="100000" kx="0" ky="0" algn="bl" rotWithShape="0" blurRad="304800" dist="38100" dir="5400000">
              <a:srgbClr val="7C3AED">
                <a:alpha val="50000"/>
              </a:srgbClr>
            </a:outerShdw>
          </a:effectLst>
        </p:spPr>
      </p:sp>
      <p:pic>
        <p:nvPicPr>
          <p:cNvPr id="11" name="Tables scre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02920"/>
            <a:ext cx="1922515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B7185"/>
                </a:solidFill>
              </a:rPr>
              <a:t>EL PROBLEMA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Cuentas en papel. Pagos por pantallazo.</a:t>
            </a:r>
            <a:endParaRPr lang="en-US" sz="3000" dirty="0"/>
          </a:p>
        </p:txBody>
      </p:sp>
      <p:sp>
        <p:nvSpPr>
          <p:cNvPr id="5" name="Big stat card"/>
          <p:cNvSpPr/>
          <p:nvPr/>
        </p:nvSpPr>
        <p:spPr>
          <a:xfrm>
            <a:off x="640080" y="1417320"/>
            <a:ext cx="2834640" cy="3154680"/>
          </a:xfrm>
          <a:prstGeom prst="roundRect">
            <a:avLst>
              <a:gd name="adj" fmla="val 4516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6" name="Stat micro-businesses"/>
          <p:cNvSpPr txBox="1"/>
          <p:nvPr/>
        </p:nvSpPr>
        <p:spPr>
          <a:xfrm>
            <a:off x="86868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 M</a:t>
            </a:r>
            <a:endParaRPr lang="en-US" sz="6000" dirty="0"/>
          </a:p>
        </p:txBody>
      </p:sp>
      <p:sp>
        <p:nvSpPr>
          <p:cNvPr id="7" name="Stat label"/>
          <p:cNvSpPr txBox="1"/>
          <p:nvPr/>
        </p:nvSpPr>
        <p:spPr>
          <a:xfrm>
            <a:off x="868680" y="2560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micronegocios solo en las 24 ciudades principales de Colombia.</a:t>
            </a:r>
            <a:endParaRPr lang="en-US" sz="1400" dirty="0"/>
          </a:p>
        </p:txBody>
      </p:sp>
      <p:sp>
        <p:nvSpPr>
          <p:cNvPr id="8" name="Stat note"/>
          <p:cNvSpPr txBox="1"/>
          <p:nvPr/>
        </p:nvSpPr>
        <p:spPr>
          <a:xfrm>
            <a:off x="868680" y="3429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Bares, restaurantes, tiendas, peluquerías y talleres: la mayoría sin un sistema de verdad.</a:t>
            </a:r>
            <a:endParaRPr lang="en-US" sz="1150" dirty="0"/>
          </a:p>
        </p:txBody>
      </p:sp>
      <p:sp>
        <p:nvSpPr>
          <p:cNvPr id="9" name="Pain 1 circle"/>
          <p:cNvSpPr/>
          <p:nvPr/>
        </p:nvSpPr>
        <p:spPr>
          <a:xfrm>
            <a:off x="3794760" y="1463040"/>
            <a:ext cx="548640" cy="54864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10" name="Pai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00200"/>
            <a:ext cx="274320" cy="274320"/>
          </a:xfrm>
          <a:prstGeom prst="rect">
            <a:avLst/>
          </a:prstGeom>
        </p:spPr>
      </p:pic>
      <p:sp>
        <p:nvSpPr>
          <p:cNvPr id="11" name="Pain title 1"/>
          <p:cNvSpPr txBox="1"/>
          <p:nvPr/>
        </p:nvSpPr>
        <p:spPr>
          <a:xfrm>
            <a:off x="4526280" y="1417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en papel</a:t>
            </a:r>
            <a:endParaRPr lang="en-US" sz="1500" dirty="0"/>
          </a:p>
        </p:txBody>
      </p:sp>
      <p:sp>
        <p:nvSpPr>
          <p:cNvPr id="12" name="Pain text 1"/>
          <p:cNvSpPr txBox="1"/>
          <p:nvPr/>
        </p:nvSpPr>
        <p:spPr>
          <a:xfrm>
            <a:off x="4526280" y="1719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Los pedidos se pierden, se cobran mal o se olvidan cuando el local se llena.</a:t>
            </a:r>
            <a:endParaRPr lang="en-US" sz="1150" dirty="0"/>
          </a:p>
        </p:txBody>
      </p:sp>
      <p:sp>
        <p:nvSpPr>
          <p:cNvPr id="13" name="Pain 2 circle"/>
          <p:cNvSpPr/>
          <p:nvPr/>
        </p:nvSpPr>
        <p:spPr>
          <a:xfrm>
            <a:off x="3794760" y="2267712"/>
            <a:ext cx="548640" cy="54864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14" name="Pai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404872"/>
            <a:ext cx="274320" cy="274320"/>
          </a:xfrm>
          <a:prstGeom prst="rect">
            <a:avLst/>
          </a:prstGeom>
        </p:spPr>
      </p:pic>
      <p:sp>
        <p:nvSpPr>
          <p:cNvPr id="15" name="Pain title 2"/>
          <p:cNvSpPr txBox="1"/>
          <p:nvPr/>
        </p:nvSpPr>
        <p:spPr>
          <a:xfrm>
            <a:off x="4526280" y="2221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Pantallazos de pago falsos</a:t>
            </a:r>
            <a:endParaRPr lang="en-US" sz="1500" dirty="0"/>
          </a:p>
        </p:txBody>
      </p:sp>
      <p:sp>
        <p:nvSpPr>
          <p:cNvPr id="16" name="Pain text 2"/>
          <p:cNvSpPr txBox="1"/>
          <p:nvPr/>
        </p:nvSpPr>
        <p:spPr>
          <a:xfrm>
            <a:off x="4526280" y="2523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Las transferencias se «confirman» mirando un pantallazo que cualquiera puede editar.</a:t>
            </a:r>
            <a:endParaRPr lang="en-US" sz="1150" dirty="0"/>
          </a:p>
        </p:txBody>
      </p:sp>
      <p:sp>
        <p:nvSpPr>
          <p:cNvPr id="17" name="Pain 3 circle"/>
          <p:cNvSpPr/>
          <p:nvPr/>
        </p:nvSpPr>
        <p:spPr>
          <a:xfrm>
            <a:off x="3794760" y="3072384"/>
            <a:ext cx="548640" cy="54864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18" name="Pai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209544"/>
            <a:ext cx="274320" cy="274320"/>
          </a:xfrm>
          <a:prstGeom prst="rect">
            <a:avLst/>
          </a:prstGeom>
        </p:spPr>
      </p:pic>
      <p:sp>
        <p:nvSpPr>
          <p:cNvPr id="19" name="Pain title 3"/>
          <p:cNvSpPr txBox="1"/>
          <p:nvPr/>
        </p:nvSpPr>
        <p:spPr>
          <a:xfrm>
            <a:off x="4526280" y="3026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a ojo</a:t>
            </a:r>
            <a:endParaRPr lang="en-US" sz="1500" dirty="0"/>
          </a:p>
        </p:txBody>
      </p:sp>
      <p:sp>
        <p:nvSpPr>
          <p:cNvPr id="20" name="Pain text 3"/>
          <p:cNvSpPr txBox="1"/>
          <p:nvPr/>
        </p:nvSpPr>
        <p:spPr>
          <a:xfrm>
            <a:off x="4526280" y="33284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Lo que más se vende se acaba en plena noche; las facturas se digitan a mano.</a:t>
            </a:r>
            <a:endParaRPr lang="en-US" sz="1150" dirty="0"/>
          </a:p>
        </p:txBody>
      </p:sp>
      <p:sp>
        <p:nvSpPr>
          <p:cNvPr id="21" name="Pain 4 circle"/>
          <p:cNvSpPr/>
          <p:nvPr/>
        </p:nvSpPr>
        <p:spPr>
          <a:xfrm>
            <a:off x="3794760" y="3877056"/>
            <a:ext cx="548640" cy="548640"/>
          </a:xfrm>
          <a:prstGeom prst="ellipse">
            <a:avLst/>
          </a:prstGeom>
          <a:solidFill>
            <a:srgbClr val="3B1F33"/>
          </a:solidFill>
          <a:ln w="12700">
            <a:solidFill>
              <a:srgbClr val="3B1F33"/>
            </a:solidFill>
            <a:prstDash val="solid"/>
          </a:ln>
        </p:spPr>
      </p:sp>
      <p:pic>
        <p:nvPicPr>
          <p:cNvPr id="22" name="Pain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4014216"/>
            <a:ext cx="274320" cy="274320"/>
          </a:xfrm>
          <a:prstGeom prst="rect">
            <a:avLst/>
          </a:prstGeom>
        </p:spPr>
      </p:pic>
      <p:sp>
        <p:nvSpPr>
          <p:cNvPr id="23" name="Pain title 4"/>
          <p:cNvSpPr txBox="1"/>
          <p:nvPr/>
        </p:nvSpPr>
        <p:spPr>
          <a:xfrm>
            <a:off x="4526280" y="38313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apps, ningún sistema</a:t>
            </a:r>
            <a:endParaRPr lang="en-US" sz="1500" dirty="0"/>
          </a:p>
        </p:txBody>
      </p:sp>
      <p:sp>
        <p:nvSpPr>
          <p:cNvPr id="24" name="Pain text 4"/>
          <p:cNvSpPr txBox="1"/>
          <p:nvPr/>
        </p:nvSpPr>
        <p:spPr>
          <a:xfrm>
            <a:off x="4526280" y="41330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Caja, cuaderno, calculadora, WhatsApp y Excel que nunca se hablan.</a:t>
            </a:r>
            <a:endParaRPr lang="en-US" sz="1150" dirty="0"/>
          </a:p>
        </p:txBody>
      </p:sp>
      <p:sp>
        <p:nvSpPr>
          <p:cNvPr id="25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Fuente: DANE, Encuesta de Micronegocios (EMICRON) 2024: 2.321.469 micronegocios en 24 ciudades y áreas metropolitanas.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LA SOLUCIÓN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Una app que escucha, vende y verifica.</a:t>
            </a:r>
            <a:endParaRPr lang="en-US" sz="3000" dirty="0"/>
          </a:p>
        </p:txBody>
      </p:sp>
      <p:sp>
        <p:nvSpPr>
          <p:cNvPr id="5" name="Pillar 1"/>
          <p:cNvSpPr/>
          <p:nvPr/>
        </p:nvSpPr>
        <p:spPr>
          <a:xfrm>
            <a:off x="640080" y="141732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6" name="Pillar 1 circle"/>
          <p:cNvSpPr/>
          <p:nvPr/>
        </p:nvSpPr>
        <p:spPr>
          <a:xfrm>
            <a:off x="841248" y="161848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Pillar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1744218"/>
            <a:ext cx="251460" cy="251460"/>
          </a:xfrm>
          <a:prstGeom prst="rect">
            <a:avLst/>
          </a:prstGeom>
        </p:spPr>
      </p:pic>
      <p:sp>
        <p:nvSpPr>
          <p:cNvPr id="8" name="Pillar title 1"/>
          <p:cNvSpPr txBox="1"/>
          <p:nvPr/>
        </p:nvSpPr>
        <p:spPr>
          <a:xfrm>
            <a:off x="1481328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Háblale</a:t>
            </a:r>
            <a:endParaRPr lang="en-US" sz="1450" dirty="0"/>
          </a:p>
        </p:txBody>
      </p:sp>
      <p:sp>
        <p:nvSpPr>
          <p:cNvPr id="9" name="Pillar text 1"/>
          <p:cNvSpPr txBox="1"/>
          <p:nvPr/>
        </p:nvSpPr>
        <p:spPr>
          <a:xfrm>
            <a:off x="841248" y="224028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«Hola Vento, mesa 3, dos cervezas». Pedidos, pagos y preguntas sin tocar la pantalla.</a:t>
            </a:r>
            <a:endParaRPr lang="en-US" sz="1050" dirty="0"/>
          </a:p>
        </p:txBody>
      </p:sp>
      <p:sp>
        <p:nvSpPr>
          <p:cNvPr id="10" name="Pillar 2"/>
          <p:cNvSpPr/>
          <p:nvPr/>
        </p:nvSpPr>
        <p:spPr>
          <a:xfrm>
            <a:off x="3310128" y="141732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1" name="Pillar 2 circle"/>
          <p:cNvSpPr/>
          <p:nvPr/>
        </p:nvSpPr>
        <p:spPr>
          <a:xfrm>
            <a:off x="3511296" y="1618488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Pillar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26" y="1744218"/>
            <a:ext cx="251460" cy="251460"/>
          </a:xfrm>
          <a:prstGeom prst="rect">
            <a:avLst/>
          </a:prstGeom>
        </p:spPr>
      </p:pic>
      <p:sp>
        <p:nvSpPr>
          <p:cNvPr id="13" name="Pillar title 2"/>
          <p:cNvSpPr txBox="1"/>
          <p:nvPr/>
        </p:nvSpPr>
        <p:spPr>
          <a:xfrm>
            <a:off x="4151376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verificados</a:t>
            </a:r>
            <a:endParaRPr lang="en-US" sz="1450" dirty="0"/>
          </a:p>
        </p:txBody>
      </p:sp>
      <p:sp>
        <p:nvSpPr>
          <p:cNvPr id="14" name="Pillar text 2"/>
          <p:cNvSpPr txBox="1"/>
          <p:nvPr/>
        </p:nvSpPr>
        <p:spPr>
          <a:xfrm>
            <a:off x="3511296" y="224028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Detecta pantallazos y SMS de pago falsos. Vento no cobra comisión.</a:t>
            </a:r>
            <a:endParaRPr lang="en-US" sz="1050" dirty="0"/>
          </a:p>
        </p:txBody>
      </p:sp>
      <p:sp>
        <p:nvSpPr>
          <p:cNvPr id="15" name="Pillar 3"/>
          <p:cNvSpPr/>
          <p:nvPr/>
        </p:nvSpPr>
        <p:spPr>
          <a:xfrm>
            <a:off x="5980176" y="141732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6" name="Pillar 3 circle"/>
          <p:cNvSpPr/>
          <p:nvPr/>
        </p:nvSpPr>
        <p:spPr>
          <a:xfrm>
            <a:off x="6181344" y="161848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Pillar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074" y="1744218"/>
            <a:ext cx="251460" cy="251460"/>
          </a:xfrm>
          <a:prstGeom prst="rect">
            <a:avLst/>
          </a:prstGeom>
        </p:spPr>
      </p:pic>
      <p:sp>
        <p:nvSpPr>
          <p:cNvPr id="18" name="Pillar title 3"/>
          <p:cNvSpPr txBox="1"/>
          <p:nvPr/>
        </p:nvSpPr>
        <p:spPr>
          <a:xfrm>
            <a:off x="6821424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Vento IA</a:t>
            </a:r>
            <a:endParaRPr lang="en-US" sz="1450" dirty="0"/>
          </a:p>
        </p:txBody>
      </p:sp>
      <p:sp>
        <p:nvSpPr>
          <p:cNvPr id="19" name="Pillar text 3"/>
          <p:cNvSpPr txBox="1"/>
          <p:nvPr/>
        </p:nvSpPr>
        <p:spPr>
          <a:xfrm>
            <a:off x="6181344" y="224028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Lee facturas, responde con los números reales y predice agotados.</a:t>
            </a:r>
            <a:endParaRPr lang="en-US" sz="1050" dirty="0"/>
          </a:p>
        </p:txBody>
      </p:sp>
      <p:sp>
        <p:nvSpPr>
          <p:cNvPr id="20" name="Pillar 4"/>
          <p:cNvSpPr/>
          <p:nvPr/>
        </p:nvSpPr>
        <p:spPr>
          <a:xfrm>
            <a:off x="640080" y="306324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1" name="Pillar 4 circle"/>
          <p:cNvSpPr/>
          <p:nvPr/>
        </p:nvSpPr>
        <p:spPr>
          <a:xfrm>
            <a:off x="841248" y="3264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Pillar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3390138"/>
            <a:ext cx="251460" cy="251460"/>
          </a:xfrm>
          <a:prstGeom prst="rect">
            <a:avLst/>
          </a:prstGeom>
        </p:spPr>
      </p:pic>
      <p:sp>
        <p:nvSpPr>
          <p:cNvPr id="23" name="Pillar title 4"/>
          <p:cNvSpPr txBox="1"/>
          <p:nvPr/>
        </p:nvSpPr>
        <p:spPr>
          <a:xfrm>
            <a:off x="1481328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por QR</a:t>
            </a:r>
            <a:endParaRPr lang="en-US" sz="1450" dirty="0"/>
          </a:p>
        </p:txBody>
      </p:sp>
      <p:sp>
        <p:nvSpPr>
          <p:cNvPr id="24" name="Pillar text 4"/>
          <p:cNvSpPr txBox="1"/>
          <p:nvPr/>
        </p:nvSpPr>
        <p:spPr>
          <a:xfrm>
            <a:off x="841248" y="3886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El cliente pide desde su mesa y llega a la cuenta y a la cocina.</a:t>
            </a:r>
            <a:endParaRPr lang="en-US" sz="1050" dirty="0"/>
          </a:p>
        </p:txBody>
      </p:sp>
      <p:sp>
        <p:nvSpPr>
          <p:cNvPr id="25" name="Pillar 5"/>
          <p:cNvSpPr/>
          <p:nvPr/>
        </p:nvSpPr>
        <p:spPr>
          <a:xfrm>
            <a:off x="3310128" y="306324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6" name="Pillar 5 circle"/>
          <p:cNvSpPr/>
          <p:nvPr/>
        </p:nvSpPr>
        <p:spPr>
          <a:xfrm>
            <a:off x="3511296" y="3264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Pillar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026" y="3390138"/>
            <a:ext cx="251460" cy="251460"/>
          </a:xfrm>
          <a:prstGeom prst="rect">
            <a:avLst/>
          </a:prstGeom>
        </p:spPr>
      </p:pic>
      <p:sp>
        <p:nvSpPr>
          <p:cNvPr id="28" name="Pillar title 5"/>
          <p:cNvSpPr txBox="1"/>
          <p:nvPr/>
        </p:nvSpPr>
        <p:spPr>
          <a:xfrm>
            <a:off x="4151376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 en el TV</a:t>
            </a:r>
            <a:endParaRPr lang="en-US" sz="1450" dirty="0"/>
          </a:p>
        </p:txBody>
      </p:sp>
      <p:sp>
        <p:nvSpPr>
          <p:cNvPr id="29" name="Pillar text 5"/>
          <p:cNvSpPr txBox="1"/>
          <p:nvPr/>
        </p:nvSpPr>
        <p:spPr>
          <a:xfrm>
            <a:off x="3511296" y="3886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Los clientes piden canciones por QR y suenan en el TV, con cola justa.</a:t>
            </a:r>
            <a:endParaRPr lang="en-US" sz="1050" dirty="0"/>
          </a:p>
        </p:txBody>
      </p:sp>
      <p:sp>
        <p:nvSpPr>
          <p:cNvPr id="30" name="Pillar 6"/>
          <p:cNvSpPr/>
          <p:nvPr/>
        </p:nvSpPr>
        <p:spPr>
          <a:xfrm>
            <a:off x="5980176" y="306324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31" name="Pillar 6 circle"/>
          <p:cNvSpPr/>
          <p:nvPr/>
        </p:nvSpPr>
        <p:spPr>
          <a:xfrm>
            <a:off x="6181344" y="3264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Pillar 6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074" y="3390138"/>
            <a:ext cx="251460" cy="251460"/>
          </a:xfrm>
          <a:prstGeom prst="rect">
            <a:avLst/>
          </a:prstGeom>
        </p:spPr>
      </p:pic>
      <p:sp>
        <p:nvSpPr>
          <p:cNvPr id="33" name="Pillar title 6"/>
          <p:cNvSpPr txBox="1"/>
          <p:nvPr/>
        </p:nvSpPr>
        <p:spPr>
          <a:xfrm>
            <a:off x="6821424" y="3337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de bolsillo</a:t>
            </a:r>
            <a:endParaRPr lang="en-US" sz="1450" dirty="0"/>
          </a:p>
        </p:txBody>
      </p:sp>
      <p:sp>
        <p:nvSpPr>
          <p:cNvPr id="34" name="Pillar text 6"/>
          <p:cNvSpPr txBox="1"/>
          <p:nvPr/>
        </p:nvSpPr>
        <p:spPr>
          <a:xfrm>
            <a:off x="6181344" y="38862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Cierre de caja, ganancia real, IVA y Excel para el contador.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VOZ PRIMERO · YA DISPONIBLE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Manos libres: solo di «Hola Vento»</a:t>
            </a:r>
            <a:endParaRPr lang="en-US" sz="3000" dirty="0"/>
          </a:p>
        </p:txBody>
      </p:sp>
      <p:sp>
        <p:nvSpPr>
          <p:cNvPr id="5" name="Voice demo"/>
          <p:cNvSpPr/>
          <p:nvPr/>
        </p:nvSpPr>
        <p:spPr>
          <a:xfrm>
            <a:off x="640080" y="1417320"/>
            <a:ext cx="3931920" cy="3154680"/>
          </a:xfrm>
          <a:prstGeom prst="roundRect">
            <a:avLst>
              <a:gd name="adj" fmla="val 4058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6" name="Mic circle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M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4520"/>
            <a:ext cx="365760" cy="365760"/>
          </a:xfrm>
          <a:prstGeom prst="rect">
            <a:avLst/>
          </a:prstGeom>
        </p:spPr>
      </p:pic>
      <p:sp>
        <p:nvSpPr>
          <p:cNvPr id="8" name="Voice phrase"/>
          <p:cNvSpPr txBox="1"/>
          <p:nvPr/>
        </p:nvSpPr>
        <p:spPr>
          <a:xfrm>
            <a:off x="914400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«Hola Vento, mesa 3, dos Póker»</a:t>
            </a:r>
            <a:endParaRPr lang="en-US" sz="2100" dirty="0"/>
          </a:p>
        </p:txBody>
      </p:sp>
      <p:sp>
        <p:nvSpPr>
          <p:cNvPr id="9" name="Voice result"/>
          <p:cNvSpPr txBox="1"/>
          <p:nvPr/>
        </p:nvSpPr>
        <p:spPr>
          <a:xfrm>
            <a:off x="91440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✓ 2 Póker anotadas en la Mesa 3</a:t>
            </a:r>
            <a:endParaRPr lang="en-US" sz="1500" dirty="0"/>
          </a:p>
        </p:txBody>
      </p:sp>
      <p:sp>
        <p:nvSpPr>
          <p:cNvPr id="10" name="Voice note"/>
          <p:cNvSpPr txBox="1"/>
          <p:nvPr/>
        </p:nvSpPr>
        <p:spPr>
          <a:xfrm>
            <a:off x="91440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Queda atenta después de cada orden: no hay que repetir «Hola Vento».</a:t>
            </a:r>
            <a:endParaRPr lang="en-US" sz="1150" dirty="0"/>
          </a:p>
        </p:txBody>
      </p:sp>
      <p:sp>
        <p:nvSpPr>
          <p:cNvPr id="11" name="Command 1"/>
          <p:cNvSpPr/>
          <p:nvPr/>
        </p:nvSpPr>
        <p:spPr>
          <a:xfrm>
            <a:off x="4800600" y="141732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211E36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2" name="Command phrase 1"/>
          <p:cNvSpPr txBox="1"/>
          <p:nvPr/>
        </p:nvSpPr>
        <p:spPr>
          <a:xfrm>
            <a:off x="4983480" y="1463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«Borra el pedido anterior»</a:t>
            </a:r>
            <a:endParaRPr lang="en-US" sz="1250" dirty="0"/>
          </a:p>
        </p:txBody>
      </p:sp>
      <p:sp>
        <p:nvSpPr>
          <p:cNvPr id="13" name="Command effect 1"/>
          <p:cNvSpPr txBox="1"/>
          <p:nvPr/>
        </p:nvSpPr>
        <p:spPr>
          <a:xfrm>
            <a:off x="4983480" y="1709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Lo deshace al instante.</a:t>
            </a:r>
            <a:endParaRPr lang="en-US" sz="1050" dirty="0"/>
          </a:p>
        </p:txBody>
      </p:sp>
      <p:sp>
        <p:nvSpPr>
          <p:cNvPr id="14" name="Command 2"/>
          <p:cNvSpPr/>
          <p:nvPr/>
        </p:nvSpPr>
        <p:spPr>
          <a:xfrm>
            <a:off x="4800600" y="205740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211E36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5" name="Command phrase 2"/>
          <p:cNvSpPr txBox="1"/>
          <p:nvPr/>
        </p:nvSpPr>
        <p:spPr>
          <a:xfrm>
            <a:off x="498348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«La mesa 3 abona 20 mil»</a:t>
            </a:r>
            <a:endParaRPr lang="en-US" sz="1250" dirty="0"/>
          </a:p>
        </p:txBody>
      </p:sp>
      <p:sp>
        <p:nvSpPr>
          <p:cNvPr id="16" name="Command effect 2"/>
          <p:cNvSpPr txBox="1"/>
          <p:nvPr/>
        </p:nvSpPr>
        <p:spPr>
          <a:xfrm>
            <a:off x="4983480" y="23500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Registra el abono y dice cuánto falta.</a:t>
            </a:r>
            <a:endParaRPr lang="en-US" sz="1050" dirty="0"/>
          </a:p>
        </p:txBody>
      </p:sp>
      <p:sp>
        <p:nvSpPr>
          <p:cNvPr id="17" name="Command 3"/>
          <p:cNvSpPr/>
          <p:nvPr/>
        </p:nvSpPr>
        <p:spPr>
          <a:xfrm>
            <a:off x="4800600" y="269748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211E36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8" name="Command phrase 3"/>
          <p:cNvSpPr txBox="1"/>
          <p:nvPr/>
        </p:nvSpPr>
        <p:spPr>
          <a:xfrm>
            <a:off x="4983480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«Juan me debe 20 mil»</a:t>
            </a:r>
            <a:endParaRPr lang="en-US" sz="1250" dirty="0"/>
          </a:p>
        </p:txBody>
      </p:sp>
      <p:sp>
        <p:nvSpPr>
          <p:cNvPr id="19" name="Command effect 3"/>
          <p:cNvSpPr txBox="1"/>
          <p:nvPr/>
        </p:nvSpPr>
        <p:spPr>
          <a:xfrm>
            <a:off x="4983480" y="29900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Queda en la libreta de fiados, con fecha.</a:t>
            </a:r>
            <a:endParaRPr lang="en-US" sz="1050" dirty="0"/>
          </a:p>
        </p:txBody>
      </p:sp>
      <p:sp>
        <p:nvSpPr>
          <p:cNvPr id="20" name="Command 4"/>
          <p:cNvSpPr/>
          <p:nvPr/>
        </p:nvSpPr>
        <p:spPr>
          <a:xfrm>
            <a:off x="4800600" y="333756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211E36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1" name="Command phrase 4"/>
          <p:cNvSpPr txBox="1"/>
          <p:nvPr/>
        </p:nvSpPr>
        <p:spPr>
          <a:xfrm>
            <a:off x="498348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«¿Cuántas Póker quedan?»</a:t>
            </a:r>
            <a:endParaRPr lang="en-US" sz="1250" dirty="0"/>
          </a:p>
        </p:txBody>
      </p:sp>
      <p:sp>
        <p:nvSpPr>
          <p:cNvPr id="22" name="Command effect 4"/>
          <p:cNvSpPr txBox="1"/>
          <p:nvPr/>
        </p:nvSpPr>
        <p:spPr>
          <a:xfrm>
            <a:off x="4983480" y="36301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Responde con el inventario real.</a:t>
            </a:r>
            <a:endParaRPr lang="en-US" sz="1050" dirty="0"/>
          </a:p>
        </p:txBody>
      </p:sp>
      <p:sp>
        <p:nvSpPr>
          <p:cNvPr id="23" name="Command 5"/>
          <p:cNvSpPr/>
          <p:nvPr/>
        </p:nvSpPr>
        <p:spPr>
          <a:xfrm>
            <a:off x="4800600" y="3977640"/>
            <a:ext cx="3703320" cy="548640"/>
          </a:xfrm>
          <a:prstGeom prst="roundRect">
            <a:avLst>
              <a:gd name="adj" fmla="val 23333"/>
            </a:avLst>
          </a:prstGeom>
          <a:solidFill>
            <a:srgbClr val="211E36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4" name="Command phrase 5"/>
          <p:cNvSpPr txBox="1"/>
          <p:nvPr/>
        </p:nvSpPr>
        <p:spPr>
          <a:xfrm>
            <a:off x="498348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</a:rPr>
              <a:t>«¿Cuánto vendí hoy?»</a:t>
            </a:r>
            <a:endParaRPr lang="en-US" sz="1250" dirty="0"/>
          </a:p>
        </p:txBody>
      </p:sp>
      <p:sp>
        <p:nvSpPr>
          <p:cNvPr id="25" name="Command effect 5"/>
          <p:cNvSpPr txBox="1"/>
          <p:nvPr/>
        </p:nvSpPr>
        <p:spPr>
          <a:xfrm>
            <a:off x="4983480" y="42702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Responde en voz alta con los datos reales.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PAGOS VERIFICADOS · YA DISPONIBLE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Sin pantallazos falsos. Sin comisión.</a:t>
            </a:r>
            <a:endParaRPr lang="en-US" sz="3000" dirty="0"/>
          </a:p>
        </p:txBody>
      </p:sp>
      <p:sp>
        <p:nvSpPr>
          <p:cNvPr id="5" name="Flow 1"/>
          <p:cNvSpPr/>
          <p:nvPr/>
        </p:nvSpPr>
        <p:spPr>
          <a:xfrm>
            <a:off x="640080" y="1417320"/>
            <a:ext cx="2468880" cy="1417320"/>
          </a:xfrm>
          <a:prstGeom prst="roundRect">
            <a:avLst>
              <a:gd name="adj" fmla="val 903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6" name="Flow 1 circle"/>
          <p:cNvSpPr/>
          <p:nvPr/>
        </p:nvSpPr>
        <p:spPr>
          <a:xfrm>
            <a:off x="822960" y="157276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Fl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691640"/>
            <a:ext cx="237744" cy="237744"/>
          </a:xfrm>
          <a:prstGeom prst="rect">
            <a:avLst/>
          </a:prstGeom>
        </p:spPr>
      </p:pic>
      <p:sp>
        <p:nvSpPr>
          <p:cNvPr id="8" name="Flow title 1"/>
          <p:cNvSpPr txBox="1"/>
          <p:nvPr/>
        </p:nvSpPr>
        <p:spPr>
          <a:xfrm>
            <a:off x="141732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Muestra tu QR</a:t>
            </a:r>
            <a:endParaRPr lang="en-US" sz="1350" dirty="0"/>
          </a:p>
        </p:txBody>
      </p:sp>
      <p:sp>
        <p:nvSpPr>
          <p:cNvPr id="9" name="Flow text 1"/>
          <p:cNvSpPr txBox="1"/>
          <p:nvPr/>
        </p:nvSpPr>
        <p:spPr>
          <a:xfrm>
            <a:off x="822960" y="217627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El QR de Nequi o Bre-B del negocio sale en la cuenta y el recibo.</a:t>
            </a:r>
            <a:endParaRPr lang="en-US" sz="1050" dirty="0"/>
          </a:p>
        </p:txBody>
      </p:sp>
      <p:pic>
        <p:nvPicPr>
          <p:cNvPr id="10" name="Arrow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011680"/>
            <a:ext cx="146304" cy="201168"/>
          </a:xfrm>
          <a:prstGeom prst="rect">
            <a:avLst/>
          </a:prstGeom>
        </p:spPr>
      </p:pic>
      <p:sp>
        <p:nvSpPr>
          <p:cNvPr id="11" name="Flow 2"/>
          <p:cNvSpPr/>
          <p:nvPr/>
        </p:nvSpPr>
        <p:spPr>
          <a:xfrm>
            <a:off x="3337560" y="1417320"/>
            <a:ext cx="2468880" cy="1417320"/>
          </a:xfrm>
          <a:prstGeom prst="roundRect">
            <a:avLst>
              <a:gd name="adj" fmla="val 903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2" name="Flow 2 circle"/>
          <p:cNvSpPr/>
          <p:nvPr/>
        </p:nvSpPr>
        <p:spPr>
          <a:xfrm>
            <a:off x="3520440" y="157276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Flow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691640"/>
            <a:ext cx="237744" cy="237744"/>
          </a:xfrm>
          <a:prstGeom prst="rect">
            <a:avLst/>
          </a:prstGeom>
        </p:spPr>
      </p:pic>
      <p:sp>
        <p:nvSpPr>
          <p:cNvPr id="14" name="Flow title 2"/>
          <p:cNvSpPr txBox="1"/>
          <p:nvPr/>
        </p:nvSpPr>
        <p:spPr>
          <a:xfrm>
            <a:off x="411480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 cliente paga</a:t>
            </a:r>
            <a:endParaRPr lang="en-US" sz="1350" dirty="0"/>
          </a:p>
        </p:txBody>
      </p:sp>
      <p:sp>
        <p:nvSpPr>
          <p:cNvPr id="15" name="Flow text 2"/>
          <p:cNvSpPr txBox="1"/>
          <p:nvPr/>
        </p:nvSpPr>
        <p:spPr>
          <a:xfrm>
            <a:off x="3520440" y="217627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Con Nequi, DaviPlata o cualquier banco con Bre-B.</a:t>
            </a:r>
            <a:endParaRPr lang="en-US" sz="1050" dirty="0"/>
          </a:p>
        </p:txBody>
      </p:sp>
      <p:pic>
        <p:nvPicPr>
          <p:cNvPr id="16" name="Arrow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011680"/>
            <a:ext cx="146304" cy="201168"/>
          </a:xfrm>
          <a:prstGeom prst="rect">
            <a:avLst/>
          </a:prstGeom>
        </p:spPr>
      </p:pic>
      <p:sp>
        <p:nvSpPr>
          <p:cNvPr id="17" name="Flow 3"/>
          <p:cNvSpPr/>
          <p:nvPr/>
        </p:nvSpPr>
        <p:spPr>
          <a:xfrm>
            <a:off x="6035040" y="1417320"/>
            <a:ext cx="2468880" cy="1417320"/>
          </a:xfrm>
          <a:prstGeom prst="roundRect">
            <a:avLst>
              <a:gd name="adj" fmla="val 903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8" name="Flow 3 circle"/>
          <p:cNvSpPr/>
          <p:nvPr/>
        </p:nvSpPr>
        <p:spPr>
          <a:xfrm>
            <a:off x="6217920" y="157276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Flow 3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1691640"/>
            <a:ext cx="237744" cy="237744"/>
          </a:xfrm>
          <a:prstGeom prst="rect">
            <a:avLst/>
          </a:prstGeom>
        </p:spPr>
      </p:pic>
      <p:sp>
        <p:nvSpPr>
          <p:cNvPr id="20" name="Flow title 3"/>
          <p:cNvSpPr txBox="1"/>
          <p:nvPr/>
        </p:nvSpPr>
        <p:spPr>
          <a:xfrm>
            <a:off x="6812280" y="1600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Vento confirma</a:t>
            </a:r>
            <a:endParaRPr lang="en-US" sz="1350" dirty="0"/>
          </a:p>
        </p:txBody>
      </p:sp>
      <p:sp>
        <p:nvSpPr>
          <p:cNvPr id="21" name="Flow text 3"/>
          <p:cNvSpPr txBox="1"/>
          <p:nvPr/>
        </p:nvSpPr>
        <p:spPr>
          <a:xfrm>
            <a:off x="6217920" y="217627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El aviso del banco llega a Vento: cuánto, de quién y de qué mesa.</a:t>
            </a:r>
            <a:endParaRPr lang="en-US" sz="1050" dirty="0"/>
          </a:p>
        </p:txBody>
      </p:sp>
      <p:sp>
        <p:nvSpPr>
          <p:cNvPr id="22" name="Checks intro"/>
          <p:cNvSpPr txBox="1"/>
          <p:nvPr/>
        </p:nvSpPr>
        <p:spPr>
          <a:xfrm>
            <a:off x="640080" y="2999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Cada pantallazo se lee en el celular y se cruza con la plata que de verdad llegó:</a:t>
            </a:r>
            <a:endParaRPr lang="en-US" sz="1200" dirty="0"/>
          </a:p>
        </p:txBody>
      </p:sp>
      <p:sp>
        <p:nvSpPr>
          <p:cNvPr id="23" name="Check dot 1"/>
          <p:cNvSpPr/>
          <p:nvPr/>
        </p:nvSpPr>
        <p:spPr>
          <a:xfrm>
            <a:off x="640080" y="344728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Check title 1"/>
          <p:cNvSpPr txBox="1"/>
          <p:nvPr/>
        </p:nvSpPr>
        <p:spPr>
          <a:xfrm>
            <a:off x="896112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 con un pago real</a:t>
            </a:r>
            <a:endParaRPr lang="en-US" sz="1200" dirty="0"/>
          </a:p>
        </p:txBody>
      </p:sp>
      <p:sp>
        <p:nvSpPr>
          <p:cNvPr id="25" name="Check text 1"/>
          <p:cNvSpPr txBox="1"/>
          <p:nvPr/>
        </p:nvSpPr>
        <p:spPr>
          <a:xfrm>
            <a:off x="896112" y="3648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Mismo valor y hora → se acepta</a:t>
            </a:r>
            <a:endParaRPr lang="en-US" sz="1000" dirty="0"/>
          </a:p>
        </p:txBody>
      </p:sp>
      <p:sp>
        <p:nvSpPr>
          <p:cNvPr id="26" name="Check dot 2"/>
          <p:cNvSpPr/>
          <p:nvPr/>
        </p:nvSpPr>
        <p:spPr>
          <a:xfrm>
            <a:off x="3337560" y="3447288"/>
            <a:ext cx="146304" cy="14630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Check title 2"/>
          <p:cNvSpPr txBox="1"/>
          <p:nvPr/>
        </p:nvSpPr>
        <p:spPr>
          <a:xfrm>
            <a:off x="3593592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ya usada</a:t>
            </a:r>
            <a:endParaRPr lang="en-US" sz="1200" dirty="0"/>
          </a:p>
        </p:txBody>
      </p:sp>
      <p:sp>
        <p:nvSpPr>
          <p:cNvPr id="28" name="Check text 2"/>
          <p:cNvSpPr txBox="1"/>
          <p:nvPr/>
        </p:nvSpPr>
        <p:spPr>
          <a:xfrm>
            <a:off x="3593592" y="3648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Comprobante repetido → falso</a:t>
            </a:r>
            <a:endParaRPr lang="en-US" sz="1000" dirty="0"/>
          </a:p>
        </p:txBody>
      </p:sp>
      <p:sp>
        <p:nvSpPr>
          <p:cNvPr id="29" name="Check dot 3"/>
          <p:cNvSpPr/>
          <p:nvPr/>
        </p:nvSpPr>
        <p:spPr>
          <a:xfrm>
            <a:off x="6035040" y="3447288"/>
            <a:ext cx="146304" cy="14630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0" name="Check title 3"/>
          <p:cNvSpPr txBox="1"/>
          <p:nvPr/>
        </p:nvSpPr>
        <p:spPr>
          <a:xfrm>
            <a:off x="6291072" y="3383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 a otro número</a:t>
            </a:r>
            <a:endParaRPr lang="en-US" sz="1200" dirty="0"/>
          </a:p>
        </p:txBody>
      </p:sp>
      <p:sp>
        <p:nvSpPr>
          <p:cNvPr id="31" name="Check text 3"/>
          <p:cNvSpPr txBox="1"/>
          <p:nvPr/>
        </p:nvSpPr>
        <p:spPr>
          <a:xfrm>
            <a:off x="6291072" y="36484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La plata no te llegó → falso</a:t>
            </a:r>
            <a:endParaRPr lang="en-US" sz="1000" dirty="0"/>
          </a:p>
        </p:txBody>
      </p:sp>
      <p:sp>
        <p:nvSpPr>
          <p:cNvPr id="32" name="Check dot 4"/>
          <p:cNvSpPr/>
          <p:nvPr/>
        </p:nvSpPr>
        <p:spPr>
          <a:xfrm>
            <a:off x="640080" y="4069080"/>
            <a:ext cx="146304" cy="14630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Check title 4"/>
          <p:cNvSpPr txBox="1"/>
          <p:nvPr/>
        </p:nvSpPr>
        <p:spPr>
          <a:xfrm>
            <a:off x="896112" y="4005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futura o vieja</a:t>
            </a:r>
            <a:endParaRPr lang="en-US" sz="1200" dirty="0"/>
          </a:p>
        </p:txBody>
      </p:sp>
      <p:sp>
        <p:nvSpPr>
          <p:cNvPr id="34" name="Check text 4"/>
          <p:cNvSpPr txBox="1"/>
          <p:nvPr/>
        </p:nvSpPr>
        <p:spPr>
          <a:xfrm>
            <a:off x="896112" y="4270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Pantallazo editado → se marca</a:t>
            </a:r>
            <a:endParaRPr lang="en-US" sz="1000" dirty="0"/>
          </a:p>
        </p:txBody>
      </p:sp>
      <p:sp>
        <p:nvSpPr>
          <p:cNvPr id="35" name="Check dot 5"/>
          <p:cNvSpPr/>
          <p:nvPr/>
        </p:nvSpPr>
        <p:spPr>
          <a:xfrm>
            <a:off x="3337560" y="4069080"/>
            <a:ext cx="146304" cy="146304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6" name="Check title 5"/>
          <p:cNvSpPr txBox="1"/>
          <p:nvPr/>
        </p:nvSpPr>
        <p:spPr>
          <a:xfrm>
            <a:off x="3593592" y="4005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no llega</a:t>
            </a:r>
            <a:endParaRPr lang="en-US" sz="1200" dirty="0"/>
          </a:p>
        </p:txBody>
      </p:sp>
      <p:sp>
        <p:nvSpPr>
          <p:cNvPr id="37" name="Check text 5"/>
          <p:cNvSpPr txBox="1"/>
          <p:nvPr/>
        </p:nvSpPr>
        <p:spPr>
          <a:xfrm>
            <a:off x="3593592" y="4270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No entregues → avisa cuando llegue</a:t>
            </a:r>
            <a:endParaRPr lang="en-US" sz="1000" dirty="0"/>
          </a:p>
        </p:txBody>
      </p:sp>
      <p:sp>
        <p:nvSpPr>
          <p:cNvPr id="38" name="Check dot 6"/>
          <p:cNvSpPr/>
          <p:nvPr/>
        </p:nvSpPr>
        <p:spPr>
          <a:xfrm>
            <a:off x="6035040" y="4069080"/>
            <a:ext cx="146304" cy="14630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9" name="Check title 6"/>
          <p:cNvSpPr txBox="1"/>
          <p:nvPr/>
        </p:nvSpPr>
        <p:spPr>
          <a:xfrm>
            <a:off x="6291072" y="4005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desde un celular</a:t>
            </a:r>
            <a:endParaRPr lang="en-US" sz="1200" dirty="0"/>
          </a:p>
        </p:txBody>
      </p:sp>
      <p:sp>
        <p:nvSpPr>
          <p:cNvPr id="40" name="Check text 6"/>
          <p:cNvSpPr txBox="1"/>
          <p:nvPr/>
        </p:nvSpPr>
        <p:spPr>
          <a:xfrm>
            <a:off x="6291072" y="42702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Bancos no usan celulares → falso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VENTO IA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Una IA que conoce el negocio</a:t>
            </a:r>
            <a:endParaRPr lang="en-US" sz="3000" dirty="0"/>
          </a:p>
        </p:txBody>
      </p:sp>
      <p:sp>
        <p:nvSpPr>
          <p:cNvPr id="5" name="Vento AI chat frame"/>
          <p:cNvSpPr/>
          <p:nvPr/>
        </p:nvSpPr>
        <p:spPr>
          <a:xfrm>
            <a:off x="6748272" y="1261872"/>
            <a:ext cx="1712507" cy="3557016"/>
          </a:xfrm>
          <a:prstGeom prst="roundRect">
            <a:avLst>
              <a:gd name="adj" fmla="val 11747"/>
            </a:avLst>
          </a:prstGeom>
          <a:solidFill>
            <a:srgbClr val="05050A"/>
          </a:solidFill>
          <a:ln w="19050">
            <a:solidFill>
              <a:srgbClr val="5B47A8"/>
            </a:solidFill>
            <a:prstDash val="solid"/>
          </a:ln>
          <a:effectLst>
            <a:outerShdw sx="100000" sy="100000" kx="0" ky="0" algn="bl" rotWithShape="0" blurRad="304800" dist="38100" dir="5400000">
              <a:srgbClr val="7C3AED">
                <a:alpha val="50000"/>
              </a:srgbClr>
            </a:outerShdw>
          </a:effectLst>
        </p:spPr>
      </p:sp>
      <p:pic>
        <p:nvPicPr>
          <p:cNvPr id="6" name="Vento AI cha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325880"/>
            <a:ext cx="1584491" cy="3429000"/>
          </a:xfrm>
          <a:prstGeom prst="rect">
            <a:avLst/>
          </a:prstGeom>
        </p:spPr>
      </p:pic>
      <p:sp>
        <p:nvSpPr>
          <p:cNvPr id="7" name="AI stat 1"/>
          <p:cNvSpPr/>
          <p:nvPr/>
        </p:nvSpPr>
        <p:spPr>
          <a:xfrm>
            <a:off x="640080" y="1417320"/>
            <a:ext cx="2880360" cy="1508760"/>
          </a:xfrm>
          <a:prstGeom prst="roundRect">
            <a:avLst>
              <a:gd name="adj" fmla="val 8485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8" name="AI stat value"/>
          <p:cNvSpPr txBox="1"/>
          <p:nvPr/>
        </p:nvSpPr>
        <p:spPr>
          <a:xfrm>
            <a:off x="868680" y="15361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 s</a:t>
            </a:r>
            <a:endParaRPr lang="en-US" sz="4600" dirty="0"/>
          </a:p>
        </p:txBody>
      </p:sp>
      <p:sp>
        <p:nvSpPr>
          <p:cNvPr id="9" name="AI stat label"/>
          <p:cNvSpPr txBox="1"/>
          <p:nvPr/>
        </p:nvSpPr>
        <p:spPr>
          <a:xfrm>
            <a:off x="86868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para leer una factura de proveedor en el celular, sin internet (prueba interna)</a:t>
            </a:r>
            <a:endParaRPr lang="en-US" sz="1100" dirty="0"/>
          </a:p>
        </p:txBody>
      </p:sp>
      <p:sp>
        <p:nvSpPr>
          <p:cNvPr id="10" name="AI stat 2"/>
          <p:cNvSpPr/>
          <p:nvPr/>
        </p:nvSpPr>
        <p:spPr>
          <a:xfrm>
            <a:off x="3703320" y="1417320"/>
            <a:ext cx="2788920" cy="1508760"/>
          </a:xfrm>
          <a:prstGeom prst="roundRect">
            <a:avLst>
              <a:gd name="adj" fmla="val 8485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1" name="AI stat 2 value"/>
          <p:cNvSpPr txBox="1"/>
          <p:nvPr/>
        </p:nvSpPr>
        <p:spPr>
          <a:xfrm>
            <a:off x="3931920" y="153619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lector</a:t>
            </a:r>
            <a:endParaRPr lang="en-US" sz="2600" dirty="0"/>
          </a:p>
        </p:txBody>
      </p:sp>
      <p:sp>
        <p:nvSpPr>
          <p:cNvPr id="12" name="AI stat 2 label"/>
          <p:cNvSpPr txBox="1"/>
          <p:nvPr/>
        </p:nvSpPr>
        <p:spPr>
          <a:xfrm>
            <a:off x="3931920" y="2286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el lector del celular y el de la nube compiten; gana el más rápido</a:t>
            </a:r>
            <a:endParaRPr lang="en-US" sz="1100" dirty="0"/>
          </a:p>
        </p:txBody>
      </p:sp>
      <p:sp>
        <p:nvSpPr>
          <p:cNvPr id="13" name="AI bullets"/>
          <p:cNvSpPr txBox="1"/>
          <p:nvPr/>
        </p:nvSpPr>
        <p:spPr>
          <a:xfrm>
            <a:off x="640080" y="31546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1F7"/>
                </a:solidFill>
              </a:rPr>
              <a:t>Escanea facturas → inventario, IVA y costo real por unidad, solo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1F7"/>
                </a:solidFill>
              </a:rPr>
              <a:t>Responde «¿cuánto vendí hoy?» con los datos reales del negocio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1F7"/>
                </a:solidFill>
              </a:rPr>
              <a:t>Avisa agotados, alzas de precio y pedidos demorados; predice cuánto dura el inventario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2F1F7"/>
                </a:solidFill>
              </a:rPr>
              <a:t>Ya viene configurada: el negocio no pone ninguna clave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TODO EN UNO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Cinco apps en una sola</a:t>
            </a:r>
            <a:endParaRPr lang="en-US" sz="3000" dirty="0"/>
          </a:p>
        </p:txBody>
      </p:sp>
      <p:sp>
        <p:nvSpPr>
          <p:cNvPr id="5" name="Feature 1"/>
          <p:cNvSpPr/>
          <p:nvPr/>
        </p:nvSpPr>
        <p:spPr>
          <a:xfrm>
            <a:off x="640080" y="1371600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6" name="Feature check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527048"/>
            <a:ext cx="237744" cy="237744"/>
          </a:xfrm>
          <a:prstGeom prst="rect">
            <a:avLst/>
          </a:prstGeom>
        </p:spPr>
      </p:pic>
      <p:sp>
        <p:nvSpPr>
          <p:cNvPr id="7" name="Feature text 1"/>
          <p:cNvSpPr txBox="1"/>
          <p:nvPr/>
        </p:nvSpPr>
        <p:spPr>
          <a:xfrm>
            <a:off x="109728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Pedidos por voz en español colombiano</a:t>
            </a:r>
            <a:endParaRPr lang="en-US" sz="1100" dirty="0"/>
          </a:p>
        </p:txBody>
      </p:sp>
      <p:sp>
        <p:nvSpPr>
          <p:cNvPr id="8" name="Feature 2"/>
          <p:cNvSpPr/>
          <p:nvPr/>
        </p:nvSpPr>
        <p:spPr>
          <a:xfrm>
            <a:off x="3310128" y="1371600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9" name="Feature check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527048"/>
            <a:ext cx="237744" cy="237744"/>
          </a:xfrm>
          <a:prstGeom prst="rect">
            <a:avLst/>
          </a:prstGeom>
        </p:spPr>
      </p:pic>
      <p:sp>
        <p:nvSpPr>
          <p:cNvPr id="10" name="Feature text 2"/>
          <p:cNvSpPr txBox="1"/>
          <p:nvPr/>
        </p:nvSpPr>
        <p:spPr>
          <a:xfrm>
            <a:off x="3767328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Detección de pagos falsos</a:t>
            </a:r>
            <a:endParaRPr lang="en-US" sz="1100" dirty="0"/>
          </a:p>
        </p:txBody>
      </p:sp>
      <p:sp>
        <p:nvSpPr>
          <p:cNvPr id="11" name="Feature 3"/>
          <p:cNvSpPr/>
          <p:nvPr/>
        </p:nvSpPr>
        <p:spPr>
          <a:xfrm>
            <a:off x="5980176" y="1371600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12" name="Feature check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527048"/>
            <a:ext cx="237744" cy="237744"/>
          </a:xfrm>
          <a:prstGeom prst="rect">
            <a:avLst/>
          </a:prstGeom>
        </p:spPr>
      </p:pic>
      <p:sp>
        <p:nvSpPr>
          <p:cNvPr id="13" name="Feature text 3"/>
          <p:cNvSpPr txBox="1"/>
          <p:nvPr/>
        </p:nvSpPr>
        <p:spPr>
          <a:xfrm>
            <a:off x="6437376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 que lee facturas, incluso sin internet</a:t>
            </a:r>
            <a:endParaRPr lang="en-US" sz="1100" dirty="0"/>
          </a:p>
        </p:txBody>
      </p:sp>
      <p:sp>
        <p:nvSpPr>
          <p:cNvPr id="14" name="Feature 4"/>
          <p:cNvSpPr/>
          <p:nvPr/>
        </p:nvSpPr>
        <p:spPr>
          <a:xfrm>
            <a:off x="640080" y="2029968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15" name="Feature check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185416"/>
            <a:ext cx="237744" cy="237744"/>
          </a:xfrm>
          <a:prstGeom prst="rect">
            <a:avLst/>
          </a:prstGeom>
        </p:spPr>
      </p:pic>
      <p:sp>
        <p:nvSpPr>
          <p:cNvPr id="16" name="Feature text 4"/>
          <p:cNvSpPr txBox="1"/>
          <p:nvPr/>
        </p:nvSpPr>
        <p:spPr>
          <a:xfrm>
            <a:off x="1097280" y="2075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Mesas, cuenta dividida, abonos</a:t>
            </a:r>
            <a:endParaRPr lang="en-US" sz="1100" dirty="0"/>
          </a:p>
        </p:txBody>
      </p:sp>
      <p:sp>
        <p:nvSpPr>
          <p:cNvPr id="17" name="Feature 5"/>
          <p:cNvSpPr/>
          <p:nvPr/>
        </p:nvSpPr>
        <p:spPr>
          <a:xfrm>
            <a:off x="3310128" y="2029968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18" name="Feature check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2185416"/>
            <a:ext cx="237744" cy="237744"/>
          </a:xfrm>
          <a:prstGeom prst="rect">
            <a:avLst/>
          </a:prstGeom>
        </p:spPr>
      </p:pic>
      <p:sp>
        <p:nvSpPr>
          <p:cNvPr id="19" name="Feature text 5"/>
          <p:cNvSpPr txBox="1"/>
          <p:nvPr/>
        </p:nvSpPr>
        <p:spPr>
          <a:xfrm>
            <a:off x="3767328" y="2075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Libreta de fiados por voz</a:t>
            </a:r>
            <a:endParaRPr lang="en-US" sz="1100" dirty="0"/>
          </a:p>
        </p:txBody>
      </p:sp>
      <p:sp>
        <p:nvSpPr>
          <p:cNvPr id="20" name="Feature 6"/>
          <p:cNvSpPr/>
          <p:nvPr/>
        </p:nvSpPr>
        <p:spPr>
          <a:xfrm>
            <a:off x="5980176" y="2029968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21" name="Feature check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2185416"/>
            <a:ext cx="237744" cy="237744"/>
          </a:xfrm>
          <a:prstGeom prst="rect">
            <a:avLst/>
          </a:prstGeom>
        </p:spPr>
      </p:pic>
      <p:sp>
        <p:nvSpPr>
          <p:cNvPr id="22" name="Feature text 6"/>
          <p:cNvSpPr txBox="1"/>
          <p:nvPr/>
        </p:nvSpPr>
        <p:spPr>
          <a:xfrm>
            <a:off x="6437376" y="2075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Inventario con avisos y predicción</a:t>
            </a:r>
            <a:endParaRPr lang="en-US" sz="1100" dirty="0"/>
          </a:p>
        </p:txBody>
      </p:sp>
      <p:sp>
        <p:nvSpPr>
          <p:cNvPr id="23" name="Feature 7"/>
          <p:cNvSpPr/>
          <p:nvPr/>
        </p:nvSpPr>
        <p:spPr>
          <a:xfrm>
            <a:off x="640080" y="2688336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24" name="Feature check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2843784"/>
            <a:ext cx="237744" cy="237744"/>
          </a:xfrm>
          <a:prstGeom prst="rect">
            <a:avLst/>
          </a:prstGeom>
        </p:spPr>
      </p:pic>
      <p:sp>
        <p:nvSpPr>
          <p:cNvPr id="25" name="Feature text 7"/>
          <p:cNvSpPr txBox="1"/>
          <p:nvPr/>
        </p:nvSpPr>
        <p:spPr>
          <a:xfrm>
            <a:off x="1097280" y="2734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Carta QR y pedidos desde la mesa</a:t>
            </a:r>
            <a:endParaRPr lang="en-US" sz="1100" dirty="0"/>
          </a:p>
        </p:txBody>
      </p:sp>
      <p:sp>
        <p:nvSpPr>
          <p:cNvPr id="26" name="Feature 8"/>
          <p:cNvSpPr/>
          <p:nvPr/>
        </p:nvSpPr>
        <p:spPr>
          <a:xfrm>
            <a:off x="3310128" y="2688336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27" name="Feature check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144" y="2843784"/>
            <a:ext cx="237744" cy="237744"/>
          </a:xfrm>
          <a:prstGeom prst="rect">
            <a:avLst/>
          </a:prstGeom>
        </p:spPr>
      </p:pic>
      <p:sp>
        <p:nvSpPr>
          <p:cNvPr id="28" name="Feature text 8"/>
          <p:cNvSpPr txBox="1"/>
          <p:nvPr/>
        </p:nvSpPr>
        <p:spPr>
          <a:xfrm>
            <a:off x="3767328" y="2734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Música de los clientes en el TV</a:t>
            </a:r>
            <a:endParaRPr lang="en-US" sz="1100" dirty="0"/>
          </a:p>
        </p:txBody>
      </p:sp>
      <p:sp>
        <p:nvSpPr>
          <p:cNvPr id="29" name="Feature 9"/>
          <p:cNvSpPr/>
          <p:nvPr/>
        </p:nvSpPr>
        <p:spPr>
          <a:xfrm>
            <a:off x="5980176" y="2688336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30" name="Feature check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08192" y="2843784"/>
            <a:ext cx="237744" cy="237744"/>
          </a:xfrm>
          <a:prstGeom prst="rect">
            <a:avLst/>
          </a:prstGeom>
        </p:spPr>
      </p:pic>
      <p:sp>
        <p:nvSpPr>
          <p:cNvPr id="31" name="Feature text 9"/>
          <p:cNvSpPr txBox="1"/>
          <p:nvPr/>
        </p:nvSpPr>
        <p:spPr>
          <a:xfrm>
            <a:off x="6437376" y="2734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Pantalla de cocina o barra</a:t>
            </a:r>
            <a:endParaRPr lang="en-US" sz="1100" dirty="0"/>
          </a:p>
        </p:txBody>
      </p:sp>
      <p:sp>
        <p:nvSpPr>
          <p:cNvPr id="32" name="Feature 10"/>
          <p:cNvSpPr/>
          <p:nvPr/>
        </p:nvSpPr>
        <p:spPr>
          <a:xfrm>
            <a:off x="640080" y="3346704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33" name="Feature check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096" y="3502152"/>
            <a:ext cx="237744" cy="237744"/>
          </a:xfrm>
          <a:prstGeom prst="rect">
            <a:avLst/>
          </a:prstGeom>
        </p:spPr>
      </p:pic>
      <p:sp>
        <p:nvSpPr>
          <p:cNvPr id="34" name="Feature text 10"/>
          <p:cNvSpPr txBox="1"/>
          <p:nvPr/>
        </p:nvSpPr>
        <p:spPr>
          <a:xfrm>
            <a:off x="1097280" y="3392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 de meseros, roles y permisos</a:t>
            </a:r>
            <a:endParaRPr lang="en-US" sz="1100" dirty="0"/>
          </a:p>
        </p:txBody>
      </p:sp>
      <p:sp>
        <p:nvSpPr>
          <p:cNvPr id="35" name="Feature 11"/>
          <p:cNvSpPr/>
          <p:nvPr/>
        </p:nvSpPr>
        <p:spPr>
          <a:xfrm>
            <a:off x="3310128" y="3346704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36" name="Feature check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8144" y="3502152"/>
            <a:ext cx="237744" cy="237744"/>
          </a:xfrm>
          <a:prstGeom prst="rect">
            <a:avLst/>
          </a:prstGeom>
        </p:spPr>
      </p:pic>
      <p:sp>
        <p:nvSpPr>
          <p:cNvPr id="37" name="Feature text 11"/>
          <p:cNvSpPr txBox="1"/>
          <p:nvPr/>
        </p:nvSpPr>
        <p:spPr>
          <a:xfrm>
            <a:off x="3767328" y="3392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Cierre de caja, ganancia, IVA, Excel</a:t>
            </a:r>
            <a:endParaRPr lang="en-US" sz="1100" dirty="0"/>
          </a:p>
        </p:txBody>
      </p:sp>
      <p:sp>
        <p:nvSpPr>
          <p:cNvPr id="38" name="Feature 12"/>
          <p:cNvSpPr/>
          <p:nvPr/>
        </p:nvSpPr>
        <p:spPr>
          <a:xfrm>
            <a:off x="5980176" y="3346704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39" name="Feature check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08192" y="3502152"/>
            <a:ext cx="237744" cy="237744"/>
          </a:xfrm>
          <a:prstGeom prst="rect">
            <a:avLst/>
          </a:prstGeom>
        </p:spPr>
      </p:pic>
      <p:sp>
        <p:nvSpPr>
          <p:cNvPr id="40" name="Feature text 12"/>
          <p:cNvSpPr txBox="1"/>
          <p:nvPr/>
        </p:nvSpPr>
        <p:spPr>
          <a:xfrm>
            <a:off x="6437376" y="3392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Domicilios, propinas, recibo con NIT</a:t>
            </a:r>
            <a:endParaRPr lang="en-US" sz="1100" dirty="0"/>
          </a:p>
        </p:txBody>
      </p:sp>
      <p:sp>
        <p:nvSpPr>
          <p:cNvPr id="41" name="Feature 13"/>
          <p:cNvSpPr/>
          <p:nvPr/>
        </p:nvSpPr>
        <p:spPr>
          <a:xfrm>
            <a:off x="640080" y="4005072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42" name="Feature check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96" y="4160520"/>
            <a:ext cx="237744" cy="237744"/>
          </a:xfrm>
          <a:prstGeom prst="rect">
            <a:avLst/>
          </a:prstGeom>
        </p:spPr>
      </p:pic>
      <p:sp>
        <p:nvSpPr>
          <p:cNvPr id="43" name="Feature text 13"/>
          <p:cNvSpPr txBox="1"/>
          <p:nvPr/>
        </p:nvSpPr>
        <p:spPr>
          <a:xfrm>
            <a:off x="1097280" y="4050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Código de barras y venta rápida</a:t>
            </a:r>
            <a:endParaRPr lang="en-US" sz="1100" dirty="0"/>
          </a:p>
        </p:txBody>
      </p:sp>
      <p:sp>
        <p:nvSpPr>
          <p:cNvPr id="44" name="Feature 14"/>
          <p:cNvSpPr/>
          <p:nvPr/>
        </p:nvSpPr>
        <p:spPr>
          <a:xfrm>
            <a:off x="3310128" y="4005072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45" name="Feature check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8144" y="4160520"/>
            <a:ext cx="237744" cy="237744"/>
          </a:xfrm>
          <a:prstGeom prst="rect">
            <a:avLst/>
          </a:prstGeom>
        </p:spPr>
      </p:pic>
      <p:sp>
        <p:nvSpPr>
          <p:cNvPr id="46" name="Feature text 14"/>
          <p:cNvSpPr txBox="1"/>
          <p:nvPr/>
        </p:nvSpPr>
        <p:spPr>
          <a:xfrm>
            <a:off x="3767328" y="4050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Mapa del local, unir y separar mesas</a:t>
            </a:r>
            <a:endParaRPr lang="en-US" sz="1100" dirty="0"/>
          </a:p>
        </p:txBody>
      </p:sp>
      <p:sp>
        <p:nvSpPr>
          <p:cNvPr id="47" name="Feature 15"/>
          <p:cNvSpPr/>
          <p:nvPr/>
        </p:nvSpPr>
        <p:spPr>
          <a:xfrm>
            <a:off x="5980176" y="4005072"/>
            <a:ext cx="2542032" cy="548640"/>
          </a:xfrm>
          <a:prstGeom prst="roundRect">
            <a:avLst>
              <a:gd name="adj" fmla="val 2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pic>
        <p:nvPicPr>
          <p:cNvPr id="48" name="Feature check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08192" y="4160520"/>
            <a:ext cx="237744" cy="237744"/>
          </a:xfrm>
          <a:prstGeom prst="rect">
            <a:avLst/>
          </a:prstGeom>
        </p:spPr>
      </p:pic>
      <p:sp>
        <p:nvSpPr>
          <p:cNvPr id="49" name="Feature text 15"/>
          <p:cNvSpPr txBox="1"/>
          <p:nvPr/>
        </p:nvSpPr>
        <p:spPr>
          <a:xfrm>
            <a:off x="6437376" y="4050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Varios equipos, varias sedes, respaldo en la nube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SIN COMPRAR EQUIPOS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Funciona en cualquier pantalla</a:t>
            </a:r>
            <a:endParaRPr lang="en-US" sz="3000" dirty="0"/>
          </a:p>
        </p:txBody>
      </p:sp>
      <p:sp>
        <p:nvSpPr>
          <p:cNvPr id="5" name="Smart TV o TV Box frame"/>
          <p:cNvSpPr/>
          <p:nvPr/>
        </p:nvSpPr>
        <p:spPr>
          <a:xfrm>
            <a:off x="585216" y="1408176"/>
            <a:ext cx="2905760" cy="1682496"/>
          </a:xfrm>
          <a:prstGeom prst="roundRect">
            <a:avLst>
              <a:gd name="adj" fmla="val 4348"/>
            </a:avLst>
          </a:prstGeom>
          <a:solidFill>
            <a:srgbClr val="05050A"/>
          </a:solidFill>
          <a:ln w="15875">
            <a:solidFill>
              <a:srgbClr val="5B47A8"/>
            </a:solidFill>
            <a:prstDash val="solid"/>
          </a:ln>
        </p:spPr>
      </p:sp>
      <p:pic>
        <p:nvPicPr>
          <p:cNvPr id="6" name="Smart TV o TV Bo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2796032" cy="1572768"/>
          </a:xfrm>
          <a:prstGeom prst="rect">
            <a:avLst/>
          </a:prstGeom>
        </p:spPr>
      </p:pic>
      <p:sp>
        <p:nvSpPr>
          <p:cNvPr id="7" name="Smart TV o TV Box label"/>
          <p:cNvSpPr txBox="1"/>
          <p:nvPr/>
        </p:nvSpPr>
        <p:spPr>
          <a:xfrm>
            <a:off x="640080" y="3172968"/>
            <a:ext cx="279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TV o TV Box</a:t>
            </a:r>
            <a:endParaRPr lang="en-US" sz="1200" dirty="0"/>
          </a:p>
        </p:txBody>
      </p:sp>
      <p:sp>
        <p:nvSpPr>
          <p:cNvPr id="8" name="Computador frame"/>
          <p:cNvSpPr/>
          <p:nvPr/>
        </p:nvSpPr>
        <p:spPr>
          <a:xfrm>
            <a:off x="3564128" y="1408176"/>
            <a:ext cx="2626157" cy="1682496"/>
          </a:xfrm>
          <a:prstGeom prst="roundRect">
            <a:avLst>
              <a:gd name="adj" fmla="val 4348"/>
            </a:avLst>
          </a:prstGeom>
          <a:solidFill>
            <a:srgbClr val="05050A"/>
          </a:solidFill>
          <a:ln w="15875">
            <a:solidFill>
              <a:srgbClr val="5B47A8"/>
            </a:solidFill>
            <a:prstDash val="solid"/>
          </a:ln>
        </p:spPr>
      </p:sp>
      <p:pic>
        <p:nvPicPr>
          <p:cNvPr id="9" name="Computado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992" y="1463040"/>
            <a:ext cx="2516429" cy="1572768"/>
          </a:xfrm>
          <a:prstGeom prst="rect">
            <a:avLst/>
          </a:prstGeom>
        </p:spPr>
      </p:pic>
      <p:sp>
        <p:nvSpPr>
          <p:cNvPr id="10" name="Computador label"/>
          <p:cNvSpPr txBox="1"/>
          <p:nvPr/>
        </p:nvSpPr>
        <p:spPr>
          <a:xfrm>
            <a:off x="3618992" y="3172968"/>
            <a:ext cx="2516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</a:t>
            </a:r>
            <a:endParaRPr lang="en-US" sz="1200" dirty="0"/>
          </a:p>
        </p:txBody>
      </p:sp>
      <p:sp>
        <p:nvSpPr>
          <p:cNvPr id="11" name="Tableta frame"/>
          <p:cNvSpPr/>
          <p:nvPr/>
        </p:nvSpPr>
        <p:spPr>
          <a:xfrm>
            <a:off x="6263437" y="1408176"/>
            <a:ext cx="1202668" cy="1682496"/>
          </a:xfrm>
          <a:prstGeom prst="roundRect">
            <a:avLst>
              <a:gd name="adj" fmla="val 6082"/>
            </a:avLst>
          </a:prstGeom>
          <a:solidFill>
            <a:srgbClr val="05050A"/>
          </a:solidFill>
          <a:ln w="15875">
            <a:solidFill>
              <a:srgbClr val="5B47A8"/>
            </a:solidFill>
            <a:prstDash val="solid"/>
          </a:ln>
        </p:spPr>
      </p:sp>
      <p:pic>
        <p:nvPicPr>
          <p:cNvPr id="12" name="Tablet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301" y="1463040"/>
            <a:ext cx="1092940" cy="1572768"/>
          </a:xfrm>
          <a:prstGeom prst="rect">
            <a:avLst/>
          </a:prstGeom>
        </p:spPr>
      </p:pic>
      <p:sp>
        <p:nvSpPr>
          <p:cNvPr id="13" name="Tableta label"/>
          <p:cNvSpPr txBox="1"/>
          <p:nvPr/>
        </p:nvSpPr>
        <p:spPr>
          <a:xfrm>
            <a:off x="6318301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Tableta</a:t>
            </a:r>
            <a:endParaRPr lang="en-US" sz="1200" dirty="0"/>
          </a:p>
        </p:txBody>
      </p:sp>
      <p:sp>
        <p:nvSpPr>
          <p:cNvPr id="14" name="Celular frame"/>
          <p:cNvSpPr/>
          <p:nvPr/>
        </p:nvSpPr>
        <p:spPr>
          <a:xfrm>
            <a:off x="7539257" y="1408176"/>
            <a:ext cx="836481" cy="1682496"/>
          </a:xfrm>
          <a:prstGeom prst="roundRect">
            <a:avLst>
              <a:gd name="adj" fmla="val 8745"/>
            </a:avLst>
          </a:prstGeom>
          <a:solidFill>
            <a:srgbClr val="05050A"/>
          </a:solidFill>
          <a:ln w="15875">
            <a:solidFill>
              <a:srgbClr val="5B47A8"/>
            </a:solidFill>
            <a:prstDash val="solid"/>
          </a:ln>
        </p:spPr>
      </p:sp>
      <p:pic>
        <p:nvPicPr>
          <p:cNvPr id="15" name="Celula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121" y="1463040"/>
            <a:ext cx="726753" cy="1572768"/>
          </a:xfrm>
          <a:prstGeom prst="rect">
            <a:avLst/>
          </a:prstGeom>
        </p:spPr>
      </p:pic>
      <p:sp>
        <p:nvSpPr>
          <p:cNvPr id="16" name="Celular label"/>
          <p:cNvSpPr txBox="1"/>
          <p:nvPr/>
        </p:nvSpPr>
        <p:spPr>
          <a:xfrm>
            <a:off x="7594121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200" dirty="0"/>
          </a:p>
        </p:txBody>
      </p:sp>
      <p:sp>
        <p:nvSpPr>
          <p:cNvPr id="17" name="Extra 1 circle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8" name="Extra 1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000500"/>
            <a:ext cx="228600" cy="228600"/>
          </a:xfrm>
          <a:prstGeom prst="rect">
            <a:avLst/>
          </a:prstGeom>
        </p:spPr>
      </p:pic>
      <p:sp>
        <p:nvSpPr>
          <p:cNvPr id="19" name="Extra title 1"/>
          <p:cNvSpPr txBox="1"/>
          <p:nvPr/>
        </p:nvSpPr>
        <p:spPr>
          <a:xfrm>
            <a:off x="1234440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 internet</a:t>
            </a:r>
            <a:endParaRPr lang="en-US" sz="1250" dirty="0"/>
          </a:p>
        </p:txBody>
      </p:sp>
      <p:sp>
        <p:nvSpPr>
          <p:cNvPr id="20" name="Extra text 1"/>
          <p:cNvSpPr txBox="1"/>
          <p:nvPr/>
        </p:nvSpPr>
        <p:spPr>
          <a:xfrm>
            <a:off x="1234440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Sigue vendiendo sin señal y se pone al día.</a:t>
            </a:r>
            <a:endParaRPr lang="en-US" sz="1050" dirty="0"/>
          </a:p>
        </p:txBody>
      </p:sp>
      <p:sp>
        <p:nvSpPr>
          <p:cNvPr id="21" name="Extra 2 circle"/>
          <p:cNvSpPr/>
          <p:nvPr/>
        </p:nvSpPr>
        <p:spPr>
          <a:xfrm>
            <a:off x="3310128" y="38862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2" name="Extra 2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428" y="4000500"/>
            <a:ext cx="228600" cy="228600"/>
          </a:xfrm>
          <a:prstGeom prst="rect">
            <a:avLst/>
          </a:prstGeom>
        </p:spPr>
      </p:pic>
      <p:sp>
        <p:nvSpPr>
          <p:cNvPr id="23" name="Extra title 2"/>
          <p:cNvSpPr txBox="1"/>
          <p:nvPr/>
        </p:nvSpPr>
        <p:spPr>
          <a:xfrm>
            <a:off x="3904488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sincronizado</a:t>
            </a:r>
            <a:endParaRPr lang="en-US" sz="1250" dirty="0"/>
          </a:p>
        </p:txBody>
      </p:sp>
      <p:sp>
        <p:nvSpPr>
          <p:cNvPr id="24" name="Extra text 2"/>
          <p:cNvSpPr txBox="1"/>
          <p:nvPr/>
        </p:nvSpPr>
        <p:spPr>
          <a:xfrm>
            <a:off x="3904488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Celular del mesero → caja → cocina.</a:t>
            </a:r>
            <a:endParaRPr lang="en-US" sz="1050" dirty="0"/>
          </a:p>
        </p:txBody>
      </p:sp>
      <p:sp>
        <p:nvSpPr>
          <p:cNvPr id="25" name="Extra 3 circle"/>
          <p:cNvSpPr/>
          <p:nvPr/>
        </p:nvSpPr>
        <p:spPr>
          <a:xfrm>
            <a:off x="5980176" y="388620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Extra 3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476" y="4000500"/>
            <a:ext cx="228600" cy="228600"/>
          </a:xfrm>
          <a:prstGeom prst="rect">
            <a:avLst/>
          </a:prstGeom>
        </p:spPr>
      </p:pic>
      <p:sp>
        <p:nvSpPr>
          <p:cNvPr id="27" name="Extra title 3"/>
          <p:cNvSpPr txBox="1"/>
          <p:nvPr/>
        </p:nvSpPr>
        <p:spPr>
          <a:xfrm>
            <a:off x="6574536" y="3858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que instalar</a:t>
            </a:r>
            <a:endParaRPr lang="en-US" sz="1250" dirty="0"/>
          </a:p>
        </p:txBody>
      </p:sp>
      <p:sp>
        <p:nvSpPr>
          <p:cNvPr id="28" name="Extra text 3"/>
          <p:cNvSpPr txBox="1"/>
          <p:nvPr/>
        </p:nvSpPr>
        <p:spPr>
          <a:xfrm>
            <a:off x="6574536" y="4114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Navegador o app de Android.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POR QUÉ AHORA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Pagos inmediatos en todo el país</a:t>
            </a:r>
            <a:endParaRPr lang="en-US" sz="3000" dirty="0"/>
          </a:p>
        </p:txBody>
      </p:sp>
      <p:sp>
        <p:nvSpPr>
          <p:cNvPr id="5" name="Why now 1"/>
          <p:cNvSpPr/>
          <p:nvPr/>
        </p:nvSpPr>
        <p:spPr>
          <a:xfrm>
            <a:off x="640080" y="1463040"/>
            <a:ext cx="2514600" cy="2926080"/>
          </a:xfrm>
          <a:prstGeom prst="roundRect">
            <a:avLst>
              <a:gd name="adj" fmla="val 5091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6" name="Why now value 1"/>
          <p:cNvSpPr txBox="1"/>
          <p:nvPr/>
        </p:nvSpPr>
        <p:spPr>
          <a:xfrm>
            <a:off x="86868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 2025</a:t>
            </a:r>
            <a:endParaRPr lang="en-US" sz="3600" dirty="0"/>
          </a:p>
        </p:txBody>
      </p:sp>
      <p:sp>
        <p:nvSpPr>
          <p:cNvPr id="7" name="Why now title 1"/>
          <p:cNvSpPr txBox="1"/>
          <p:nvPr/>
        </p:nvSpPr>
        <p:spPr>
          <a:xfrm>
            <a:off x="86868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 Bre-B</a:t>
            </a:r>
            <a:endParaRPr lang="en-US" sz="1500" dirty="0"/>
          </a:p>
        </p:txBody>
      </p:sp>
      <p:sp>
        <p:nvSpPr>
          <p:cNvPr id="8" name="Why now text 1"/>
          <p:cNvSpPr txBox="1"/>
          <p:nvPr/>
        </p:nvSpPr>
        <p:spPr>
          <a:xfrm>
            <a:off x="86868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El Banco de la República lanza transferencias inmediatas, gratis y 24/7 entre 227 entidades.</a:t>
            </a:r>
            <a:endParaRPr lang="en-US" sz="1150" dirty="0"/>
          </a:p>
        </p:txBody>
      </p:sp>
      <p:sp>
        <p:nvSpPr>
          <p:cNvPr id="9" name="Why now 2"/>
          <p:cNvSpPr/>
          <p:nvPr/>
        </p:nvSpPr>
        <p:spPr>
          <a:xfrm>
            <a:off x="3337560" y="1463040"/>
            <a:ext cx="2514600" cy="2926080"/>
          </a:xfrm>
          <a:prstGeom prst="roundRect">
            <a:avLst>
              <a:gd name="adj" fmla="val 5091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0" name="Why now value 2"/>
          <p:cNvSpPr txBox="1"/>
          <p:nvPr/>
        </p:nvSpPr>
        <p:spPr>
          <a:xfrm>
            <a:off x="35661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</a:t>
            </a:r>
            <a:endParaRPr lang="en-US" sz="3600" dirty="0"/>
          </a:p>
        </p:txBody>
      </p:sp>
      <p:sp>
        <p:nvSpPr>
          <p:cNvPr id="11" name="Why now title 2"/>
          <p:cNvSpPr txBox="1"/>
          <p:nvPr/>
        </p:nvSpPr>
        <p:spPr>
          <a:xfrm>
            <a:off x="35661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de Nequi</a:t>
            </a:r>
            <a:endParaRPr lang="en-US" sz="1500" dirty="0"/>
          </a:p>
        </p:txBody>
      </p:sp>
      <p:sp>
        <p:nvSpPr>
          <p:cNvPr id="12" name="Why now text 2"/>
          <p:cNvSpPr txBox="1"/>
          <p:nvPr/>
        </p:nvSpPr>
        <p:spPr>
          <a:xfrm>
            <a:off x="356616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A mediados de 2025, una sola billetera digital supera los 25 millones de colombianos.</a:t>
            </a:r>
            <a:endParaRPr lang="en-US" sz="1150" dirty="0"/>
          </a:p>
        </p:txBody>
      </p:sp>
      <p:sp>
        <p:nvSpPr>
          <p:cNvPr id="13" name="Why now 3"/>
          <p:cNvSpPr/>
          <p:nvPr/>
        </p:nvSpPr>
        <p:spPr>
          <a:xfrm>
            <a:off x="6035040" y="1463040"/>
            <a:ext cx="2514600" cy="2926080"/>
          </a:xfrm>
          <a:prstGeom prst="roundRect">
            <a:avLst>
              <a:gd name="adj" fmla="val 5091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4" name="Why now value 3"/>
          <p:cNvSpPr txBox="1"/>
          <p:nvPr/>
        </p:nvSpPr>
        <p:spPr>
          <a:xfrm>
            <a:off x="626364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celular</a:t>
            </a:r>
            <a:endParaRPr lang="en-US" sz="2800" dirty="0"/>
          </a:p>
        </p:txBody>
      </p:sp>
      <p:sp>
        <p:nvSpPr>
          <p:cNvPr id="15" name="Why now title 3"/>
          <p:cNvSpPr txBox="1"/>
          <p:nvPr/>
        </p:nvSpPr>
        <p:spPr>
          <a:xfrm>
            <a:off x="62636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y voz en el celular</a:t>
            </a:r>
            <a:endParaRPr lang="en-US" sz="1500" dirty="0"/>
          </a:p>
        </p:txBody>
      </p:sp>
      <p:sp>
        <p:nvSpPr>
          <p:cNvPr id="16" name="Why now text 3"/>
          <p:cNvSpPr txBox="1"/>
          <p:nvPr/>
        </p:nvSpPr>
        <p:spPr>
          <a:xfrm>
            <a:off x="626364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El reconocimiento de voz y la lectura de textos ya corren en los celulares Android que tienen los negocios.</a:t>
            </a:r>
            <a:endParaRPr lang="en-US" sz="1150" dirty="0"/>
          </a:p>
        </p:txBody>
      </p:sp>
      <p:sp>
        <p:nvSpPr>
          <p:cNvPr id="17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Fuente: Banco de la República (Bre-B, abierto a todos desde el 6 de oct. de 2025); El Colombiano, resultados de Nequi 2025 (25 M de usuarios).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MERCADO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 Colombia a Latinoamérica</a:t>
            </a:r>
            <a:endParaRPr lang="en-US" sz="3000" dirty="0"/>
          </a:p>
        </p:txBody>
      </p:sp>
      <p:sp>
        <p:nvSpPr>
          <p:cNvPr id="5" name="Market ring 3.7"/>
          <p:cNvSpPr/>
          <p:nvPr/>
        </p:nvSpPr>
        <p:spPr>
          <a:xfrm>
            <a:off x="640080" y="1325880"/>
            <a:ext cx="3383280" cy="3383280"/>
          </a:xfrm>
          <a:prstGeom prst="ellipse">
            <a:avLst/>
          </a:prstGeom>
          <a:solidFill>
            <a:srgbClr val="1A1530"/>
          </a:solidFill>
          <a:ln w="12700">
            <a:solidFill>
              <a:srgbClr val="3B2F66"/>
            </a:solidFill>
            <a:prstDash val="solid"/>
          </a:ln>
        </p:spPr>
      </p:sp>
      <p:sp>
        <p:nvSpPr>
          <p:cNvPr id="6" name="Market ring 2.8"/>
          <p:cNvSpPr/>
          <p:nvPr/>
        </p:nvSpPr>
        <p:spPr>
          <a:xfrm>
            <a:off x="1051560" y="1920240"/>
            <a:ext cx="2560320" cy="2560320"/>
          </a:xfrm>
          <a:prstGeom prst="ellipse">
            <a:avLst/>
          </a:prstGeom>
          <a:solidFill>
            <a:srgbClr val="211A3D"/>
          </a:solidFill>
          <a:ln w="12700">
            <a:solidFill>
              <a:srgbClr val="5B47A8"/>
            </a:solidFill>
            <a:prstDash val="solid"/>
          </a:ln>
        </p:spPr>
      </p:sp>
      <p:sp>
        <p:nvSpPr>
          <p:cNvPr id="7" name="Market ring 1.8"/>
          <p:cNvSpPr/>
          <p:nvPr/>
        </p:nvSpPr>
        <p:spPr>
          <a:xfrm>
            <a:off x="1508760" y="2606040"/>
            <a:ext cx="1645920" cy="1645920"/>
          </a:xfrm>
          <a:prstGeom prst="ellipse">
            <a:avLst/>
          </a:prstGeom>
          <a:solidFill>
            <a:srgbClr val="2A1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Ring 1 label"/>
          <p:cNvSpPr txBox="1"/>
          <p:nvPr/>
        </p:nvSpPr>
        <p:spPr>
          <a:xfrm>
            <a:off x="64008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Latinoamérica</a:t>
            </a:r>
            <a:endParaRPr lang="en-US" sz="1200" dirty="0"/>
          </a:p>
        </p:txBody>
      </p:sp>
      <p:sp>
        <p:nvSpPr>
          <p:cNvPr id="9" name="Ring 2 label"/>
          <p:cNvSpPr txBox="1"/>
          <p:nvPr/>
        </p:nvSpPr>
        <p:spPr>
          <a:xfrm>
            <a:off x="105156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</a:rPr>
              <a:t>Colombia</a:t>
            </a:r>
            <a:endParaRPr lang="en-US" sz="1200" dirty="0"/>
          </a:p>
        </p:txBody>
      </p:sp>
      <p:sp>
        <p:nvSpPr>
          <p:cNvPr id="10" name="Ring 3 value"/>
          <p:cNvSpPr txBox="1"/>
          <p:nvPr/>
        </p:nvSpPr>
        <p:spPr>
          <a:xfrm>
            <a:off x="1508760" y="3017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 M</a:t>
            </a:r>
            <a:endParaRPr lang="en-US" sz="2600" dirty="0"/>
          </a:p>
        </p:txBody>
      </p:sp>
      <p:sp>
        <p:nvSpPr>
          <p:cNvPr id="11" name="Ring 3 label"/>
          <p:cNvSpPr txBox="1"/>
          <p:nvPr/>
        </p:nvSpPr>
        <p:spPr>
          <a:xfrm>
            <a:off x="150876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</a:rPr>
              <a:t>mercado inicial</a:t>
            </a:r>
            <a:endParaRPr lang="en-US" sz="1050" dirty="0"/>
          </a:p>
        </p:txBody>
      </p:sp>
      <p:sp>
        <p:nvSpPr>
          <p:cNvPr id="12" name="Market title 1"/>
          <p:cNvSpPr txBox="1"/>
          <p:nvPr/>
        </p:nvSpPr>
        <p:spPr>
          <a:xfrm>
            <a:off x="4434840" y="14173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inicial</a:t>
            </a:r>
            <a:endParaRPr lang="en-US" sz="1500" dirty="0"/>
          </a:p>
        </p:txBody>
      </p:sp>
      <p:sp>
        <p:nvSpPr>
          <p:cNvPr id="13" name="Market text 1"/>
          <p:cNvSpPr txBox="1"/>
          <p:nvPr/>
        </p:nvSpPr>
        <p:spPr>
          <a:xfrm>
            <a:off x="4434840" y="172821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2,3 millones de micronegocios en las 24 ciudades principales de Colombia (DANE 2024): bares, restaurantes, tiendas, peluquerías, talleres.</a:t>
            </a:r>
            <a:endParaRPr lang="en-US" sz="1150" dirty="0"/>
          </a:p>
        </p:txBody>
      </p:sp>
      <p:sp>
        <p:nvSpPr>
          <p:cNvPr id="14" name="Market title 2"/>
          <p:cNvSpPr txBox="1"/>
          <p:nvPr/>
        </p:nvSpPr>
        <p:spPr>
          <a:xfrm>
            <a:off x="4434840" y="2468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para crecer</a:t>
            </a:r>
            <a:endParaRPr lang="en-US" sz="1500" dirty="0"/>
          </a:p>
        </p:txBody>
      </p:sp>
      <p:sp>
        <p:nvSpPr>
          <p:cNvPr id="15" name="Market text 2"/>
          <p:cNvSpPr txBox="1"/>
          <p:nvPr/>
        </p:nvSpPr>
        <p:spPr>
          <a:xfrm>
            <a:off x="4434840" y="277977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Más de 75 tipos de negocio listos: la misma voz, IA y pagos se adaptan a mesas, habitaciones, sillas u órdenes de trabajo.</a:t>
            </a:r>
            <a:endParaRPr lang="en-US" sz="1150" dirty="0"/>
          </a:p>
        </p:txBody>
      </p:sp>
      <p:sp>
        <p:nvSpPr>
          <p:cNvPr id="16" name="Market title 3"/>
          <p:cNvSpPr txBox="1"/>
          <p:nvPr/>
        </p:nvSpPr>
        <p:spPr>
          <a:xfrm>
            <a:off x="4434840" y="3520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Siguientes mercados</a:t>
            </a:r>
            <a:endParaRPr lang="en-US" sz="1500" dirty="0"/>
          </a:p>
        </p:txBody>
      </p:sp>
      <p:sp>
        <p:nvSpPr>
          <p:cNvPr id="17" name="Market text 3"/>
          <p:cNvSpPr txBox="1"/>
          <p:nvPr/>
        </p:nvSpPr>
        <p:spPr>
          <a:xfrm>
            <a:off x="4434840" y="383133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A6BD"/>
                </a:solidFill>
              </a:rPr>
              <a:t>Países con pagos inmediatos y billeteras digitales, donde el fraude con pantallazos es el mismo problema.</a:t>
            </a:r>
            <a:endParaRPr lang="en-US" sz="1150" dirty="0"/>
          </a:p>
        </p:txBody>
      </p:sp>
      <p:sp>
        <p:nvSpPr>
          <p:cNvPr id="18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Fuente: DANE, EMICRON 2024. El tamaño de mercado fuera de Colombia se completará con datos de cada país.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MODELO DE NEGOCIO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Suscripción simple, sin comisión</a:t>
            </a:r>
            <a:endParaRPr lang="en-US" sz="3000" dirty="0"/>
          </a:p>
        </p:txBody>
      </p:sp>
      <p:sp>
        <p:nvSpPr>
          <p:cNvPr id="5" name="Model 1"/>
          <p:cNvSpPr/>
          <p:nvPr/>
        </p:nvSpPr>
        <p:spPr>
          <a:xfrm>
            <a:off x="640080" y="146304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6" name="Model 1 circle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Model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274320" cy="274320"/>
          </a:xfrm>
          <a:prstGeom prst="rect">
            <a:avLst/>
          </a:prstGeom>
        </p:spPr>
      </p:pic>
      <p:sp>
        <p:nvSpPr>
          <p:cNvPr id="8" name="Model title 1"/>
          <p:cNvSpPr txBox="1"/>
          <p:nvPr/>
        </p:nvSpPr>
        <p:spPr>
          <a:xfrm>
            <a:off x="8686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gratis</a:t>
            </a:r>
            <a:endParaRPr lang="en-US" sz="1500" dirty="0"/>
          </a:p>
        </p:txBody>
      </p:sp>
      <p:sp>
        <p:nvSpPr>
          <p:cNvPr id="9" name="Model text 1"/>
          <p:cNvSpPr txBox="1"/>
          <p:nvPr/>
        </p:nvSpPr>
        <p:spPr>
          <a:xfrm>
            <a:off x="86868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Todas las funciones, sin tarjeta. El negocio ve el valor desde la primera noche.</a:t>
            </a:r>
            <a:endParaRPr lang="en-US" sz="1100" dirty="0"/>
          </a:p>
        </p:txBody>
      </p:sp>
      <p:sp>
        <p:nvSpPr>
          <p:cNvPr id="10" name="Model 2"/>
          <p:cNvSpPr/>
          <p:nvPr/>
        </p:nvSpPr>
        <p:spPr>
          <a:xfrm>
            <a:off x="3337560" y="146304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211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1" name="Model 2 circle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Model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828800"/>
            <a:ext cx="274320" cy="274320"/>
          </a:xfrm>
          <a:prstGeom prst="rect">
            <a:avLst/>
          </a:prstGeom>
        </p:spPr>
      </p:pic>
      <p:sp>
        <p:nvSpPr>
          <p:cNvPr id="13" name="Model title 2"/>
          <p:cNvSpPr txBox="1"/>
          <p:nvPr/>
        </p:nvSpPr>
        <p:spPr>
          <a:xfrm>
            <a:off x="35661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mensual</a:t>
            </a:r>
            <a:endParaRPr lang="en-US" sz="1500" dirty="0"/>
          </a:p>
        </p:txBody>
      </p:sp>
      <p:sp>
        <p:nvSpPr>
          <p:cNvPr id="14" name="Model text 2"/>
          <p:cNvSpPr txBox="1"/>
          <p:nvPr/>
        </p:nvSpPr>
        <p:spPr>
          <a:xfrm>
            <a:off x="356616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Precio según el tamaño: más equipos, sedes e IA incluidos.</a:t>
            </a:r>
            <a:endParaRPr lang="en-US" sz="1100" dirty="0"/>
          </a:p>
        </p:txBody>
      </p:sp>
      <p:sp>
        <p:nvSpPr>
          <p:cNvPr id="15" name="Model 3"/>
          <p:cNvSpPr/>
          <p:nvPr/>
        </p:nvSpPr>
        <p:spPr>
          <a:xfrm>
            <a:off x="6035040" y="146304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6" name="Model 3 circle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Model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274320" cy="274320"/>
          </a:xfrm>
          <a:prstGeom prst="rect">
            <a:avLst/>
          </a:prstGeom>
        </p:spPr>
      </p:pic>
      <p:sp>
        <p:nvSpPr>
          <p:cNvPr id="18" name="Model title 3"/>
          <p:cNvSpPr txBox="1"/>
          <p:nvPr/>
        </p:nvSpPr>
        <p:spPr>
          <a:xfrm>
            <a:off x="626364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 de por vida</a:t>
            </a:r>
            <a:endParaRPr lang="en-US" sz="1500" dirty="0"/>
          </a:p>
        </p:txBody>
      </p:sp>
      <p:sp>
        <p:nvSpPr>
          <p:cNvPr id="19" name="Model text 3"/>
          <p:cNvSpPr txBox="1"/>
          <p:nvPr/>
        </p:nvSpPr>
        <p:spPr>
          <a:xfrm>
            <a:off x="626364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6BD"/>
                </a:solidFill>
              </a:rPr>
              <a:t>Pago único para dueños que prefieren comprar y no pagar mes a mes.</a:t>
            </a:r>
            <a:endParaRPr lang="en-US" sz="1100" dirty="0"/>
          </a:p>
        </p:txBody>
      </p:sp>
      <p:sp>
        <p:nvSpPr>
          <p:cNvPr id="20" name="Model footnote"/>
          <p:cNvSpPr/>
          <p:nvPr/>
        </p:nvSpPr>
        <p:spPr>
          <a:xfrm>
            <a:off x="640080" y="3749040"/>
            <a:ext cx="7863840" cy="777240"/>
          </a:xfrm>
          <a:prstGeom prst="roundRect">
            <a:avLst>
              <a:gd name="adj" fmla="val 16471"/>
            </a:avLst>
          </a:prstGeom>
          <a:solidFill>
            <a:srgbClr val="10251D"/>
          </a:solidFill>
          <a:ln w="9525">
            <a:solidFill>
              <a:srgbClr val="1F5A44"/>
            </a:solidFill>
            <a:prstDash val="solid"/>
          </a:ln>
        </p:spPr>
      </p:sp>
      <p:sp>
        <p:nvSpPr>
          <p:cNvPr id="21" name="Model footnote text"/>
          <p:cNvSpPr txBox="1"/>
          <p:nvPr/>
        </p:nvSpPr>
        <p:spPr>
          <a:xfrm>
            <a:off x="868680" y="3794760"/>
            <a:ext cx="745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0 % de comisión de Vento.  </a:t>
            </a:r>
            <a:pPr indent="0" marL="0">
              <a:buNone/>
            </a:pPr>
            <a:r>
              <a:rPr lang="en-US" sz="1200" dirty="0">
                <a:solidFill>
                  <a:srgbClr val="D9F7EC"/>
                </a:solidFill>
              </a:rPr>
              <a:t>La plata va directo a la cuenta Nequi, DaviPlata o Bre-B del negocio; Vento solo la verifica. Licencias y planes se manejan desde Vento Admin.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POR QUÉ GANA VENTO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Una categoría propia</a:t>
            </a:r>
            <a:endParaRPr lang="en-US" sz="3000" dirty="0"/>
          </a:p>
        </p:txBody>
      </p:sp>
      <p:graphicFrame>
        <p:nvGraphicFramePr>
          <p:cNvPr id="13" name="Positio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234440"/>
                <a:gridCol w="1325880"/>
                <a:gridCol w="1325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B5CF"/>
                          </a:solidFill>
                        </a:rPr>
                        <a:t>Papel + WhatsApp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B5CF"/>
                          </a:solidFill>
                        </a:rPr>
                        <a:t>POS tradicional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9B5CF"/>
                          </a:solidFill>
                        </a:rPr>
                        <a:t>Pasarelas de pago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E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Vento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Manejo por voz, manos libres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Detecta pantallazos y SMS falsos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Sin comisión por venta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Sin comprar equipos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IA para facturas e inventario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2F1F7"/>
                          </a:solidFill>
                        </a:rPr>
                        <a:t>Funciona sin internet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A8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A"/>
                    </a:solidFill>
                  </a:tcPr>
                </a:tc>
              </a:tr>
            </a:tbl>
          </a:graphicData>
        </a:graphic>
      </p:graphicFrame>
      <p:sp>
        <p:nvSpPr>
          <p:cNvPr id="6" name="Table note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A85"/>
                </a:solidFill>
              </a:rPr>
              <a:t>Características típicas de cada categoría; cada producto puede variar.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PRECIOS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mitad del precio de la competencia</a:t>
            </a:r>
            <a:endParaRPr lang="en-US" sz="3000" dirty="0"/>
          </a:p>
        </p:txBody>
      </p:sp>
      <p:sp>
        <p:nvSpPr>
          <p:cNvPr id="5" name="Tier Tienda"/>
          <p:cNvSpPr/>
          <p:nvPr/>
        </p:nvSpPr>
        <p:spPr>
          <a:xfrm>
            <a:off x="640080" y="1371600"/>
            <a:ext cx="3566160" cy="960120"/>
          </a:xfrm>
          <a:prstGeom prst="roundRect">
            <a:avLst>
              <a:gd name="adj" fmla="val 1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6" name="Tier name 0"/>
          <p:cNvSpPr txBox="1"/>
          <p:nvPr/>
        </p:nvSpPr>
        <p:spPr>
          <a:xfrm>
            <a:off x="841248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</a:t>
            </a:r>
            <a:endParaRPr lang="en-US" sz="1500" dirty="0"/>
          </a:p>
        </p:txBody>
      </p:sp>
      <p:sp>
        <p:nvSpPr>
          <p:cNvPr id="7" name="Tier who 0"/>
          <p:cNvSpPr txBox="1"/>
          <p:nvPr/>
        </p:nvSpPr>
        <p:spPr>
          <a:xfrm>
            <a:off x="841248" y="17556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Tienda de barrio · 1 equipo</a:t>
            </a:r>
            <a:endParaRPr lang="en-US" sz="950" dirty="0"/>
          </a:p>
        </p:txBody>
      </p:sp>
      <p:sp>
        <p:nvSpPr>
          <p:cNvPr id="8" name="Tier incl 0"/>
          <p:cNvSpPr txBox="1"/>
          <p:nvPr/>
        </p:nvSpPr>
        <p:spPr>
          <a:xfrm>
            <a:off x="841248" y="19751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Voz, fiados, inventario, pagos verificados</a:t>
            </a:r>
            <a:endParaRPr lang="en-US" sz="900" dirty="0"/>
          </a:p>
        </p:txBody>
      </p:sp>
      <p:sp>
        <p:nvSpPr>
          <p:cNvPr id="9" name="Tier usd 0"/>
          <p:cNvSpPr txBox="1"/>
          <p:nvPr/>
        </p:nvSpPr>
        <p:spPr>
          <a:xfrm>
            <a:off x="2514600" y="1481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$39.900</a:t>
            </a:r>
            <a:endParaRPr lang="en-US" sz="2200" dirty="0"/>
          </a:p>
        </p:txBody>
      </p:sp>
      <p:sp>
        <p:nvSpPr>
          <p:cNvPr id="10" name="Tier cop 0"/>
          <p:cNvSpPr txBox="1"/>
          <p:nvPr/>
        </p:nvSpPr>
        <p:spPr>
          <a:xfrm>
            <a:off x="26974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US$12 · al mes</a:t>
            </a:r>
            <a:endParaRPr lang="en-US" sz="900" dirty="0"/>
          </a:p>
        </p:txBody>
      </p:sp>
      <p:sp>
        <p:nvSpPr>
          <p:cNvPr id="11" name="Tier Restobar"/>
          <p:cNvSpPr/>
          <p:nvPr/>
        </p:nvSpPr>
        <p:spPr>
          <a:xfrm>
            <a:off x="640080" y="2450592"/>
            <a:ext cx="3566160" cy="960120"/>
          </a:xfrm>
          <a:prstGeom prst="roundRect">
            <a:avLst>
              <a:gd name="adj" fmla="val 13333"/>
            </a:avLst>
          </a:prstGeom>
          <a:solidFill>
            <a:srgbClr val="211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Tier name 1"/>
          <p:cNvSpPr txBox="1"/>
          <p:nvPr/>
        </p:nvSpPr>
        <p:spPr>
          <a:xfrm>
            <a:off x="841248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Restobar</a:t>
            </a:r>
            <a:endParaRPr lang="en-US" sz="1500" dirty="0"/>
          </a:p>
        </p:txBody>
      </p:sp>
      <p:sp>
        <p:nvSpPr>
          <p:cNvPr id="13" name="Tier who 1"/>
          <p:cNvSpPr txBox="1"/>
          <p:nvPr/>
        </p:nvSpPr>
        <p:spPr>
          <a:xfrm>
            <a:off x="841248" y="2834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Restaurantes · 5 equipos</a:t>
            </a:r>
            <a:endParaRPr lang="en-US" sz="950" dirty="0"/>
          </a:p>
        </p:txBody>
      </p:sp>
      <p:sp>
        <p:nvSpPr>
          <p:cNvPr id="14" name="Tier incl 1"/>
          <p:cNvSpPr txBox="1"/>
          <p:nvPr/>
        </p:nvSpPr>
        <p:spPr>
          <a:xfrm>
            <a:off x="841248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+ mesas, QR, música en el TV, IA</a:t>
            </a:r>
            <a:endParaRPr lang="en-US" sz="900" dirty="0"/>
          </a:p>
        </p:txBody>
      </p:sp>
      <p:sp>
        <p:nvSpPr>
          <p:cNvPr id="15" name="Tier usd 1"/>
          <p:cNvSpPr txBox="1"/>
          <p:nvPr/>
        </p:nvSpPr>
        <p:spPr>
          <a:xfrm>
            <a:off x="2514600" y="2560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$79.900</a:t>
            </a:r>
            <a:endParaRPr lang="en-US" sz="2200" dirty="0"/>
          </a:p>
        </p:txBody>
      </p:sp>
      <p:sp>
        <p:nvSpPr>
          <p:cNvPr id="16" name="Tier cop 1"/>
          <p:cNvSpPr txBox="1"/>
          <p:nvPr/>
        </p:nvSpPr>
        <p:spPr>
          <a:xfrm>
            <a:off x="269748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US$24 · al mes</a:t>
            </a:r>
            <a:endParaRPr lang="en-US" sz="900" dirty="0"/>
          </a:p>
        </p:txBody>
      </p:sp>
      <p:sp>
        <p:nvSpPr>
          <p:cNvPr id="17" name="Tier Plus"/>
          <p:cNvSpPr/>
          <p:nvPr/>
        </p:nvSpPr>
        <p:spPr>
          <a:xfrm>
            <a:off x="640080" y="3529584"/>
            <a:ext cx="3566160" cy="960120"/>
          </a:xfrm>
          <a:prstGeom prst="roundRect">
            <a:avLst>
              <a:gd name="adj" fmla="val 13333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8" name="Tier name 2"/>
          <p:cNvSpPr txBox="1"/>
          <p:nvPr/>
        </p:nvSpPr>
        <p:spPr>
          <a:xfrm>
            <a:off x="841248" y="3621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</a:t>
            </a:r>
            <a:endParaRPr lang="en-US" sz="1500" dirty="0"/>
          </a:p>
        </p:txBody>
      </p:sp>
      <p:sp>
        <p:nvSpPr>
          <p:cNvPr id="19" name="Tier who 2"/>
          <p:cNvSpPr txBox="1"/>
          <p:nvPr/>
        </p:nvSpPr>
        <p:spPr>
          <a:xfrm>
            <a:off x="841248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Varias sedes · ilimitado</a:t>
            </a:r>
            <a:endParaRPr lang="en-US" sz="950" dirty="0"/>
          </a:p>
        </p:txBody>
      </p:sp>
      <p:sp>
        <p:nvSpPr>
          <p:cNvPr id="20" name="Tier incl 2"/>
          <p:cNvSpPr txBox="1"/>
          <p:nvPr/>
        </p:nvSpPr>
        <p:spPr>
          <a:xfrm>
            <a:off x="841248" y="4133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+ sedes, soporte prioritario</a:t>
            </a:r>
            <a:endParaRPr lang="en-US" sz="900" dirty="0"/>
          </a:p>
        </p:txBody>
      </p:sp>
      <p:sp>
        <p:nvSpPr>
          <p:cNvPr id="21" name="Tier usd 2"/>
          <p:cNvSpPr txBox="1"/>
          <p:nvPr/>
        </p:nvSpPr>
        <p:spPr>
          <a:xfrm>
            <a:off x="2514600" y="36393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$149.900</a:t>
            </a:r>
            <a:endParaRPr lang="en-US" sz="2200" dirty="0"/>
          </a:p>
        </p:txBody>
      </p:sp>
      <p:sp>
        <p:nvSpPr>
          <p:cNvPr id="22" name="Tier cop 2"/>
          <p:cNvSpPr txBox="1"/>
          <p:nvPr/>
        </p:nvSpPr>
        <p:spPr>
          <a:xfrm>
            <a:off x="2697480" y="4078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6BD"/>
                </a:solidFill>
              </a:rPr>
              <a:t>US$45 · al mes</a:t>
            </a:r>
            <a:endParaRPr lang="en-US" sz="900" dirty="0"/>
          </a:p>
        </p:txBody>
      </p:sp>
      <p:sp>
        <p:nvSpPr>
          <p:cNvPr id="23" name="Tier footnote"/>
          <p:cNvSpPr txBox="1"/>
          <p:nvPr/>
        </p:nvSpPr>
        <p:spPr>
          <a:xfrm>
            <a:off x="640080" y="4572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</a:rPr>
              <a:t>Plan anual: 2 meses gratis · prueba gratis · opción de por vida</a:t>
            </a:r>
            <a:endParaRPr lang="en-US" sz="950" dirty="0"/>
          </a:p>
        </p:txBody>
      </p:sp>
      <p:sp>
        <p:nvSpPr>
          <p:cNvPr id="24" name="Bars title"/>
          <p:cNvSpPr txBox="1"/>
          <p:nvPr/>
        </p:nvSpPr>
        <p:spPr>
          <a:xfrm>
            <a:off x="45720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mensual en Colombia (miles de pesos)</a:t>
            </a:r>
            <a:endParaRPr lang="en-US" sz="1200" dirty="0"/>
          </a:p>
        </p:txBody>
      </p:sp>
      <p:sp>
        <p:nvSpPr>
          <p:cNvPr id="25" name="Bar label 0"/>
          <p:cNvSpPr txBox="1"/>
          <p:nvPr/>
        </p:nvSpPr>
        <p:spPr>
          <a:xfrm>
            <a:off x="4572000" y="1783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3E6"/>
                </a:solidFill>
              </a:rPr>
              <a:t>Siigo Nube Emprendedor</a:t>
            </a:r>
            <a:endParaRPr lang="en-US" sz="950" dirty="0"/>
          </a:p>
        </p:txBody>
      </p:sp>
      <p:sp>
        <p:nvSpPr>
          <p:cNvPr id="26" name="Bar 0"/>
          <p:cNvSpPr/>
          <p:nvPr/>
        </p:nvSpPr>
        <p:spPr>
          <a:xfrm>
            <a:off x="6217920" y="1837944"/>
            <a:ext cx="2103120" cy="219456"/>
          </a:xfrm>
          <a:prstGeom prst="roundRect">
            <a:avLst>
              <a:gd name="adj" fmla="val 25000"/>
            </a:avLst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7" name="Bar value 0"/>
          <p:cNvSpPr txBox="1"/>
          <p:nvPr/>
        </p:nvSpPr>
        <p:spPr>
          <a:xfrm>
            <a:off x="8366760" y="17830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$191,3 mil</a:t>
            </a:r>
            <a:endParaRPr lang="en-US" sz="950" dirty="0"/>
          </a:p>
        </p:txBody>
      </p:sp>
      <p:sp>
        <p:nvSpPr>
          <p:cNvPr id="28" name="Bar label 1"/>
          <p:cNvSpPr txBox="1"/>
          <p:nvPr/>
        </p:nvSpPr>
        <p:spPr>
          <a:xfrm>
            <a:off x="4572000" y="22402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3E6"/>
                </a:solidFill>
              </a:rPr>
              <a:t>Alegra Pyme</a:t>
            </a:r>
            <a:endParaRPr lang="en-US" sz="950" dirty="0"/>
          </a:p>
        </p:txBody>
      </p:sp>
      <p:sp>
        <p:nvSpPr>
          <p:cNvPr id="29" name="Bar 1"/>
          <p:cNvSpPr/>
          <p:nvPr/>
        </p:nvSpPr>
        <p:spPr>
          <a:xfrm>
            <a:off x="6217920" y="2295144"/>
            <a:ext cx="1801889" cy="219456"/>
          </a:xfrm>
          <a:prstGeom prst="roundRect">
            <a:avLst>
              <a:gd name="adj" fmla="val 25000"/>
            </a:avLst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30" name="Bar value 1"/>
          <p:cNvSpPr txBox="1"/>
          <p:nvPr/>
        </p:nvSpPr>
        <p:spPr>
          <a:xfrm>
            <a:off x="8065529" y="22402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$163,9 mil</a:t>
            </a:r>
            <a:endParaRPr lang="en-US" sz="950" dirty="0"/>
          </a:p>
        </p:txBody>
      </p:sp>
      <p:sp>
        <p:nvSpPr>
          <p:cNvPr id="31" name="Bar label 2"/>
          <p:cNvSpPr txBox="1"/>
          <p:nvPr/>
        </p:nvSpPr>
        <p:spPr>
          <a:xfrm>
            <a:off x="4572000" y="26974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3E6"/>
                </a:solidFill>
              </a:rPr>
              <a:t>Fudo (internacional)</a:t>
            </a:r>
            <a:endParaRPr lang="en-US" sz="950" dirty="0"/>
          </a:p>
        </p:txBody>
      </p:sp>
      <p:sp>
        <p:nvSpPr>
          <p:cNvPr id="32" name="Bar 2"/>
          <p:cNvSpPr/>
          <p:nvPr/>
        </p:nvSpPr>
        <p:spPr>
          <a:xfrm>
            <a:off x="6217920" y="2752344"/>
            <a:ext cx="1456683" cy="219456"/>
          </a:xfrm>
          <a:prstGeom prst="roundRect">
            <a:avLst>
              <a:gd name="adj" fmla="val 25000"/>
            </a:avLst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33" name="Bar value 2"/>
          <p:cNvSpPr txBox="1"/>
          <p:nvPr/>
        </p:nvSpPr>
        <p:spPr>
          <a:xfrm>
            <a:off x="7720323" y="26974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$132,5 mil</a:t>
            </a:r>
            <a:endParaRPr lang="en-US" sz="950" dirty="0"/>
          </a:p>
        </p:txBody>
      </p:sp>
      <p:sp>
        <p:nvSpPr>
          <p:cNvPr id="34" name="Bar label 3"/>
          <p:cNvSpPr txBox="1"/>
          <p:nvPr/>
        </p:nvSpPr>
        <p:spPr>
          <a:xfrm>
            <a:off x="457200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3E6"/>
                </a:solidFill>
              </a:rPr>
              <a:t>Siigo POS Gastrobar</a:t>
            </a:r>
            <a:endParaRPr lang="en-US" sz="950" dirty="0"/>
          </a:p>
        </p:txBody>
      </p:sp>
      <p:sp>
        <p:nvSpPr>
          <p:cNvPr id="35" name="Bar 3"/>
          <p:cNvSpPr/>
          <p:nvPr/>
        </p:nvSpPr>
        <p:spPr>
          <a:xfrm>
            <a:off x="6217920" y="3209544"/>
            <a:ext cx="1374229" cy="219456"/>
          </a:xfrm>
          <a:prstGeom prst="roundRect">
            <a:avLst>
              <a:gd name="adj" fmla="val 25000"/>
            </a:avLst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36" name="Bar value 3"/>
          <p:cNvSpPr txBox="1"/>
          <p:nvPr/>
        </p:nvSpPr>
        <p:spPr>
          <a:xfrm>
            <a:off x="7637869" y="3154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$125,0 mil</a:t>
            </a:r>
            <a:endParaRPr lang="en-US" sz="950" dirty="0"/>
          </a:p>
        </p:txBody>
      </p:sp>
      <p:sp>
        <p:nvSpPr>
          <p:cNvPr id="37" name="Bar label 4"/>
          <p:cNvSpPr txBox="1"/>
          <p:nvPr/>
        </p:nvSpPr>
        <p:spPr>
          <a:xfrm>
            <a:off x="4572000" y="3611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Vento (cliente promedio)</a:t>
            </a:r>
            <a:endParaRPr lang="en-US" sz="950" dirty="0"/>
          </a:p>
        </p:txBody>
      </p:sp>
      <p:sp>
        <p:nvSpPr>
          <p:cNvPr id="38" name="Bar 4"/>
          <p:cNvSpPr/>
          <p:nvPr/>
        </p:nvSpPr>
        <p:spPr>
          <a:xfrm>
            <a:off x="6217920" y="3666744"/>
            <a:ext cx="817941" cy="219456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9" name="Bar value 4"/>
          <p:cNvSpPr txBox="1"/>
          <p:nvPr/>
        </p:nvSpPr>
        <p:spPr>
          <a:xfrm>
            <a:off x="7081581" y="36118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$74,4 mil</a:t>
            </a:r>
            <a:endParaRPr lang="en-US" sz="950" dirty="0"/>
          </a:p>
        </p:txBody>
      </p:sp>
      <p:sp>
        <p:nvSpPr>
          <p:cNvPr id="40" name="Bar label 5"/>
          <p:cNvSpPr txBox="1"/>
          <p:nvPr/>
        </p:nvSpPr>
        <p:spPr>
          <a:xfrm>
            <a:off x="4572000" y="4069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D3E6"/>
                </a:solidFill>
              </a:rPr>
              <a:t>Treinta (básico, gratis)</a:t>
            </a:r>
            <a:endParaRPr lang="en-US" sz="950" dirty="0"/>
          </a:p>
        </p:txBody>
      </p:sp>
      <p:sp>
        <p:nvSpPr>
          <p:cNvPr id="41" name="Bar value 5"/>
          <p:cNvSpPr txBox="1"/>
          <p:nvPr/>
        </p:nvSpPr>
        <p:spPr>
          <a:xfrm>
            <a:off x="6263640" y="40690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gratis</a:t>
            </a:r>
            <a:endParaRPr lang="en-US" sz="950" dirty="0"/>
          </a:p>
        </p:txBody>
      </p:sp>
      <p:sp>
        <p:nvSpPr>
          <p:cNvPr id="42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Fuentes: blog de Alegra · Descubre.vc · Capterra (precios públicos, oct. 2026). Fudo: punto medio de US$35–45 a $3.313 por dólar.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CÓMO LLEGAMOS AL CLIENTE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Cómo vendemos y crecemos</a:t>
            </a:r>
            <a:endParaRPr lang="en-US" sz="3000" dirty="0"/>
          </a:p>
        </p:txBody>
      </p:sp>
      <p:sp>
        <p:nvSpPr>
          <p:cNvPr id="5" name="GTM 0 circle"/>
          <p:cNvSpPr/>
          <p:nvPr/>
        </p:nvSpPr>
        <p:spPr>
          <a:xfrm>
            <a:off x="640080" y="138988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GTM 0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1515618"/>
            <a:ext cx="251460" cy="251460"/>
          </a:xfrm>
          <a:prstGeom prst="rect">
            <a:avLst/>
          </a:prstGeom>
        </p:spPr>
      </p:pic>
      <p:sp>
        <p:nvSpPr>
          <p:cNvPr id="7" name="GTM title 0"/>
          <p:cNvSpPr txBox="1"/>
          <p:nvPr/>
        </p:nvSpPr>
        <p:spPr>
          <a:xfrm>
            <a:off x="132588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en campo</a:t>
            </a:r>
            <a:endParaRPr lang="en-US" sz="1350" dirty="0"/>
          </a:p>
        </p:txBody>
      </p:sp>
      <p:sp>
        <p:nvSpPr>
          <p:cNvPr id="8" name="GTM text 0"/>
          <p:cNvSpPr txBox="1"/>
          <p:nvPr/>
        </p:nvSpPr>
        <p:spPr>
          <a:xfrm>
            <a:off x="13258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Puerta a puerta en zonas comerciales: 10 minutos de demostración por voz cierran la venta.</a:t>
            </a:r>
            <a:endParaRPr lang="en-US" sz="1000" dirty="0"/>
          </a:p>
        </p:txBody>
      </p:sp>
      <p:sp>
        <p:nvSpPr>
          <p:cNvPr id="9" name="GTM 1 circle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GTM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320290"/>
            <a:ext cx="251460" cy="251460"/>
          </a:xfrm>
          <a:prstGeom prst="rect">
            <a:avLst/>
          </a:prstGeom>
        </p:spPr>
      </p:pic>
      <p:sp>
        <p:nvSpPr>
          <p:cNvPr id="11" name="GTM title 1"/>
          <p:cNvSpPr txBox="1"/>
          <p:nvPr/>
        </p:nvSpPr>
        <p:spPr>
          <a:xfrm>
            <a:off x="132588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</a:t>
            </a:r>
            <a:endParaRPr lang="en-US" sz="1350" dirty="0"/>
          </a:p>
        </p:txBody>
      </p:sp>
      <p:sp>
        <p:nvSpPr>
          <p:cNvPr id="12" name="GTM text 1"/>
          <p:cNvSpPr txBox="1"/>
          <p:nvPr/>
        </p:nvSpPr>
        <p:spPr>
          <a:xfrm>
            <a:off x="1325880" y="2450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Los dueños se recomiendan: un mes gratis por cada negocio que traigan.</a:t>
            </a:r>
            <a:endParaRPr lang="en-US" sz="1000" dirty="0"/>
          </a:p>
        </p:txBody>
      </p:sp>
      <p:sp>
        <p:nvSpPr>
          <p:cNvPr id="13" name="GTM 2 circle"/>
          <p:cNvSpPr/>
          <p:nvPr/>
        </p:nvSpPr>
        <p:spPr>
          <a:xfrm>
            <a:off x="640080" y="299923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GTM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24962"/>
            <a:ext cx="251460" cy="251460"/>
          </a:xfrm>
          <a:prstGeom prst="rect">
            <a:avLst/>
          </a:prstGeom>
        </p:spPr>
      </p:pic>
      <p:sp>
        <p:nvSpPr>
          <p:cNvPr id="15" name="GTM title 2"/>
          <p:cNvSpPr txBox="1"/>
          <p:nvPr/>
        </p:nvSpPr>
        <p:spPr>
          <a:xfrm>
            <a:off x="1325880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Aliados</a:t>
            </a:r>
            <a:endParaRPr lang="en-US" sz="1350" dirty="0"/>
          </a:p>
        </p:txBody>
      </p:sp>
      <p:sp>
        <p:nvSpPr>
          <p:cNvPr id="16" name="GTM text 2"/>
          <p:cNvSpPr txBox="1"/>
          <p:nvPr/>
        </p:nvSpPr>
        <p:spPr>
          <a:xfrm>
            <a:off x="1325880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Contadores y proveedores que ya visitan miles de negocios.</a:t>
            </a:r>
            <a:endParaRPr lang="en-US" sz="1000" dirty="0"/>
          </a:p>
        </p:txBody>
      </p:sp>
      <p:sp>
        <p:nvSpPr>
          <p:cNvPr id="17" name="GTM 3 circle"/>
          <p:cNvSpPr/>
          <p:nvPr/>
        </p:nvSpPr>
        <p:spPr>
          <a:xfrm>
            <a:off x="640080" y="380390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GTM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929634"/>
            <a:ext cx="251460" cy="251460"/>
          </a:xfrm>
          <a:prstGeom prst="rect">
            <a:avLst/>
          </a:prstGeom>
        </p:spPr>
      </p:pic>
      <p:sp>
        <p:nvSpPr>
          <p:cNvPr id="19" name="GTM title 3"/>
          <p:cNvSpPr txBox="1"/>
          <p:nvPr/>
        </p:nvSpPr>
        <p:spPr>
          <a:xfrm>
            <a:off x="1325880" y="3785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y contenido</a:t>
            </a:r>
            <a:endParaRPr lang="en-US" sz="1350" dirty="0"/>
          </a:p>
        </p:txBody>
      </p:sp>
      <p:sp>
        <p:nvSpPr>
          <p:cNvPr id="20" name="GTM text 3"/>
          <p:cNvSpPr txBox="1"/>
          <p:nvPr/>
        </p:nvSpPr>
        <p:spPr>
          <a:xfrm>
            <a:off x="132588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Videos cortos de negocios reales; descargas desde la tienda.</a:t>
            </a:r>
            <a:endParaRPr lang="en-US" sz="1000" dirty="0"/>
          </a:p>
        </p:txBody>
      </p:sp>
      <p:sp>
        <p:nvSpPr>
          <p:cNvPr id="21" name="Growth 0"/>
          <p:cNvSpPr/>
          <p:nvPr/>
        </p:nvSpPr>
        <p:spPr>
          <a:xfrm>
            <a:off x="4754880" y="1371600"/>
            <a:ext cx="3749040" cy="658368"/>
          </a:xfrm>
          <a:prstGeom prst="roundRect">
            <a:avLst>
              <a:gd name="adj" fmla="val 19444"/>
            </a:avLst>
          </a:prstGeom>
          <a:solidFill>
            <a:srgbClr val="10251D"/>
          </a:solidFill>
          <a:ln w="9525">
            <a:solidFill>
              <a:srgbClr val="1F5A44"/>
            </a:solidFill>
            <a:prstDash val="solid"/>
          </a:ln>
        </p:spPr>
      </p:sp>
      <p:sp>
        <p:nvSpPr>
          <p:cNvPr id="22" name="Growth step 0"/>
          <p:cNvSpPr txBox="1"/>
          <p:nvPr/>
        </p:nvSpPr>
        <p:spPr>
          <a:xfrm>
            <a:off x="4937760" y="1444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</a:rPr>
              <a:t>ENTRAR</a:t>
            </a:r>
            <a:endParaRPr lang="en-US" sz="1050" dirty="0"/>
          </a:p>
        </p:txBody>
      </p:sp>
      <p:sp>
        <p:nvSpPr>
          <p:cNvPr id="23" name="Growth text 0"/>
          <p:cNvSpPr txBox="1"/>
          <p:nvPr/>
        </p:nvSpPr>
        <p:spPr>
          <a:xfrm>
            <a:off x="493776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1F7"/>
                </a:solidFill>
              </a:rPr>
              <a:t>Plan Tienda o Restobar</a:t>
            </a:r>
            <a:endParaRPr lang="en-US" sz="1050" dirty="0"/>
          </a:p>
        </p:txBody>
      </p:sp>
      <p:sp>
        <p:nvSpPr>
          <p:cNvPr id="24" name="Growth 1"/>
          <p:cNvSpPr/>
          <p:nvPr/>
        </p:nvSpPr>
        <p:spPr>
          <a:xfrm>
            <a:off x="4937760" y="2176272"/>
            <a:ext cx="3566160" cy="658368"/>
          </a:xfrm>
          <a:prstGeom prst="roundRect">
            <a:avLst>
              <a:gd name="adj" fmla="val 19444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5" name="Growth step 1"/>
          <p:cNvSpPr txBox="1"/>
          <p:nvPr/>
        </p:nvSpPr>
        <p:spPr>
          <a:xfrm>
            <a:off x="5120640" y="22494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B5FD"/>
                </a:solidFill>
              </a:rPr>
              <a:t>CRECER</a:t>
            </a:r>
            <a:endParaRPr lang="en-US" sz="1050" dirty="0"/>
          </a:p>
        </p:txBody>
      </p:sp>
      <p:sp>
        <p:nvSpPr>
          <p:cNvPr id="26" name="Growth text 1"/>
          <p:cNvSpPr txBox="1"/>
          <p:nvPr/>
        </p:nvSpPr>
        <p:spPr>
          <a:xfrm>
            <a:off x="5120640" y="2505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1F7"/>
                </a:solidFill>
              </a:rPr>
              <a:t>Más equipos, plan Plus, sedes, factura electrónica</a:t>
            </a:r>
            <a:endParaRPr lang="en-US" sz="1050" dirty="0"/>
          </a:p>
        </p:txBody>
      </p:sp>
      <p:sp>
        <p:nvSpPr>
          <p:cNvPr id="27" name="Growth 2"/>
          <p:cNvSpPr/>
          <p:nvPr/>
        </p:nvSpPr>
        <p:spPr>
          <a:xfrm>
            <a:off x="5120640" y="2980944"/>
            <a:ext cx="3383280" cy="658368"/>
          </a:xfrm>
          <a:prstGeom prst="roundRect">
            <a:avLst>
              <a:gd name="adj" fmla="val 19444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28" name="Growth step 2"/>
          <p:cNvSpPr txBox="1"/>
          <p:nvPr/>
        </p:nvSpPr>
        <p:spPr>
          <a:xfrm>
            <a:off x="5303520" y="3054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4B5FD"/>
                </a:solidFill>
              </a:rPr>
              <a:t>NUEVOS SECTORES</a:t>
            </a:r>
            <a:endParaRPr lang="en-US" sz="1050" dirty="0"/>
          </a:p>
        </p:txBody>
      </p:sp>
      <p:sp>
        <p:nvSpPr>
          <p:cNvPr id="29" name="Growth text 2"/>
          <p:cNvSpPr txBox="1"/>
          <p:nvPr/>
        </p:nvSpPr>
        <p:spPr>
          <a:xfrm>
            <a:off x="530352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1F7"/>
                </a:solidFill>
              </a:rPr>
              <a:t>Peluquerías, hoteles, talleres: 75+ plantillas listas</a:t>
            </a:r>
            <a:endParaRPr lang="en-US" sz="1050" dirty="0"/>
          </a:p>
        </p:txBody>
      </p:sp>
      <p:sp>
        <p:nvSpPr>
          <p:cNvPr id="30" name="Growth 3"/>
          <p:cNvSpPr/>
          <p:nvPr/>
        </p:nvSpPr>
        <p:spPr>
          <a:xfrm>
            <a:off x="5303520" y="3785616"/>
            <a:ext cx="3200400" cy="658368"/>
          </a:xfrm>
          <a:prstGeom prst="roundRect">
            <a:avLst>
              <a:gd name="adj" fmla="val 19444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31" name="Growth step 3"/>
          <p:cNvSpPr txBox="1"/>
          <p:nvPr/>
        </p:nvSpPr>
        <p:spPr>
          <a:xfrm>
            <a:off x="5486400" y="3858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NUEVOS PAÍSES</a:t>
            </a:r>
            <a:endParaRPr lang="en-US" sz="1050" dirty="0"/>
          </a:p>
        </p:txBody>
      </p:sp>
      <p:sp>
        <p:nvSpPr>
          <p:cNvPr id="32" name="Growth text 3"/>
          <p:cNvSpPr txBox="1"/>
          <p:nvPr/>
        </p:nvSpPr>
        <p:spPr>
          <a:xfrm>
            <a:off x="548640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1F7"/>
                </a:solidFill>
              </a:rPr>
              <a:t>Mercados con pagos inmediatos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UNIDAD ECONÓMICA · MODELO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Cada cliente se paga en &lt; 4 meses</a:t>
            </a:r>
            <a:endParaRPr lang="en-US" sz="3000" dirty="0"/>
          </a:p>
        </p:txBody>
      </p:sp>
      <p:sp>
        <p:nvSpPr>
          <p:cNvPr id="5" name="UE 0"/>
          <p:cNvSpPr/>
          <p:nvPr/>
        </p:nvSpPr>
        <p:spPr>
          <a:xfrm>
            <a:off x="640080" y="14173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6" name="UE value 0"/>
          <p:cNvSpPr txBox="1"/>
          <p:nvPr/>
        </p:nvSpPr>
        <p:spPr>
          <a:xfrm>
            <a:off x="841248" y="15270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$74.400</a:t>
            </a:r>
            <a:endParaRPr lang="en-US" sz="3200" dirty="0"/>
          </a:p>
        </p:txBody>
      </p:sp>
      <p:sp>
        <p:nvSpPr>
          <p:cNvPr id="7" name="UE label 0"/>
          <p:cNvSpPr txBox="1"/>
          <p:nvPr/>
        </p:nvSpPr>
        <p:spPr>
          <a:xfrm>
            <a:off x="841248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por cliente / mes</a:t>
            </a:r>
            <a:endParaRPr lang="en-US" sz="1250" dirty="0"/>
          </a:p>
        </p:txBody>
      </p:sp>
      <p:sp>
        <p:nvSpPr>
          <p:cNvPr id="8" name="UE note 0"/>
          <p:cNvSpPr txBox="1"/>
          <p:nvPr/>
        </p:nvSpPr>
        <p:spPr>
          <a:xfrm>
            <a:off x="841248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≈ US$22 · mezcla de planes 40 / 45 / 15 %</a:t>
            </a:r>
            <a:endParaRPr lang="en-US" sz="950" dirty="0"/>
          </a:p>
        </p:txBody>
      </p:sp>
      <p:sp>
        <p:nvSpPr>
          <p:cNvPr id="9" name="UE 1"/>
          <p:cNvSpPr/>
          <p:nvPr/>
        </p:nvSpPr>
        <p:spPr>
          <a:xfrm>
            <a:off x="3310128" y="14173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0" name="UE value 1"/>
          <p:cNvSpPr txBox="1"/>
          <p:nvPr/>
        </p:nvSpPr>
        <p:spPr>
          <a:xfrm>
            <a:off x="3511296" y="15270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3200" dirty="0"/>
          </a:p>
        </p:txBody>
      </p:sp>
      <p:sp>
        <p:nvSpPr>
          <p:cNvPr id="11" name="UE label 1"/>
          <p:cNvSpPr txBox="1"/>
          <p:nvPr/>
        </p:nvSpPr>
        <p:spPr>
          <a:xfrm>
            <a:off x="3511296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bruto</a:t>
            </a:r>
            <a:endParaRPr lang="en-US" sz="1250" dirty="0"/>
          </a:p>
        </p:txBody>
      </p:sp>
      <p:sp>
        <p:nvSpPr>
          <p:cNvPr id="12" name="UE note 1"/>
          <p:cNvSpPr txBox="1"/>
          <p:nvPr/>
        </p:nvSpPr>
        <p:spPr>
          <a:xfrm>
            <a:off x="3511296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Nube, IA, soporte y cobro ≈ $8.200</a:t>
            </a:r>
            <a:endParaRPr lang="en-US" sz="950" dirty="0"/>
          </a:p>
        </p:txBody>
      </p:sp>
      <p:sp>
        <p:nvSpPr>
          <p:cNvPr id="13" name="UE 2"/>
          <p:cNvSpPr/>
          <p:nvPr/>
        </p:nvSpPr>
        <p:spPr>
          <a:xfrm>
            <a:off x="5980176" y="14173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4" name="UE value 2"/>
          <p:cNvSpPr txBox="1"/>
          <p:nvPr/>
        </p:nvSpPr>
        <p:spPr>
          <a:xfrm>
            <a:off x="6181344" y="15270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meses</a:t>
            </a:r>
            <a:endParaRPr lang="en-US" sz="3200" dirty="0"/>
          </a:p>
        </p:txBody>
      </p:sp>
      <p:sp>
        <p:nvSpPr>
          <p:cNvPr id="15" name="UE label 2"/>
          <p:cNvSpPr txBox="1"/>
          <p:nvPr/>
        </p:nvSpPr>
        <p:spPr>
          <a:xfrm>
            <a:off x="6181344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del cliente</a:t>
            </a:r>
            <a:endParaRPr lang="en-US" sz="1250" dirty="0"/>
          </a:p>
        </p:txBody>
      </p:sp>
      <p:sp>
        <p:nvSpPr>
          <p:cNvPr id="16" name="UE note 2"/>
          <p:cNvSpPr txBox="1"/>
          <p:nvPr/>
        </p:nvSpPr>
        <p:spPr>
          <a:xfrm>
            <a:off x="6181344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Supone 4 % de abandono mensual</a:t>
            </a:r>
            <a:endParaRPr lang="en-US" sz="950" dirty="0"/>
          </a:p>
        </p:txBody>
      </p:sp>
      <p:sp>
        <p:nvSpPr>
          <p:cNvPr id="17" name="UE 3"/>
          <p:cNvSpPr/>
          <p:nvPr/>
        </p:nvSpPr>
        <p:spPr>
          <a:xfrm>
            <a:off x="640080" y="30175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8" name="UE value 3"/>
          <p:cNvSpPr txBox="1"/>
          <p:nvPr/>
        </p:nvSpPr>
        <p:spPr>
          <a:xfrm>
            <a:off x="841248" y="31272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$1,65 M</a:t>
            </a:r>
            <a:endParaRPr lang="en-US" sz="3200" dirty="0"/>
          </a:p>
        </p:txBody>
      </p:sp>
      <p:sp>
        <p:nvSpPr>
          <p:cNvPr id="19" name="UE label 3"/>
          <p:cNvSpPr txBox="1"/>
          <p:nvPr/>
        </p:nvSpPr>
        <p:spPr>
          <a:xfrm>
            <a:off x="841248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vida (LTV)</a:t>
            </a:r>
            <a:endParaRPr lang="en-US" sz="1250" dirty="0"/>
          </a:p>
        </p:txBody>
      </p:sp>
      <p:sp>
        <p:nvSpPr>
          <p:cNvPr id="20" name="UE note 3"/>
          <p:cNvSpPr txBox="1"/>
          <p:nvPr/>
        </p:nvSpPr>
        <p:spPr>
          <a:xfrm>
            <a:off x="841248" y="4005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≈ US$500 · margen × vida</a:t>
            </a:r>
            <a:endParaRPr lang="en-US" sz="950" dirty="0"/>
          </a:p>
        </p:txBody>
      </p:sp>
      <p:sp>
        <p:nvSpPr>
          <p:cNvPr id="21" name="UE 4"/>
          <p:cNvSpPr/>
          <p:nvPr/>
        </p:nvSpPr>
        <p:spPr>
          <a:xfrm>
            <a:off x="3310128" y="30175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22" name="UE value 4"/>
          <p:cNvSpPr txBox="1"/>
          <p:nvPr/>
        </p:nvSpPr>
        <p:spPr>
          <a:xfrm>
            <a:off x="3511296" y="31272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$250.000</a:t>
            </a:r>
            <a:endParaRPr lang="en-US" sz="3200" dirty="0"/>
          </a:p>
        </p:txBody>
      </p:sp>
      <p:sp>
        <p:nvSpPr>
          <p:cNvPr id="23" name="UE label 4"/>
          <p:cNvSpPr txBox="1"/>
          <p:nvPr/>
        </p:nvSpPr>
        <p:spPr>
          <a:xfrm>
            <a:off x="3511296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adquisición</a:t>
            </a:r>
            <a:endParaRPr lang="en-US" sz="1250" dirty="0"/>
          </a:p>
        </p:txBody>
      </p:sp>
      <p:sp>
        <p:nvSpPr>
          <p:cNvPr id="24" name="UE note 4"/>
          <p:cNvSpPr txBox="1"/>
          <p:nvPr/>
        </p:nvSpPr>
        <p:spPr>
          <a:xfrm>
            <a:off x="3511296" y="4005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≈ US$75 · venta en campo por negocio</a:t>
            </a:r>
            <a:endParaRPr lang="en-US" sz="950" dirty="0"/>
          </a:p>
        </p:txBody>
      </p:sp>
      <p:sp>
        <p:nvSpPr>
          <p:cNvPr id="25" name="UE 5"/>
          <p:cNvSpPr/>
          <p:nvPr/>
        </p:nvSpPr>
        <p:spPr>
          <a:xfrm>
            <a:off x="5980176" y="3017520"/>
            <a:ext cx="2514600" cy="1417320"/>
          </a:xfrm>
          <a:prstGeom prst="roundRect">
            <a:avLst>
              <a:gd name="adj" fmla="val 9032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26" name="UE value 5"/>
          <p:cNvSpPr txBox="1"/>
          <p:nvPr/>
        </p:nvSpPr>
        <p:spPr>
          <a:xfrm>
            <a:off x="6181344" y="312724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6,6x</a:t>
            </a:r>
            <a:endParaRPr lang="en-US" sz="3200" dirty="0"/>
          </a:p>
        </p:txBody>
      </p:sp>
      <p:sp>
        <p:nvSpPr>
          <p:cNvPr id="27" name="UE label 5"/>
          <p:cNvSpPr txBox="1"/>
          <p:nvPr/>
        </p:nvSpPr>
        <p:spPr>
          <a:xfrm>
            <a:off x="6181344" y="3749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/ CAC</a:t>
            </a:r>
            <a:endParaRPr lang="en-US" sz="1250" dirty="0"/>
          </a:p>
        </p:txBody>
      </p:sp>
      <p:sp>
        <p:nvSpPr>
          <p:cNvPr id="28" name="UE note 5"/>
          <p:cNvSpPr txBox="1"/>
          <p:nvPr/>
        </p:nvSpPr>
        <p:spPr>
          <a:xfrm>
            <a:off x="6181344" y="4005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Se recupera en 3,8 meses</a:t>
            </a:r>
            <a:endParaRPr lang="en-US" sz="950" dirty="0"/>
          </a:p>
        </p:txBody>
      </p:sp>
      <p:sp>
        <p:nvSpPr>
          <p:cNvPr id="29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Fuente: Modelo financiero de Vento (supuestos por validar en pilotos pagos). TRM: $3.313 por dólar.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PROYECCIONES · MODELO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US$1,2 M al año en el mes 36 (base)</a:t>
            </a:r>
            <a:endParaRPr lang="en-US" sz="3000" dirty="0"/>
          </a:p>
        </p:txBody>
      </p:sp>
      <p:sp>
        <p:nvSpPr>
          <p:cNvPr id="5" name="Chart axis"/>
          <p:cNvSpPr/>
          <p:nvPr/>
        </p:nvSpPr>
        <p:spPr>
          <a:xfrm>
            <a:off x="640080" y="4343400"/>
            <a:ext cx="5120640" cy="0"/>
          </a:xfrm>
          <a:prstGeom prst="line">
            <a:avLst/>
          </a:prstGeom>
          <a:noFill/>
          <a:ln w="12700">
            <a:solidFill>
              <a:srgbClr val="3B2F66"/>
            </a:solidFill>
            <a:prstDash val="solid"/>
          </a:ln>
        </p:spPr>
      </p:sp>
      <p:sp>
        <p:nvSpPr>
          <p:cNvPr id="6" name="Bar 00"/>
          <p:cNvSpPr/>
          <p:nvPr/>
        </p:nvSpPr>
        <p:spPr>
          <a:xfrm>
            <a:off x="868680" y="4315968"/>
            <a:ext cx="365760" cy="27432"/>
          </a:xfrm>
          <a:prstGeom prst="rect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7" name="Bar value 00"/>
          <p:cNvSpPr txBox="1"/>
          <p:nvPr/>
        </p:nvSpPr>
        <p:spPr>
          <a:xfrm>
            <a:off x="685800" y="40782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$41 mil</a:t>
            </a:r>
            <a:endParaRPr lang="en-US" sz="850" dirty="0"/>
          </a:p>
        </p:txBody>
      </p:sp>
      <p:sp>
        <p:nvSpPr>
          <p:cNvPr id="8" name="Bar 01"/>
          <p:cNvSpPr/>
          <p:nvPr/>
        </p:nvSpPr>
        <p:spPr>
          <a:xfrm>
            <a:off x="1307592" y="4284613"/>
            <a:ext cx="365760" cy="58787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9" name="Bar value 01"/>
          <p:cNvSpPr txBox="1"/>
          <p:nvPr/>
        </p:nvSpPr>
        <p:spPr>
          <a:xfrm>
            <a:off x="1124712" y="404686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$97 mil</a:t>
            </a:r>
            <a:endParaRPr lang="en-US" sz="850" dirty="0"/>
          </a:p>
        </p:txBody>
      </p:sp>
      <p:sp>
        <p:nvSpPr>
          <p:cNvPr id="10" name="Bar 02"/>
          <p:cNvSpPr/>
          <p:nvPr/>
        </p:nvSpPr>
        <p:spPr>
          <a:xfrm>
            <a:off x="1746504" y="4204007"/>
            <a:ext cx="365760" cy="139393"/>
          </a:xfrm>
          <a:prstGeom prst="rect">
            <a:avLst/>
          </a:prstGeom>
          <a:solidFill>
            <a:srgbClr val="C4B5F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1" name="Bar value 02"/>
          <p:cNvSpPr txBox="1"/>
          <p:nvPr/>
        </p:nvSpPr>
        <p:spPr>
          <a:xfrm>
            <a:off x="1563624" y="3966263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$230 mil</a:t>
            </a:r>
            <a:endParaRPr lang="en-US" sz="850" dirty="0"/>
          </a:p>
        </p:txBody>
      </p:sp>
      <p:sp>
        <p:nvSpPr>
          <p:cNvPr id="12" name="Year label 0"/>
          <p:cNvSpPr txBox="1"/>
          <p:nvPr/>
        </p:nvSpPr>
        <p:spPr>
          <a:xfrm>
            <a:off x="868680" y="44165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Mes 12</a:t>
            </a:r>
            <a:endParaRPr lang="en-US" sz="1000" dirty="0"/>
          </a:p>
        </p:txBody>
      </p:sp>
      <p:sp>
        <p:nvSpPr>
          <p:cNvPr id="13" name="Bar 10"/>
          <p:cNvSpPr/>
          <p:nvPr/>
        </p:nvSpPr>
        <p:spPr>
          <a:xfrm>
            <a:off x="2560320" y="4267643"/>
            <a:ext cx="365760" cy="75757"/>
          </a:xfrm>
          <a:prstGeom prst="rect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14" name="Bar value 10"/>
          <p:cNvSpPr txBox="1"/>
          <p:nvPr/>
        </p:nvSpPr>
        <p:spPr>
          <a:xfrm>
            <a:off x="2377440" y="402989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$125 mil</a:t>
            </a:r>
            <a:endParaRPr lang="en-US" sz="850" dirty="0"/>
          </a:p>
        </p:txBody>
      </p:sp>
      <p:sp>
        <p:nvSpPr>
          <p:cNvPr id="15" name="Bar 11"/>
          <p:cNvSpPr/>
          <p:nvPr/>
        </p:nvSpPr>
        <p:spPr>
          <a:xfrm>
            <a:off x="2999232" y="4122190"/>
            <a:ext cx="365760" cy="221210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6" name="Bar value 11"/>
          <p:cNvSpPr txBox="1"/>
          <p:nvPr/>
        </p:nvSpPr>
        <p:spPr>
          <a:xfrm>
            <a:off x="2816352" y="388444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$365 mil</a:t>
            </a:r>
            <a:endParaRPr lang="en-US" sz="850" dirty="0"/>
          </a:p>
        </p:txBody>
      </p:sp>
      <p:sp>
        <p:nvSpPr>
          <p:cNvPr id="17" name="Bar 12"/>
          <p:cNvSpPr/>
          <p:nvPr/>
        </p:nvSpPr>
        <p:spPr>
          <a:xfrm>
            <a:off x="3438144" y="3703405"/>
            <a:ext cx="365760" cy="639995"/>
          </a:xfrm>
          <a:prstGeom prst="rect">
            <a:avLst/>
          </a:prstGeom>
          <a:solidFill>
            <a:srgbClr val="C4B5F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8" name="Bar value 12"/>
          <p:cNvSpPr txBox="1"/>
          <p:nvPr/>
        </p:nvSpPr>
        <p:spPr>
          <a:xfrm>
            <a:off x="3255264" y="3465661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$1,1 M</a:t>
            </a:r>
            <a:endParaRPr lang="en-US" sz="850" dirty="0"/>
          </a:p>
        </p:txBody>
      </p:sp>
      <p:sp>
        <p:nvSpPr>
          <p:cNvPr id="19" name="Year label 1"/>
          <p:cNvSpPr txBox="1"/>
          <p:nvPr/>
        </p:nvSpPr>
        <p:spPr>
          <a:xfrm>
            <a:off x="2560320" y="44165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Mes 24</a:t>
            </a:r>
            <a:endParaRPr lang="en-US" sz="1000" dirty="0"/>
          </a:p>
        </p:txBody>
      </p:sp>
      <p:sp>
        <p:nvSpPr>
          <p:cNvPr id="20" name="Bar 20"/>
          <p:cNvSpPr/>
          <p:nvPr/>
        </p:nvSpPr>
        <p:spPr>
          <a:xfrm>
            <a:off x="4251960" y="4144614"/>
            <a:ext cx="365760" cy="198786"/>
          </a:xfrm>
          <a:prstGeom prst="rect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1" name="Bar value 20"/>
          <p:cNvSpPr txBox="1"/>
          <p:nvPr/>
        </p:nvSpPr>
        <p:spPr>
          <a:xfrm>
            <a:off x="4069080" y="390687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$328 mil</a:t>
            </a:r>
            <a:endParaRPr lang="en-US" sz="850" dirty="0"/>
          </a:p>
        </p:txBody>
      </p:sp>
      <p:sp>
        <p:nvSpPr>
          <p:cNvPr id="22" name="Bar 21"/>
          <p:cNvSpPr/>
          <p:nvPr/>
        </p:nvSpPr>
        <p:spPr>
          <a:xfrm>
            <a:off x="4690872" y="3627648"/>
            <a:ext cx="365760" cy="715752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3" name="Bar value 21"/>
          <p:cNvSpPr txBox="1"/>
          <p:nvPr/>
        </p:nvSpPr>
        <p:spPr>
          <a:xfrm>
            <a:off x="4507992" y="33899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$1,2 M</a:t>
            </a:r>
            <a:endParaRPr lang="en-US" sz="850" dirty="0"/>
          </a:p>
        </p:txBody>
      </p:sp>
      <p:sp>
        <p:nvSpPr>
          <p:cNvPr id="24" name="Bar 22"/>
          <p:cNvSpPr/>
          <p:nvPr/>
        </p:nvSpPr>
        <p:spPr>
          <a:xfrm>
            <a:off x="5129784" y="1782208"/>
            <a:ext cx="365760" cy="2561192"/>
          </a:xfrm>
          <a:prstGeom prst="rect">
            <a:avLst/>
          </a:prstGeom>
          <a:solidFill>
            <a:srgbClr val="C4B5F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5" name="Bar value 22"/>
          <p:cNvSpPr txBox="1"/>
          <p:nvPr/>
        </p:nvSpPr>
        <p:spPr>
          <a:xfrm>
            <a:off x="4946904" y="1544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D3E6"/>
                </a:solidFill>
              </a:rPr>
              <a:t>$4,2 M</a:t>
            </a:r>
            <a:endParaRPr lang="en-US" sz="850" dirty="0"/>
          </a:p>
        </p:txBody>
      </p:sp>
      <p:sp>
        <p:nvSpPr>
          <p:cNvPr id="26" name="Year label 2"/>
          <p:cNvSpPr txBox="1"/>
          <p:nvPr/>
        </p:nvSpPr>
        <p:spPr>
          <a:xfrm>
            <a:off x="4251960" y="44165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Mes 36</a:t>
            </a:r>
            <a:endParaRPr lang="en-US" sz="1000" dirty="0"/>
          </a:p>
        </p:txBody>
      </p:sp>
      <p:sp>
        <p:nvSpPr>
          <p:cNvPr id="27" name="Chart title"/>
          <p:cNvSpPr txBox="1"/>
          <p:nvPr/>
        </p:nvSpPr>
        <p:spPr>
          <a:xfrm>
            <a:off x="64008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BD"/>
                </a:solidFill>
              </a:rPr>
              <a:t>Ingreso anual (US$)</a:t>
            </a:r>
            <a:endParaRPr lang="en-US" sz="1000" dirty="0"/>
          </a:p>
        </p:txBody>
      </p:sp>
      <p:sp>
        <p:nvSpPr>
          <p:cNvPr id="28" name="Legend 0"/>
          <p:cNvSpPr/>
          <p:nvPr/>
        </p:nvSpPr>
        <p:spPr>
          <a:xfrm>
            <a:off x="2103120" y="1426464"/>
            <a:ext cx="128016" cy="128016"/>
          </a:xfrm>
          <a:prstGeom prst="rect">
            <a:avLst/>
          </a:prstGeom>
          <a:solidFill>
            <a:srgbClr val="4C3A8F"/>
          </a:solidFill>
          <a:ln w="6350">
            <a:solidFill>
              <a:srgbClr val="4C3A8F"/>
            </a:solidFill>
            <a:prstDash val="solid"/>
          </a:ln>
        </p:spPr>
      </p:sp>
      <p:sp>
        <p:nvSpPr>
          <p:cNvPr id="29" name="Legend text 0"/>
          <p:cNvSpPr txBox="1"/>
          <p:nvPr/>
        </p:nvSpPr>
        <p:spPr>
          <a:xfrm>
            <a:off x="228600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Conservador</a:t>
            </a:r>
            <a:endParaRPr lang="en-US" sz="900" dirty="0"/>
          </a:p>
        </p:txBody>
      </p:sp>
      <p:sp>
        <p:nvSpPr>
          <p:cNvPr id="30" name="Legend 1"/>
          <p:cNvSpPr/>
          <p:nvPr/>
        </p:nvSpPr>
        <p:spPr>
          <a:xfrm>
            <a:off x="3291840" y="1426464"/>
            <a:ext cx="128016" cy="128016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1" name="Legend text 1"/>
          <p:cNvSpPr txBox="1"/>
          <p:nvPr/>
        </p:nvSpPr>
        <p:spPr>
          <a:xfrm>
            <a:off x="347472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Base</a:t>
            </a:r>
            <a:endParaRPr lang="en-US" sz="900" dirty="0"/>
          </a:p>
        </p:txBody>
      </p:sp>
      <p:sp>
        <p:nvSpPr>
          <p:cNvPr id="32" name="Legend 2"/>
          <p:cNvSpPr/>
          <p:nvPr/>
        </p:nvSpPr>
        <p:spPr>
          <a:xfrm>
            <a:off x="4480560" y="1426464"/>
            <a:ext cx="128016" cy="128016"/>
          </a:xfrm>
          <a:prstGeom prst="rect">
            <a:avLst/>
          </a:prstGeom>
          <a:solidFill>
            <a:srgbClr val="C4B5F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33" name="Legend text 2"/>
          <p:cNvSpPr txBox="1"/>
          <p:nvPr/>
        </p:nvSpPr>
        <p:spPr>
          <a:xfrm>
            <a:off x="466344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Optimista</a:t>
            </a:r>
            <a:endParaRPr lang="en-US" sz="900" dirty="0"/>
          </a:p>
        </p:txBody>
      </p:sp>
      <p:sp>
        <p:nvSpPr>
          <p:cNvPr id="34" name="Projection facts"/>
          <p:cNvSpPr/>
          <p:nvPr/>
        </p:nvSpPr>
        <p:spPr>
          <a:xfrm>
            <a:off x="6035040" y="1371600"/>
            <a:ext cx="2468880" cy="3154680"/>
          </a:xfrm>
          <a:prstGeom prst="roundRect">
            <a:avLst>
              <a:gd name="adj" fmla="val 5185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35" name="Fact value 0"/>
          <p:cNvSpPr txBox="1"/>
          <p:nvPr/>
        </p:nvSpPr>
        <p:spPr>
          <a:xfrm>
            <a:off x="6263640" y="1481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4.383</a:t>
            </a:r>
            <a:endParaRPr lang="en-US" sz="2100" dirty="0"/>
          </a:p>
        </p:txBody>
      </p:sp>
      <p:sp>
        <p:nvSpPr>
          <p:cNvPr id="36" name="Fact label 0"/>
          <p:cNvSpPr txBox="1"/>
          <p:nvPr/>
        </p:nvSpPr>
        <p:spPr>
          <a:xfrm>
            <a:off x="626364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negocios pagando al mes 36 (base)</a:t>
            </a:r>
            <a:endParaRPr lang="en-US" sz="950" dirty="0"/>
          </a:p>
        </p:txBody>
      </p:sp>
      <p:sp>
        <p:nvSpPr>
          <p:cNvPr id="37" name="Fact value 1"/>
          <p:cNvSpPr txBox="1"/>
          <p:nvPr/>
        </p:nvSpPr>
        <p:spPr>
          <a:xfrm>
            <a:off x="6263640" y="2240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0,19 %</a:t>
            </a:r>
            <a:endParaRPr lang="en-US" sz="2100" dirty="0"/>
          </a:p>
        </p:txBody>
      </p:sp>
      <p:sp>
        <p:nvSpPr>
          <p:cNvPr id="38" name="Fact label 1"/>
          <p:cNvSpPr txBox="1"/>
          <p:nvPr/>
        </p:nvSpPr>
        <p:spPr>
          <a:xfrm>
            <a:off x="6263640" y="2615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de los 2,3 M de micronegocios</a:t>
            </a:r>
            <a:endParaRPr lang="en-US" sz="950" dirty="0"/>
          </a:p>
        </p:txBody>
      </p:sp>
      <p:sp>
        <p:nvSpPr>
          <p:cNvPr id="39" name="Fact value 2"/>
          <p:cNvSpPr txBox="1"/>
          <p:nvPr/>
        </p:nvSpPr>
        <p:spPr>
          <a:xfrm>
            <a:off x="6263640" y="29992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27</a:t>
            </a:r>
            <a:endParaRPr lang="en-US" sz="2100" dirty="0"/>
          </a:p>
        </p:txBody>
      </p:sp>
      <p:sp>
        <p:nvSpPr>
          <p:cNvPr id="40" name="Fact label 2"/>
          <p:cNvSpPr txBox="1"/>
          <p:nvPr/>
        </p:nvSpPr>
        <p:spPr>
          <a:xfrm>
            <a:off x="6263640" y="3374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punto de equilibrio (base)</a:t>
            </a:r>
            <a:endParaRPr lang="en-US" sz="950" dirty="0"/>
          </a:p>
        </p:txBody>
      </p:sp>
      <p:sp>
        <p:nvSpPr>
          <p:cNvPr id="41" name="Fact value 3"/>
          <p:cNvSpPr txBox="1"/>
          <p:nvPr/>
        </p:nvSpPr>
        <p:spPr>
          <a:xfrm>
            <a:off x="6263640" y="37581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US$315 mil</a:t>
            </a:r>
            <a:endParaRPr lang="en-US" sz="2100" dirty="0"/>
          </a:p>
        </p:txBody>
      </p:sp>
      <p:sp>
        <p:nvSpPr>
          <p:cNvPr id="42" name="Fact label 3"/>
          <p:cNvSpPr txBox="1"/>
          <p:nvPr/>
        </p:nvSpPr>
        <p:spPr>
          <a:xfrm>
            <a:off x="626364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BD"/>
                </a:solidFill>
              </a:rPr>
              <a:t>plata necesaria para llegar ahí (base)</a:t>
            </a:r>
            <a:endParaRPr lang="en-US" sz="950" dirty="0"/>
          </a:p>
        </p:txBody>
      </p:sp>
      <p:sp>
        <p:nvSpPr>
          <p:cNvPr id="43" name="Source"/>
          <p:cNvSpPr txBox="1"/>
          <p:nvPr/>
        </p:nvSpPr>
        <p:spPr>
          <a:xfrm>
            <a:off x="640080" y="477316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85"/>
                </a:solidFill>
              </a:rPr>
              <a:t>Fuente: Modelo financiero de Vento: estimaciones, no resultados. Abandono 5/4/3 % y crecimiento de clientes nuevos 8/10/12 % mensual; costos del plan de contratación.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HOJA DE RUTA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 app a la voz de cada mostrador</a:t>
            </a:r>
            <a:endParaRPr lang="en-US" sz="3000" dirty="0"/>
          </a:p>
        </p:txBody>
      </p:sp>
      <p:sp>
        <p:nvSpPr>
          <p:cNvPr id="5" name="Timeline"/>
          <p:cNvSpPr/>
          <p:nvPr/>
        </p:nvSpPr>
        <p:spPr>
          <a:xfrm>
            <a:off x="822960" y="1627632"/>
            <a:ext cx="7498080" cy="0"/>
          </a:xfrm>
          <a:prstGeom prst="line">
            <a:avLst/>
          </a:prstGeom>
          <a:noFill/>
          <a:ln w="25400">
            <a:solidFill>
              <a:srgbClr val="5B47A8"/>
            </a:solidFill>
            <a:prstDash val="solid"/>
          </a:ln>
        </p:spPr>
      </p:sp>
      <p:sp>
        <p:nvSpPr>
          <p:cNvPr id="6" name="Milestone HOY"/>
          <p:cNvSpPr/>
          <p:nvPr/>
        </p:nvSpPr>
        <p:spPr>
          <a:xfrm>
            <a:off x="749808" y="1481328"/>
            <a:ext cx="292608" cy="29260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B0A12"/>
            </a:solidFill>
            <a:prstDash val="solid"/>
          </a:ln>
        </p:spPr>
      </p:sp>
      <p:sp>
        <p:nvSpPr>
          <p:cNvPr id="7" name="Phase HOY"/>
          <p:cNvSpPr txBox="1"/>
          <p:nvPr/>
        </p:nvSpPr>
        <p:spPr>
          <a:xfrm>
            <a:off x="1170432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400" dirty="0"/>
          </a:p>
        </p:txBody>
      </p:sp>
      <p:sp>
        <p:nvSpPr>
          <p:cNvPr id="8" name="Phase card HOY"/>
          <p:cNvSpPr/>
          <p:nvPr/>
        </p:nvSpPr>
        <p:spPr>
          <a:xfrm>
            <a:off x="640080" y="2011680"/>
            <a:ext cx="2514600" cy="2514600"/>
          </a:xfrm>
          <a:prstGeom prst="roundRect">
            <a:avLst>
              <a:gd name="adj" fmla="val 5091"/>
            </a:avLst>
          </a:prstGeom>
          <a:solidFill>
            <a:srgbClr val="10251D"/>
          </a:solidFill>
          <a:ln w="9525">
            <a:solidFill>
              <a:srgbClr val="1F5A44"/>
            </a:solidFill>
            <a:prstDash val="solid"/>
          </a:ln>
        </p:spPr>
      </p:sp>
      <p:sp>
        <p:nvSpPr>
          <p:cNvPr id="9" name="Phase items HOY"/>
          <p:cNvSpPr txBox="1"/>
          <p:nvPr/>
        </p:nvSpPr>
        <p:spPr>
          <a:xfrm>
            <a:off x="822960" y="21945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Voz y «Hola Vento»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Pagos verificados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Vento IA · QR · música en el TV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Android + web + Vento Admin</a:t>
            </a:r>
            <a:endParaRPr lang="en-US" sz="1200" dirty="0"/>
          </a:p>
        </p:txBody>
      </p:sp>
      <p:sp>
        <p:nvSpPr>
          <p:cNvPr id="10" name="Milestone PRÓXIMO"/>
          <p:cNvSpPr/>
          <p:nvPr/>
        </p:nvSpPr>
        <p:spPr>
          <a:xfrm>
            <a:off x="3447288" y="1481328"/>
            <a:ext cx="292608" cy="292608"/>
          </a:xfrm>
          <a:prstGeom prst="ellipse">
            <a:avLst/>
          </a:prstGeom>
          <a:solidFill>
            <a:srgbClr val="C4B5FD"/>
          </a:solidFill>
          <a:ln w="25400">
            <a:solidFill>
              <a:srgbClr val="0B0A12"/>
            </a:solidFill>
            <a:prstDash val="solid"/>
          </a:ln>
        </p:spPr>
      </p:sp>
      <p:sp>
        <p:nvSpPr>
          <p:cNvPr id="11" name="Phase PRÓXIMO"/>
          <p:cNvSpPr txBox="1"/>
          <p:nvPr/>
        </p:nvSpPr>
        <p:spPr>
          <a:xfrm>
            <a:off x="3867912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1400" dirty="0"/>
          </a:p>
        </p:txBody>
      </p:sp>
      <p:sp>
        <p:nvSpPr>
          <p:cNvPr id="12" name="Phase card PRÓXIMO"/>
          <p:cNvSpPr/>
          <p:nvPr/>
        </p:nvSpPr>
        <p:spPr>
          <a:xfrm>
            <a:off x="3337560" y="2011680"/>
            <a:ext cx="2514600" cy="2514600"/>
          </a:xfrm>
          <a:prstGeom prst="roundRect">
            <a:avLst>
              <a:gd name="adj" fmla="val 5091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3" name="Phase items PRÓXIMO"/>
          <p:cNvSpPr txBox="1"/>
          <p:nvPr/>
        </p:nvSpPr>
        <p:spPr>
          <a:xfrm>
            <a:off x="3520440" y="21945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Factura electrónica (DIAN)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Pagar desde la mesa con el QR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Modo fácil para dueños mayores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Clientes fieles y reservas</a:t>
            </a:r>
            <a:endParaRPr lang="en-US" sz="1200" dirty="0"/>
          </a:p>
        </p:txBody>
      </p:sp>
      <p:sp>
        <p:nvSpPr>
          <p:cNvPr id="14" name="Milestone VISIÓN"/>
          <p:cNvSpPr/>
          <p:nvPr/>
        </p:nvSpPr>
        <p:spPr>
          <a:xfrm>
            <a:off x="6144768" y="1481328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0A12"/>
            </a:solidFill>
            <a:prstDash val="solid"/>
          </a:ln>
        </p:spPr>
      </p:sp>
      <p:sp>
        <p:nvSpPr>
          <p:cNvPr id="15" name="Phase VISIÓN"/>
          <p:cNvSpPr txBox="1"/>
          <p:nvPr/>
        </p:nvSpPr>
        <p:spPr>
          <a:xfrm>
            <a:off x="6565392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1400" dirty="0"/>
          </a:p>
        </p:txBody>
      </p:sp>
      <p:sp>
        <p:nvSpPr>
          <p:cNvPr id="16" name="Phase card VISIÓN"/>
          <p:cNvSpPr/>
          <p:nvPr/>
        </p:nvSpPr>
        <p:spPr>
          <a:xfrm>
            <a:off x="6035040" y="2011680"/>
            <a:ext cx="2514600" cy="2514600"/>
          </a:xfrm>
          <a:prstGeom prst="roundRect">
            <a:avLst>
              <a:gd name="adj" fmla="val 5091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7" name="Phase items VISIÓN"/>
          <p:cNvSpPr txBox="1"/>
          <p:nvPr/>
        </p:nvSpPr>
        <p:spPr>
          <a:xfrm>
            <a:off x="6217920" y="21945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Vento con pantalla: un equipo de voz para el mostrador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Todos los sectores: peluquerías, hoteles, talleres, eventos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2F1F7"/>
                </a:solidFill>
              </a:rPr>
              <a:t>Expansión a Latinoamérica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B5FD"/>
                </a:solidFill>
              </a:rPr>
              <a:t>VISIÓN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Vento con pantalla</a:t>
            </a:r>
            <a:endParaRPr lang="en-US" sz="3000" dirty="0"/>
          </a:p>
        </p:txBody>
      </p:sp>
      <p:sp>
        <p:nvSpPr>
          <p:cNvPr id="5" name="Device screen frame"/>
          <p:cNvSpPr/>
          <p:nvPr/>
        </p:nvSpPr>
        <p:spPr>
          <a:xfrm>
            <a:off x="777240" y="1417320"/>
            <a:ext cx="3840480" cy="2423160"/>
          </a:xfrm>
          <a:prstGeom prst="roundRect">
            <a:avLst>
              <a:gd name="adj" fmla="val 6792"/>
            </a:avLst>
          </a:prstGeom>
          <a:solidFill>
            <a:srgbClr val="05050A"/>
          </a:solidFill>
          <a:ln w="19050">
            <a:solidFill>
              <a:srgbClr val="5B47A8"/>
            </a:solidFill>
            <a:prstDash val="solid"/>
          </a:ln>
          <a:effectLst>
            <a:outerShdw sx="100000" sy="100000" kx="0" ky="0" algn="bl" rotWithShape="0" blurRad="330200" dist="38100" dir="5400000">
              <a:srgbClr val="7C3AED">
                <a:alpha val="50000"/>
              </a:srgbClr>
            </a:outerShdw>
          </a:effectLst>
        </p:spPr>
      </p:sp>
      <p:pic>
        <p:nvPicPr>
          <p:cNvPr id="6" name="Device scree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3566160" cy="2148840"/>
          </a:xfrm>
          <a:prstGeom prst="rect">
            <a:avLst/>
          </a:prstGeom>
        </p:spPr>
      </p:pic>
      <p:sp>
        <p:nvSpPr>
          <p:cNvPr id="7" name="Device speaker"/>
          <p:cNvSpPr/>
          <p:nvPr/>
        </p:nvSpPr>
        <p:spPr>
          <a:xfrm>
            <a:off x="594360" y="3749040"/>
            <a:ext cx="4206240" cy="777240"/>
          </a:xfrm>
          <a:prstGeom prst="roundRect">
            <a:avLst>
              <a:gd name="adj" fmla="val 35294"/>
            </a:avLst>
          </a:prstGeom>
          <a:solidFill>
            <a:srgbClr val="17152A"/>
          </a:solidFill>
          <a:ln w="12700">
            <a:solidFill>
              <a:srgbClr val="5B47A8"/>
            </a:solidFill>
            <a:prstDash val="solid"/>
          </a:ln>
        </p:spPr>
      </p:sp>
      <p:sp>
        <p:nvSpPr>
          <p:cNvPr id="8" name="Grille 1"/>
          <p:cNvSpPr/>
          <p:nvPr/>
        </p:nvSpPr>
        <p:spPr>
          <a:xfrm>
            <a:off x="960120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9" name="Grille 2"/>
          <p:cNvSpPr/>
          <p:nvPr/>
        </p:nvSpPr>
        <p:spPr>
          <a:xfrm>
            <a:off x="1216152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0" name="Grille 3"/>
          <p:cNvSpPr/>
          <p:nvPr/>
        </p:nvSpPr>
        <p:spPr>
          <a:xfrm>
            <a:off x="1472184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1" name="Grille 4"/>
          <p:cNvSpPr/>
          <p:nvPr/>
        </p:nvSpPr>
        <p:spPr>
          <a:xfrm>
            <a:off x="1728216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2" name="Grille 5"/>
          <p:cNvSpPr/>
          <p:nvPr/>
        </p:nvSpPr>
        <p:spPr>
          <a:xfrm>
            <a:off x="1984248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3" name="Grille 6"/>
          <p:cNvSpPr/>
          <p:nvPr/>
        </p:nvSpPr>
        <p:spPr>
          <a:xfrm>
            <a:off x="2240280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4" name="Grille 7"/>
          <p:cNvSpPr/>
          <p:nvPr/>
        </p:nvSpPr>
        <p:spPr>
          <a:xfrm>
            <a:off x="2496312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5" name="Grille 8"/>
          <p:cNvSpPr/>
          <p:nvPr/>
        </p:nvSpPr>
        <p:spPr>
          <a:xfrm>
            <a:off x="2752344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6" name="Grille 9"/>
          <p:cNvSpPr/>
          <p:nvPr/>
        </p:nvSpPr>
        <p:spPr>
          <a:xfrm>
            <a:off x="3008376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7" name="Grille 10"/>
          <p:cNvSpPr/>
          <p:nvPr/>
        </p:nvSpPr>
        <p:spPr>
          <a:xfrm>
            <a:off x="3264408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8" name="Grille 11"/>
          <p:cNvSpPr/>
          <p:nvPr/>
        </p:nvSpPr>
        <p:spPr>
          <a:xfrm>
            <a:off x="3520440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19" name="Grille 12"/>
          <p:cNvSpPr/>
          <p:nvPr/>
        </p:nvSpPr>
        <p:spPr>
          <a:xfrm>
            <a:off x="3776472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20" name="Grille 13"/>
          <p:cNvSpPr/>
          <p:nvPr/>
        </p:nvSpPr>
        <p:spPr>
          <a:xfrm>
            <a:off x="4032504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21" name="Grille 14"/>
          <p:cNvSpPr/>
          <p:nvPr/>
        </p:nvSpPr>
        <p:spPr>
          <a:xfrm>
            <a:off x="4288536" y="4087368"/>
            <a:ext cx="91440" cy="91440"/>
          </a:xfrm>
          <a:prstGeom prst="ellipse">
            <a:avLst/>
          </a:prstGeom>
          <a:solidFill>
            <a:srgbClr val="5B47A8"/>
          </a:solidFill>
          <a:ln w="6350">
            <a:solidFill>
              <a:srgbClr val="5B47A8"/>
            </a:solidFill>
            <a:prstDash val="solid"/>
          </a:ln>
        </p:spPr>
      </p:sp>
      <p:sp>
        <p:nvSpPr>
          <p:cNvPr id="22" name="Device 1 circle"/>
          <p:cNvSpPr/>
          <p:nvPr/>
        </p:nvSpPr>
        <p:spPr>
          <a:xfrm>
            <a:off x="5074920" y="144475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Device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0" y="1570482"/>
            <a:ext cx="251460" cy="251460"/>
          </a:xfrm>
          <a:prstGeom prst="rect">
            <a:avLst/>
          </a:prstGeom>
        </p:spPr>
      </p:pic>
      <p:sp>
        <p:nvSpPr>
          <p:cNvPr id="24" name="Device title 1"/>
          <p:cNvSpPr txBox="1"/>
          <p:nvPr/>
        </p:nvSpPr>
        <p:spPr>
          <a:xfrm>
            <a:off x="57607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encendida</a:t>
            </a:r>
            <a:endParaRPr lang="en-US" sz="1350" dirty="0"/>
          </a:p>
        </p:txBody>
      </p:sp>
      <p:sp>
        <p:nvSpPr>
          <p:cNvPr id="25" name="Device text 1"/>
          <p:cNvSpPr txBox="1"/>
          <p:nvPr/>
        </p:nvSpPr>
        <p:spPr>
          <a:xfrm>
            <a:off x="5760720" y="17007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Un equipo Vento propio, sin depender de un celular.</a:t>
            </a:r>
            <a:endParaRPr lang="en-US" sz="1050" dirty="0"/>
          </a:p>
        </p:txBody>
      </p:sp>
      <p:sp>
        <p:nvSpPr>
          <p:cNvPr id="26" name="Device 2 circle"/>
          <p:cNvSpPr/>
          <p:nvPr/>
        </p:nvSpPr>
        <p:spPr>
          <a:xfrm>
            <a:off x="5074920" y="22219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Device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2347722"/>
            <a:ext cx="251460" cy="251460"/>
          </a:xfrm>
          <a:prstGeom prst="rect">
            <a:avLst/>
          </a:prstGeom>
        </p:spPr>
      </p:pic>
      <p:sp>
        <p:nvSpPr>
          <p:cNvPr id="28" name="Device title 2"/>
          <p:cNvSpPr txBox="1"/>
          <p:nvPr/>
        </p:nvSpPr>
        <p:spPr>
          <a:xfrm>
            <a:off x="57607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hablas y te muestra</a:t>
            </a:r>
            <a:endParaRPr lang="en-US" sz="1350" dirty="0"/>
          </a:p>
        </p:txBody>
      </p:sp>
      <p:sp>
        <p:nvSpPr>
          <p:cNvPr id="29" name="Device text 2"/>
          <p:cNvSpPr txBox="1"/>
          <p:nvPr/>
        </p:nvSpPr>
        <p:spPr>
          <a:xfrm>
            <a:off x="5760720" y="2478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Ves la cuenta, el pedido o el total mientras responde.</a:t>
            </a:r>
            <a:endParaRPr lang="en-US" sz="1050" dirty="0"/>
          </a:p>
        </p:txBody>
      </p:sp>
      <p:sp>
        <p:nvSpPr>
          <p:cNvPr id="30" name="Device 3 circle"/>
          <p:cNvSpPr/>
          <p:nvPr/>
        </p:nvSpPr>
        <p:spPr>
          <a:xfrm>
            <a:off x="5074920" y="299923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Device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650" y="3124962"/>
            <a:ext cx="251460" cy="251460"/>
          </a:xfrm>
          <a:prstGeom prst="rect">
            <a:avLst/>
          </a:prstGeom>
        </p:spPr>
      </p:pic>
      <p:sp>
        <p:nvSpPr>
          <p:cNvPr id="32" name="Device title 3"/>
          <p:cNvSpPr txBox="1"/>
          <p:nvPr/>
        </p:nvSpPr>
        <p:spPr>
          <a:xfrm>
            <a:off x="57607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Anuncia los pedidos</a:t>
            </a:r>
            <a:endParaRPr lang="en-US" sz="1350" dirty="0"/>
          </a:p>
        </p:txBody>
      </p:sp>
      <p:sp>
        <p:nvSpPr>
          <p:cNvPr id="33" name="Device text 3"/>
          <p:cNvSpPr txBox="1"/>
          <p:nvPr/>
        </p:nvSpPr>
        <p:spPr>
          <a:xfrm>
            <a:off x="5760720" y="32552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«Nuevo pedido de la mesa 5», en voz alta.</a:t>
            </a:r>
            <a:endParaRPr lang="en-US" sz="1050" dirty="0"/>
          </a:p>
        </p:txBody>
      </p:sp>
      <p:sp>
        <p:nvSpPr>
          <p:cNvPr id="34" name="Device 4 circle"/>
          <p:cNvSpPr/>
          <p:nvPr/>
        </p:nvSpPr>
        <p:spPr>
          <a:xfrm>
            <a:off x="5074920" y="377647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Device 4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650" y="3902202"/>
            <a:ext cx="251460" cy="251460"/>
          </a:xfrm>
          <a:prstGeom prst="rect">
            <a:avLst/>
          </a:prstGeom>
        </p:spPr>
      </p:pic>
      <p:sp>
        <p:nvSpPr>
          <p:cNvPr id="36" name="Device title 4"/>
          <p:cNvSpPr txBox="1"/>
          <p:nvPr/>
        </p:nvSpPr>
        <p:spPr>
          <a:xfrm>
            <a:off x="5760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incorporada</a:t>
            </a:r>
            <a:endParaRPr lang="en-US" sz="1350" dirty="0"/>
          </a:p>
        </p:txBody>
      </p:sp>
      <p:sp>
        <p:nvSpPr>
          <p:cNvPr id="37" name="Device text 4"/>
          <p:cNvSpPr txBox="1"/>
          <p:nvPr/>
        </p:nvSpPr>
        <p:spPr>
          <a:xfrm>
            <a:off x="5760720" y="40325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Lee facturas, códigos y comprobantes de pago.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EQUIPO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Un equipo de padre e hijo, listo para crecer</a:t>
            </a:r>
            <a:endParaRPr lang="en-US" sz="3000" dirty="0"/>
          </a:p>
        </p:txBody>
      </p:sp>
      <p:sp>
        <p:nvSpPr>
          <p:cNvPr id="5" name="Founder 0"/>
          <p:cNvSpPr/>
          <p:nvPr/>
        </p:nvSpPr>
        <p:spPr>
          <a:xfrm>
            <a:off x="640080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6" name="Founder 0 circle"/>
          <p:cNvSpPr/>
          <p:nvPr/>
        </p:nvSpPr>
        <p:spPr>
          <a:xfrm>
            <a:off x="868680" y="157276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Founder 0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732788"/>
            <a:ext cx="320040" cy="320040"/>
          </a:xfrm>
          <a:prstGeom prst="rect">
            <a:avLst/>
          </a:prstGeom>
        </p:spPr>
      </p:pic>
      <p:sp>
        <p:nvSpPr>
          <p:cNvPr id="8" name="Founder role 0"/>
          <p:cNvSpPr txBox="1"/>
          <p:nvPr/>
        </p:nvSpPr>
        <p:spPr>
          <a:xfrm>
            <a:off x="164592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</a:t>
            </a:r>
            <a:endParaRPr lang="en-US" sz="1500" dirty="0"/>
          </a:p>
        </p:txBody>
      </p:sp>
      <p:sp>
        <p:nvSpPr>
          <p:cNvPr id="9" name="Founder area 0"/>
          <p:cNvSpPr txBox="1"/>
          <p:nvPr/>
        </p:nvSpPr>
        <p:spPr>
          <a:xfrm>
            <a:off x="1645920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Producto y tecnología</a:t>
            </a:r>
            <a:endParaRPr lang="en-US" sz="1000" dirty="0"/>
          </a:p>
        </p:txBody>
      </p:sp>
      <p:sp>
        <p:nvSpPr>
          <p:cNvPr id="10" name="Founder text 0"/>
          <p:cNvSpPr txBox="1"/>
          <p:nvPr/>
        </p:nvSpPr>
        <p:spPr>
          <a:xfrm>
            <a:off x="868680" y="2377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Diseñó y construyó Vento de punta a punta: web, app Android, IA, pagos y Vento Admin.</a:t>
            </a:r>
            <a:endParaRPr lang="en-US" sz="1050" dirty="0"/>
          </a:p>
        </p:txBody>
      </p:sp>
      <p:sp>
        <p:nvSpPr>
          <p:cNvPr id="11" name="Founder 1"/>
          <p:cNvSpPr/>
          <p:nvPr/>
        </p:nvSpPr>
        <p:spPr>
          <a:xfrm>
            <a:off x="3337560" y="1371600"/>
            <a:ext cx="2514600" cy="2148840"/>
          </a:xfrm>
          <a:prstGeom prst="roundRect">
            <a:avLst>
              <a:gd name="adj" fmla="val 5957"/>
            </a:avLst>
          </a:prstGeom>
          <a:solidFill>
            <a:srgbClr val="1A1530"/>
          </a:solidFill>
          <a:ln w="9525">
            <a:solidFill>
              <a:srgbClr val="3B2F66"/>
            </a:solidFill>
            <a:prstDash val="solid"/>
          </a:ln>
        </p:spPr>
      </p:sp>
      <p:sp>
        <p:nvSpPr>
          <p:cNvPr id="12" name="Founder 1 circle"/>
          <p:cNvSpPr/>
          <p:nvPr/>
        </p:nvSpPr>
        <p:spPr>
          <a:xfrm>
            <a:off x="3566160" y="157276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Founder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1732788"/>
            <a:ext cx="320040" cy="320040"/>
          </a:xfrm>
          <a:prstGeom prst="rect">
            <a:avLst/>
          </a:prstGeom>
        </p:spPr>
      </p:pic>
      <p:sp>
        <p:nvSpPr>
          <p:cNvPr id="14" name="Founder role 1"/>
          <p:cNvSpPr txBox="1"/>
          <p:nvPr/>
        </p:nvSpPr>
        <p:spPr>
          <a:xfrm>
            <a:off x="434340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Cofundador</a:t>
            </a:r>
            <a:endParaRPr lang="en-US" sz="1500" dirty="0"/>
          </a:p>
        </p:txBody>
      </p:sp>
      <p:sp>
        <p:nvSpPr>
          <p:cNvPr id="15" name="Founder area 1"/>
          <p:cNvSpPr txBox="1"/>
          <p:nvPr/>
        </p:nvSpPr>
        <p:spPr>
          <a:xfrm>
            <a:off x="4343400" y="1892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Operación y negocios</a:t>
            </a:r>
            <a:endParaRPr lang="en-US" sz="1000" dirty="0"/>
          </a:p>
        </p:txBody>
      </p:sp>
      <p:sp>
        <p:nvSpPr>
          <p:cNvPr id="16" name="Founder text 1"/>
          <p:cNvSpPr txBox="1"/>
          <p:nvPr/>
        </p:nvSpPr>
        <p:spPr>
          <a:xfrm>
            <a:off x="3566160" y="2377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BD"/>
                </a:solidFill>
              </a:rPr>
              <a:t>La operación diaria y la relación con los negocios que usan Vento.</a:t>
            </a:r>
            <a:endParaRPr lang="en-US" sz="1050" dirty="0"/>
          </a:p>
        </p:txBody>
      </p:sp>
      <p:sp>
        <p:nvSpPr>
          <p:cNvPr id="17" name="Hiring plan"/>
          <p:cNvSpPr/>
          <p:nvPr/>
        </p:nvSpPr>
        <p:spPr>
          <a:xfrm>
            <a:off x="6035040" y="1371600"/>
            <a:ext cx="2468880" cy="3154680"/>
          </a:xfrm>
          <a:prstGeom prst="roundRect">
            <a:avLst>
              <a:gd name="adj" fmla="val 5185"/>
            </a:avLst>
          </a:prstGeom>
          <a:solidFill>
            <a:srgbClr val="17152A"/>
          </a:solidFill>
          <a:ln w="9525">
            <a:solidFill>
              <a:srgbClr val="2E2A48"/>
            </a:solidFill>
            <a:prstDash val="solid"/>
          </a:ln>
        </p:spPr>
      </p:sp>
      <p:sp>
        <p:nvSpPr>
          <p:cNvPr id="18" name="Hires title"/>
          <p:cNvSpPr txBox="1"/>
          <p:nvPr/>
        </p:nvSpPr>
        <p:spPr>
          <a:xfrm>
            <a:off x="6236208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contrataciones con esta ronda</a:t>
            </a:r>
            <a:endParaRPr lang="en-US" sz="1200" dirty="0"/>
          </a:p>
        </p:txBody>
      </p:sp>
      <p:sp>
        <p:nvSpPr>
          <p:cNvPr id="19" name="Hires list"/>
          <p:cNvSpPr txBox="1"/>
          <p:nvPr/>
        </p:nvSpPr>
        <p:spPr>
          <a:xfrm>
            <a:off x="6236208" y="182880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2F1F7"/>
                </a:solidFill>
              </a:rPr>
              <a:t>Desarrollador(a) full-stack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2F1F7"/>
                </a:solidFill>
              </a:rPr>
              <a:t>Desarrollador(a) Android / pruebas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2F1F7"/>
                </a:solidFill>
              </a:rPr>
              <a:t>Diseño UX (medio tiempo)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2F1F7"/>
                </a:solidFill>
              </a:rPr>
              <a:t>2 vendedores de campo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2F1F7"/>
                </a:solidFill>
              </a:rPr>
              <a:t>Soporte al cliente</a:t>
            </a:r>
            <a:endParaRPr lang="en-US" sz="1100" dirty="0"/>
          </a:p>
        </p:txBody>
      </p:sp>
      <p:sp>
        <p:nvSpPr>
          <p:cNvPr id="20" name="Advisors"/>
          <p:cNvSpPr/>
          <p:nvPr/>
        </p:nvSpPr>
        <p:spPr>
          <a:xfrm>
            <a:off x="640080" y="3703320"/>
            <a:ext cx="5166360" cy="822960"/>
          </a:xfrm>
          <a:prstGeom prst="roundRect">
            <a:avLst>
              <a:gd name="adj" fmla="val 15556"/>
            </a:avLst>
          </a:prstGeom>
          <a:solidFill>
            <a:srgbClr val="10251D"/>
          </a:solidFill>
          <a:ln w="9525">
            <a:solidFill>
              <a:srgbClr val="1F5A44"/>
            </a:solidFill>
            <a:prstDash val="solid"/>
          </a:ln>
        </p:spPr>
      </p:sp>
      <p:sp>
        <p:nvSpPr>
          <p:cNvPr id="21" name="Advisors text"/>
          <p:cNvSpPr txBox="1"/>
          <p:nvPr/>
        </p:nvSpPr>
        <p:spPr>
          <a:xfrm>
            <a:off x="868680" y="3749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</a:rPr>
              <a:t>Buscamos: </a:t>
            </a:r>
            <a:pPr indent="0" marL="0">
              <a:buNone/>
            </a:pPr>
            <a:r>
              <a:rPr lang="en-US" sz="1150" dirty="0">
                <a:solidFill>
                  <a:srgbClr val="D9F7EC"/>
                </a:solidFill>
              </a:rPr>
              <a:t>asesores en pagos, ventas a pequeños negocios y distribución en Google Play.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Kicker"/>
          <p:cNvSpPr txBox="1"/>
          <p:nvPr/>
        </p:nvSpPr>
        <p:spPr>
          <a:xfrm>
            <a:off x="64008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34D399"/>
                </a:solidFill>
              </a:rPr>
              <a:t>LA INVERSIÓN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5669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Buscamos US$350 mil (pre-semilla)</a:t>
            </a:r>
            <a:endParaRPr lang="en-US" sz="3000" dirty="0"/>
          </a:p>
        </p:txBody>
      </p:sp>
      <p:sp>
        <p:nvSpPr>
          <p:cNvPr id="5" name="Use bar 0"/>
          <p:cNvSpPr/>
          <p:nvPr/>
        </p:nvSpPr>
        <p:spPr>
          <a:xfrm>
            <a:off x="640080" y="1417320"/>
            <a:ext cx="3538728" cy="457200"/>
          </a:xfrm>
          <a:prstGeom prst="rect">
            <a:avLst/>
          </a:prstGeom>
          <a:solidFill>
            <a:srgbClr val="7C3AED"/>
          </a:solidFill>
          <a:ln w="19050">
            <a:solidFill>
              <a:srgbClr val="0B0A12"/>
            </a:solidFill>
            <a:prstDash val="solid"/>
          </a:ln>
        </p:spPr>
      </p:sp>
      <p:sp>
        <p:nvSpPr>
          <p:cNvPr id="6" name="Use pct 0"/>
          <p:cNvSpPr txBox="1"/>
          <p:nvPr/>
        </p:nvSpPr>
        <p:spPr>
          <a:xfrm>
            <a:off x="640080" y="1417320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45%</a:t>
            </a:r>
            <a:endParaRPr lang="en-US" sz="1200" dirty="0"/>
          </a:p>
        </p:txBody>
      </p:sp>
      <p:sp>
        <p:nvSpPr>
          <p:cNvPr id="7" name="Use bar 1"/>
          <p:cNvSpPr/>
          <p:nvPr/>
        </p:nvSpPr>
        <p:spPr>
          <a:xfrm>
            <a:off x="4178808" y="1417320"/>
            <a:ext cx="2359152" cy="457200"/>
          </a:xfrm>
          <a:prstGeom prst="rect">
            <a:avLst/>
          </a:prstGeom>
          <a:solidFill>
            <a:srgbClr val="34D399"/>
          </a:solidFill>
          <a:ln w="19050">
            <a:solidFill>
              <a:srgbClr val="0B0A12"/>
            </a:solidFill>
            <a:prstDash val="solid"/>
          </a:ln>
        </p:spPr>
      </p:sp>
      <p:sp>
        <p:nvSpPr>
          <p:cNvPr id="8" name="Use pct 1"/>
          <p:cNvSpPr txBox="1"/>
          <p:nvPr/>
        </p:nvSpPr>
        <p:spPr>
          <a:xfrm>
            <a:off x="4178808" y="14173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A12"/>
                </a:solidFill>
              </a:rPr>
              <a:t>30%</a:t>
            </a:r>
            <a:endParaRPr lang="en-US" sz="1200" dirty="0"/>
          </a:p>
        </p:txBody>
      </p:sp>
      <p:sp>
        <p:nvSpPr>
          <p:cNvPr id="9" name="Use bar 2"/>
          <p:cNvSpPr/>
          <p:nvPr/>
        </p:nvSpPr>
        <p:spPr>
          <a:xfrm>
            <a:off x="6537960" y="1417320"/>
            <a:ext cx="786384" cy="457200"/>
          </a:xfrm>
          <a:prstGeom prst="rect">
            <a:avLst/>
          </a:prstGeom>
          <a:solidFill>
            <a:srgbClr val="C4B5FD"/>
          </a:solidFill>
          <a:ln w="19050">
            <a:solidFill>
              <a:srgbClr val="0B0A12"/>
            </a:solidFill>
            <a:prstDash val="solid"/>
          </a:ln>
        </p:spPr>
      </p:sp>
      <p:sp>
        <p:nvSpPr>
          <p:cNvPr id="10" name="Use pct 2"/>
          <p:cNvSpPr txBox="1"/>
          <p:nvPr/>
        </p:nvSpPr>
        <p:spPr>
          <a:xfrm>
            <a:off x="6537960" y="141732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11" name="Use bar 3"/>
          <p:cNvSpPr/>
          <p:nvPr/>
        </p:nvSpPr>
        <p:spPr>
          <a:xfrm>
            <a:off x="7324344" y="1417320"/>
            <a:ext cx="629107" cy="457200"/>
          </a:xfrm>
          <a:prstGeom prst="rect">
            <a:avLst/>
          </a:prstGeom>
          <a:solidFill>
            <a:srgbClr val="7C6FB0"/>
          </a:solidFill>
          <a:ln w="19050">
            <a:solidFill>
              <a:srgbClr val="0B0A12"/>
            </a:solidFill>
            <a:prstDash val="solid"/>
          </a:ln>
        </p:spPr>
      </p:sp>
      <p:sp>
        <p:nvSpPr>
          <p:cNvPr id="12" name="Use bar 4"/>
          <p:cNvSpPr/>
          <p:nvPr/>
        </p:nvSpPr>
        <p:spPr>
          <a:xfrm>
            <a:off x="7953451" y="1417320"/>
            <a:ext cx="550469" cy="457200"/>
          </a:xfrm>
          <a:prstGeom prst="rect">
            <a:avLst/>
          </a:prstGeom>
          <a:solidFill>
            <a:srgbClr val="F5A524"/>
          </a:solidFill>
          <a:ln w="19050">
            <a:solidFill>
              <a:srgbClr val="0B0A12"/>
            </a:solidFill>
            <a:prstDash val="solid"/>
          </a:ln>
        </p:spPr>
      </p:sp>
      <p:sp>
        <p:nvSpPr>
          <p:cNvPr id="13" name="Use legend 0"/>
          <p:cNvSpPr/>
          <p:nvPr/>
        </p:nvSpPr>
        <p:spPr>
          <a:xfrm>
            <a:off x="640080" y="2048256"/>
            <a:ext cx="128016" cy="128016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Use legend text 0"/>
          <p:cNvSpPr txBox="1"/>
          <p:nvPr/>
        </p:nvSpPr>
        <p:spPr>
          <a:xfrm>
            <a:off x="8229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Producto y desarrollo</a:t>
            </a:r>
            <a:endParaRPr lang="en-US" sz="900" dirty="0"/>
          </a:p>
        </p:txBody>
      </p:sp>
      <p:sp>
        <p:nvSpPr>
          <p:cNvPr id="15" name="Use amount 0"/>
          <p:cNvSpPr txBox="1"/>
          <p:nvPr/>
        </p:nvSpPr>
        <p:spPr>
          <a:xfrm>
            <a:off x="8229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US$158 mil</a:t>
            </a:r>
            <a:endParaRPr lang="en-US" sz="1050" dirty="0"/>
          </a:p>
        </p:txBody>
      </p:sp>
      <p:sp>
        <p:nvSpPr>
          <p:cNvPr id="16" name="Use legend 1"/>
          <p:cNvSpPr/>
          <p:nvPr/>
        </p:nvSpPr>
        <p:spPr>
          <a:xfrm>
            <a:off x="2240280" y="2048256"/>
            <a:ext cx="128016" cy="128016"/>
          </a:xfrm>
          <a:prstGeom prst="rect">
            <a:avLst/>
          </a:prstGeom>
          <a:solidFill>
            <a:srgbClr val="34D399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7" name="Use legend text 1"/>
          <p:cNvSpPr txBox="1"/>
          <p:nvPr/>
        </p:nvSpPr>
        <p:spPr>
          <a:xfrm>
            <a:off x="24231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Ventas y mercadeo</a:t>
            </a:r>
            <a:endParaRPr lang="en-US" sz="900" dirty="0"/>
          </a:p>
        </p:txBody>
      </p:sp>
      <p:sp>
        <p:nvSpPr>
          <p:cNvPr id="18" name="Use amount 1"/>
          <p:cNvSpPr txBox="1"/>
          <p:nvPr/>
        </p:nvSpPr>
        <p:spPr>
          <a:xfrm>
            <a:off x="24231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US$105 mil</a:t>
            </a:r>
            <a:endParaRPr lang="en-US" sz="1050" dirty="0"/>
          </a:p>
        </p:txBody>
      </p:sp>
      <p:sp>
        <p:nvSpPr>
          <p:cNvPr id="19" name="Use legend 2"/>
          <p:cNvSpPr/>
          <p:nvPr/>
        </p:nvSpPr>
        <p:spPr>
          <a:xfrm>
            <a:off x="3840480" y="2048256"/>
            <a:ext cx="128016" cy="128016"/>
          </a:xfrm>
          <a:prstGeom prst="rect">
            <a:avLst/>
          </a:prstGeom>
          <a:solidFill>
            <a:srgbClr val="C4B5FD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20" name="Use legend text 2"/>
          <p:cNvSpPr txBox="1"/>
          <p:nvPr/>
        </p:nvSpPr>
        <p:spPr>
          <a:xfrm>
            <a:off x="40233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Soporte y operación</a:t>
            </a:r>
            <a:endParaRPr lang="en-US" sz="900" dirty="0"/>
          </a:p>
        </p:txBody>
      </p:sp>
      <p:sp>
        <p:nvSpPr>
          <p:cNvPr id="21" name="Use amount 2"/>
          <p:cNvSpPr txBox="1"/>
          <p:nvPr/>
        </p:nvSpPr>
        <p:spPr>
          <a:xfrm>
            <a:off x="40233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US$35 mil</a:t>
            </a:r>
            <a:endParaRPr lang="en-US" sz="1050" dirty="0"/>
          </a:p>
        </p:txBody>
      </p:sp>
      <p:sp>
        <p:nvSpPr>
          <p:cNvPr id="22" name="Use legend 3"/>
          <p:cNvSpPr/>
          <p:nvPr/>
        </p:nvSpPr>
        <p:spPr>
          <a:xfrm>
            <a:off x="5440680" y="2048256"/>
            <a:ext cx="128016" cy="128016"/>
          </a:xfrm>
          <a:prstGeom prst="rect">
            <a:avLst/>
          </a:prstGeom>
          <a:solidFill>
            <a:srgbClr val="7C6FB0"/>
          </a:solidFill>
          <a:ln w="6350">
            <a:solidFill>
              <a:srgbClr val="7C6FB0"/>
            </a:solidFill>
            <a:prstDash val="solid"/>
          </a:ln>
        </p:spPr>
      </p:sp>
      <p:sp>
        <p:nvSpPr>
          <p:cNvPr id="23" name="Use legend text 3"/>
          <p:cNvSpPr txBox="1"/>
          <p:nvPr/>
        </p:nvSpPr>
        <p:spPr>
          <a:xfrm>
            <a:off x="56235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Infraestructura y reserva</a:t>
            </a:r>
            <a:endParaRPr lang="en-US" sz="900" dirty="0"/>
          </a:p>
        </p:txBody>
      </p:sp>
      <p:sp>
        <p:nvSpPr>
          <p:cNvPr id="24" name="Use amount 3"/>
          <p:cNvSpPr txBox="1"/>
          <p:nvPr/>
        </p:nvSpPr>
        <p:spPr>
          <a:xfrm>
            <a:off x="56235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US$28 mil</a:t>
            </a:r>
            <a:endParaRPr lang="en-US" sz="1050" dirty="0"/>
          </a:p>
        </p:txBody>
      </p:sp>
      <p:sp>
        <p:nvSpPr>
          <p:cNvPr id="25" name="Use legend 4"/>
          <p:cNvSpPr/>
          <p:nvPr/>
        </p:nvSpPr>
        <p:spPr>
          <a:xfrm>
            <a:off x="7040880" y="2048256"/>
            <a:ext cx="128016" cy="128016"/>
          </a:xfrm>
          <a:prstGeom prst="rect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</p:sp>
      <p:sp>
        <p:nvSpPr>
          <p:cNvPr id="26" name="Use legend text 4"/>
          <p:cNvSpPr txBox="1"/>
          <p:nvPr/>
        </p:nvSpPr>
        <p:spPr>
          <a:xfrm>
            <a:off x="7223760" y="19842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D3E6"/>
                </a:solidFill>
              </a:rPr>
              <a:t>Legal, marca y factura DIAN</a:t>
            </a:r>
            <a:endParaRPr lang="en-US" sz="900" dirty="0"/>
          </a:p>
        </p:txBody>
      </p:sp>
      <p:sp>
        <p:nvSpPr>
          <p:cNvPr id="27" name="Use amount 4"/>
          <p:cNvSpPr txBox="1"/>
          <p:nvPr/>
        </p:nvSpPr>
        <p:spPr>
          <a:xfrm>
            <a:off x="7223760" y="2331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US$25 mil</a:t>
            </a:r>
            <a:endParaRPr lang="en-US" sz="1050" dirty="0"/>
          </a:p>
        </p:txBody>
      </p:sp>
      <p:pic>
        <p:nvPicPr>
          <p:cNvPr id="28" name="Milestone icon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25496"/>
            <a:ext cx="256032" cy="256032"/>
          </a:xfrm>
          <a:prstGeom prst="rect">
            <a:avLst/>
          </a:prstGeom>
        </p:spPr>
      </p:pic>
      <p:sp>
        <p:nvSpPr>
          <p:cNvPr id="29" name="Milestone 0"/>
          <p:cNvSpPr txBox="1"/>
          <p:nvPr/>
        </p:nvSpPr>
        <p:spPr>
          <a:xfrm>
            <a:off x="1024128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en Google Play</a:t>
            </a:r>
            <a:endParaRPr lang="en-US" sz="1350" dirty="0"/>
          </a:p>
        </p:txBody>
      </p:sp>
      <p:sp>
        <p:nvSpPr>
          <p:cNvPr id="30" name="Milestone text 0"/>
          <p:cNvSpPr txBox="1"/>
          <p:nvPr/>
        </p:nvSpPr>
        <p:spPr>
          <a:xfrm>
            <a:off x="1024128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App lista para la tienda: Android 16, abre sin internet, privacidad y borrar cuenta</a:t>
            </a:r>
            <a:endParaRPr lang="en-US" sz="1000" dirty="0"/>
          </a:p>
        </p:txBody>
      </p:sp>
      <p:pic>
        <p:nvPicPr>
          <p:cNvPr id="31" name="Milestone icon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825496"/>
            <a:ext cx="256032" cy="256032"/>
          </a:xfrm>
          <a:prstGeom prst="rect">
            <a:avLst/>
          </a:prstGeom>
        </p:spPr>
      </p:pic>
      <p:sp>
        <p:nvSpPr>
          <p:cNvPr id="32" name="Milestone 1"/>
          <p:cNvSpPr txBox="1"/>
          <p:nvPr/>
        </p:nvSpPr>
        <p:spPr>
          <a:xfrm>
            <a:off x="5001768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Pilotos pagos → 360 negocios</a:t>
            </a:r>
            <a:endParaRPr lang="en-US" sz="1350" dirty="0"/>
          </a:p>
        </p:txBody>
      </p:sp>
      <p:sp>
        <p:nvSpPr>
          <p:cNvPr id="33" name="Milestone text 1"/>
          <p:cNvSpPr txBox="1"/>
          <p:nvPr/>
        </p:nvSpPr>
        <p:spPr>
          <a:xfrm>
            <a:off x="5001768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Meta del año 1 en el escenario base</a:t>
            </a:r>
            <a:endParaRPr lang="en-US" sz="1000" dirty="0"/>
          </a:p>
        </p:txBody>
      </p:sp>
      <p:pic>
        <p:nvPicPr>
          <p:cNvPr id="34" name="Milestone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94176"/>
            <a:ext cx="256032" cy="256032"/>
          </a:xfrm>
          <a:prstGeom prst="rect">
            <a:avLst/>
          </a:prstGeom>
        </p:spPr>
      </p:pic>
      <p:sp>
        <p:nvSpPr>
          <p:cNvPr id="35" name="Milestone 2"/>
          <p:cNvSpPr txBox="1"/>
          <p:nvPr/>
        </p:nvSpPr>
        <p:spPr>
          <a:xfrm>
            <a:off x="1024128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 en el mes 27</a:t>
            </a:r>
            <a:endParaRPr lang="en-US" sz="1350" dirty="0"/>
          </a:p>
        </p:txBody>
      </p:sp>
      <p:sp>
        <p:nvSpPr>
          <p:cNvPr id="36" name="Milestone text 2"/>
          <p:cNvSpPr txBox="1"/>
          <p:nvPr/>
        </p:nvSpPr>
        <p:spPr>
          <a:xfrm>
            <a:off x="1024128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Cubre el escenario base: el modelo necesita US$315 mil</a:t>
            </a:r>
            <a:endParaRPr lang="en-US" sz="1000" dirty="0"/>
          </a:p>
        </p:txBody>
      </p:sp>
      <p:pic>
        <p:nvPicPr>
          <p:cNvPr id="37" name="Milestone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94176"/>
            <a:ext cx="256032" cy="256032"/>
          </a:xfrm>
          <a:prstGeom prst="rect">
            <a:avLst/>
          </a:prstGeom>
        </p:spPr>
      </p:pic>
      <p:sp>
        <p:nvSpPr>
          <p:cNvPr id="38" name="Milestone 3"/>
          <p:cNvSpPr txBox="1"/>
          <p:nvPr/>
        </p:nvSpPr>
        <p:spPr>
          <a:xfrm>
            <a:off x="5001768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meses de operación</a:t>
            </a:r>
            <a:endParaRPr lang="en-US" sz="1350" dirty="0"/>
          </a:p>
        </p:txBody>
      </p:sp>
      <p:sp>
        <p:nvSpPr>
          <p:cNvPr id="39" name="Milestone text 3"/>
          <p:cNvSpPr txBox="1"/>
          <p:nvPr/>
        </p:nvSpPr>
        <p:spPr>
          <a:xfrm>
            <a:off x="5001768" y="3959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BD"/>
                </a:solidFill>
              </a:rPr>
              <a:t>Con todo el equipo contratado, sin contar ventas</a:t>
            </a:r>
            <a:endParaRPr lang="en-US" sz="1000" dirty="0"/>
          </a:p>
        </p:txBody>
      </p:sp>
      <p:sp>
        <p:nvSpPr>
          <p:cNvPr id="40" name="Ask alternatives"/>
          <p:cNvSpPr txBox="1"/>
          <p:nvPr/>
        </p:nvSpPr>
        <p:spPr>
          <a:xfrm>
            <a:off x="640080" y="45537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B5FD"/>
                </a:solidFill>
              </a:rPr>
              <a:t>Alternativas: US$100 mil con ángeles (lanzamiento austero) · US$700 mil semilla (dos ciudades y más equipo).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ligh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Vento logo closi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Vento trabaja por ti.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788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Construyamos la voz de los pequeños negocios de Latinoamérica.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D399"/>
                </a:solidFill>
              </a:rPr>
              <a:t>WhatsApp +57 313 895 0277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B9B5CF"/>
                </a:solidFill>
              </a:rPr>
              <a:t>cristhianlujan45-blip.github.io/cuentas</a:t>
            </a:r>
            <a:endParaRPr lang="en-US" sz="2000" dirty="0"/>
          </a:p>
        </p:txBody>
      </p:sp>
      <p:sp>
        <p:nvSpPr>
          <p:cNvPr id="6" name="Payment screen frame"/>
          <p:cNvSpPr/>
          <p:nvPr/>
        </p:nvSpPr>
        <p:spPr>
          <a:xfrm>
            <a:off x="6336792" y="438912"/>
            <a:ext cx="2050531" cy="4288536"/>
          </a:xfrm>
          <a:prstGeom prst="roundRect">
            <a:avLst>
              <a:gd name="adj" fmla="val 9811"/>
            </a:avLst>
          </a:prstGeom>
          <a:solidFill>
            <a:srgbClr val="05050A"/>
          </a:solidFill>
          <a:ln w="19050">
            <a:solidFill>
              <a:srgbClr val="5B47A8"/>
            </a:solidFill>
            <a:prstDash val="solid"/>
          </a:ln>
          <a:effectLst>
            <a:outerShdw sx="100000" sy="100000" kx="0" ky="0" algn="bl" rotWithShape="0" blurRad="304800" dist="38100" dir="5400000">
              <a:srgbClr val="7C3AED">
                <a:alpha val="50000"/>
              </a:srgbClr>
            </a:outerShdw>
          </a:effectLst>
        </p:spPr>
      </p:sp>
      <p:pic>
        <p:nvPicPr>
          <p:cNvPr id="7" name="Payment scre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502920"/>
            <a:ext cx="1922515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nto Pitch">
  <a:themeElements>
    <a:clrScheme name="Vento Pitch">
      <a:dk1>
        <a:srgbClr val="0B0A12"/>
      </a:dk1>
      <a:lt1>
        <a:srgbClr val="FFFFFF"/>
      </a:lt1>
      <a:dk2>
        <a:srgbClr val="1C1A2B"/>
      </a:dk2>
      <a:lt2>
        <a:srgbClr val="F2F1F7"/>
      </a:lt2>
      <a:accent1>
        <a:srgbClr val="7C3AED"/>
      </a:accent1>
      <a:accent2>
        <a:srgbClr val="C4B5FD"/>
      </a:accent2>
      <a:accent3>
        <a:srgbClr val="34D399"/>
      </a:accent3>
      <a:accent4>
        <a:srgbClr val="A78BFA"/>
      </a:accent4>
      <a:accent5>
        <a:srgbClr val="FB7185"/>
      </a:accent5>
      <a:accent6>
        <a:srgbClr val="9A97AD"/>
      </a:accent6>
      <a:hlink>
        <a:srgbClr val="C4B5FD"/>
      </a:hlink>
      <a:folHlink>
        <a:srgbClr val="A78BFA"/>
      </a:folHlink>
    </a:clrScheme>
    <a:fontScheme name="Vento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Vento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Vento — Presentación para inversionistas</dc:title>
  <dc:subject>PptxGenJS Presentation</dc:subject>
  <dc:creator>Vento</dc:creator>
  <cp:lastModifiedBy>Vento</cp:lastModifiedBy>
  <cp:revision>1</cp:revision>
  <dcterms:created xsi:type="dcterms:W3CDTF">2026-10-04T02:54:32Z</dcterms:created>
  <dcterms:modified xsi:type="dcterms:W3CDTF">2026-10-04T02:54:32Z</dcterms:modified>
</cp:coreProperties>
</file>