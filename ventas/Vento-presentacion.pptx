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8822ce26-1e4a-4596-24aa-f7b19e40ed8a}">
          <p14:sldIdLst>
            <p14:sldId id="256"/>
          </p14:sldIdLst>
        </p14:section>
        <p14:section name="Problema y solución" id="{d5e01d69-b9d7-5e0f-db3c-e77fd14f4e8a}">
          <p14:sldIdLst>
            <p14:sldId id="257"/>
            <p14:sldId id="258"/>
          </p14:sldIdLst>
        </p14:section>
        <p14:section name="Producto" id="{e413664c-5bf4-e156-51a4-fb2469ca684d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dministración" id="{c996afd1-4d0d-3a9b-521b-bd04e62e7da8}">
          <p14:sldIdLst>
            <p14:sldId id="267"/>
            <p14:sldId id="268"/>
            <p14:sldId id="269"/>
          </p14:sldIdLst>
        </p14:section>
        <p14:section name="Operación" id="{279b01e7-4ab9-1544-d9f3-4b5916893638}">
          <p14:sldIdLst>
            <p14:sldId id="270"/>
            <p14:sldId id="271"/>
            <p14:sldId id="272"/>
            <p14:sldId id="273"/>
          </p14:sldIdLst>
        </p14:section>
        <p14:section name="Negocio" id="{87eee210-8e1a-16d8-0876-ce9b979552f3}">
          <p14:sldIdLst>
            <p14:sldId id="274"/>
            <p14:sldId id="275"/>
            <p14:sldId id="276"/>
          </p14:sldIdLst>
        </p14:section>
        <p14:section name="Futuro y cierre" id="{11a495dc-875b-5113-60d4-13fe8da57545}">
          <p14:sldIdLst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Vento convierte el celular del negocio en caja, mesero, inventario, asistente con IA y DJ.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 funciona: el QR del negocio sale en la cuenta y el recibo. El aviso de pago de la app del banco se reenvía a Vento con la app gratis MacroDroid y Vento dice cuánto llegó, de quién y de qué mesa. Vento no cobra comisión por venta ni por verificar el pago; las tarifas propias de cada banco o billetera, si las hay, las define la entidad.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 funciona: se sube el pantallazo y Vento lo lee en el celular (sin internet). Lo cruza con los avisos de pago que llegaron (app del banco reenviada con MacroDroid o el Servidor Vento). Nunca da un pago por recibido solo por el pantallazo.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Vento es una aplicación web: el mismo negocio se maneja desde el celular, la tableta, el computador o el navegador del Smart TV, todo al mismo tiempo y sincronizado.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 funciona: con Vento abierta, se dice «Hola Vento» y la orden. Después de cada orden queda atenta unos segundos. Se apaga en Ajustes o diciendo «Vento, deja de escuchar».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Visión: un equipo propio de Vento, una pantalla con parlante y micrófono como los asistentes de hogar, pero que conoce las mesas, las cuentas y el inventario del negocio. Hoy esto ya se logra con una tableta con Vento abierta y «Hola Vento».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NTO_TITULO">
    <p:bg>
      <p:bgPr>
        <a:solidFill>
          <a:srgbClr val="0F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572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4480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NTO_CONTENIDO">
    <p:bg>
      <p:bgPr>
        <a:solidFill>
          <a:srgbClr val="0F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Vent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2344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Vento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5146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El sistema que atiende, cobra y pone la música por ti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A9A6BD"/>
                </a:solidFill>
              </a:rPr>
              <a:t>Punto de venta con voz e inteligencia artificial para bares, restaurantes, cafeterías y tiendas.</a:t>
            </a:r>
            <a:endParaRPr lang="en-US" sz="1800" dirty="0"/>
          </a:p>
        </p:txBody>
      </p:sp>
      <p:sp>
        <p:nvSpPr>
          <p:cNvPr id="5" name="Origen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Hecho en Colombia · funciona en el celular, con o sin internet</a:t>
            </a:r>
            <a:endParaRPr lang="en-US" sz="1200" dirty="0"/>
          </a:p>
        </p:txBody>
      </p:sp>
      <p:sp>
        <p:nvSpPr>
          <p:cNvPr id="6" name="Pantalla de mesas marco"/>
          <p:cNvSpPr/>
          <p:nvPr/>
        </p:nvSpPr>
        <p:spPr>
          <a:xfrm>
            <a:off x="5925312" y="347472"/>
            <a:ext cx="2135037" cy="4471416"/>
          </a:xfrm>
          <a:prstGeom prst="roundRect">
            <a:avLst>
              <a:gd name="adj" fmla="val 9422"/>
            </a:avLst>
          </a:prstGeom>
          <a:solidFill>
            <a:srgbClr val="05050A"/>
          </a:solidFill>
          <a:ln w="19050">
            <a:solidFill>
              <a:srgbClr val="4C3A8F"/>
            </a:solidFill>
            <a:prstDash val="solid"/>
          </a:ln>
          <a:effectLst>
            <a:outerShdw sx="100000" sy="100000" kx="0" ky="0" algn="bl" rotWithShape="0" blurRad="228600" dist="25400" dir="5400000">
              <a:srgbClr val="7C3AED">
                <a:alpha val="35000"/>
              </a:srgbClr>
            </a:outerShdw>
          </a:effectLst>
        </p:spPr>
      </p:sp>
      <p:pic>
        <p:nvPicPr>
          <p:cNvPr id="7" name="Pantalla de mesa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411480"/>
            <a:ext cx="200702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Así se pierde plata todos los días</a:t>
            </a:r>
            <a:endParaRPr lang="en-US" sz="3000" dirty="0"/>
          </a:p>
        </p:txBody>
      </p:sp>
      <p:sp>
        <p:nvSpPr>
          <p:cNvPr id="3" name="Dolor 1"/>
          <p:cNvSpPr/>
          <p:nvPr/>
        </p:nvSpPr>
        <p:spPr>
          <a:xfrm>
            <a:off x="548640" y="123444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4" name="Dolor 1 círculo"/>
          <p:cNvSpPr/>
          <p:nvPr/>
        </p:nvSpPr>
        <p:spPr>
          <a:xfrm>
            <a:off x="822960" y="1554480"/>
            <a:ext cx="685800" cy="685800"/>
          </a:xfrm>
          <a:prstGeom prst="ellipse">
            <a:avLst/>
          </a:prstGeom>
          <a:solidFill>
            <a:srgbClr val="3B1F33"/>
          </a:solidFill>
          <a:ln w="12700">
            <a:solidFill>
              <a:srgbClr val="3B1F33"/>
            </a:solidFill>
            <a:prstDash val="solid"/>
          </a:ln>
        </p:spPr>
      </p:sp>
      <p:pic>
        <p:nvPicPr>
          <p:cNvPr id="5" name="Dolor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19072"/>
            <a:ext cx="356616" cy="356616"/>
          </a:xfrm>
          <a:prstGeom prst="rect">
            <a:avLst/>
          </a:prstGeom>
        </p:spPr>
      </p:pic>
      <p:sp>
        <p:nvSpPr>
          <p:cNvPr id="6" name="Dolor título 1"/>
          <p:cNvSpPr txBox="1"/>
          <p:nvPr/>
        </p:nvSpPr>
        <p:spPr>
          <a:xfrm>
            <a:off x="1737360" y="1527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en papel</a:t>
            </a:r>
            <a:endParaRPr lang="en-US" sz="1800" dirty="0"/>
          </a:p>
        </p:txBody>
      </p:sp>
      <p:sp>
        <p:nvSpPr>
          <p:cNvPr id="7" name="Dolor texto 1"/>
          <p:cNvSpPr txBox="1"/>
          <p:nvPr/>
        </p:nvSpPr>
        <p:spPr>
          <a:xfrm>
            <a:off x="173736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6BD"/>
                </a:solidFill>
              </a:rPr>
              <a:t>Se pierden, se borran o se cobran mal cuando el local se llena.</a:t>
            </a:r>
            <a:endParaRPr lang="en-US" sz="1400" dirty="0"/>
          </a:p>
        </p:txBody>
      </p:sp>
      <p:sp>
        <p:nvSpPr>
          <p:cNvPr id="8" name="Dolor 2"/>
          <p:cNvSpPr/>
          <p:nvPr/>
        </p:nvSpPr>
        <p:spPr>
          <a:xfrm>
            <a:off x="4617720" y="123444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9" name="Dolor 2 círculo"/>
          <p:cNvSpPr/>
          <p:nvPr/>
        </p:nvSpPr>
        <p:spPr>
          <a:xfrm>
            <a:off x="4892040" y="1554480"/>
            <a:ext cx="685800" cy="685800"/>
          </a:xfrm>
          <a:prstGeom prst="ellipse">
            <a:avLst/>
          </a:prstGeom>
          <a:solidFill>
            <a:srgbClr val="3B1F33"/>
          </a:solidFill>
          <a:ln w="12700">
            <a:solidFill>
              <a:srgbClr val="3B1F33"/>
            </a:solidFill>
            <a:prstDash val="solid"/>
          </a:ln>
        </p:spPr>
      </p:sp>
      <p:pic>
        <p:nvPicPr>
          <p:cNvPr id="10" name="Dolor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719072"/>
            <a:ext cx="356616" cy="356616"/>
          </a:xfrm>
          <a:prstGeom prst="rect">
            <a:avLst/>
          </a:prstGeom>
        </p:spPr>
      </p:pic>
      <p:sp>
        <p:nvSpPr>
          <p:cNvPr id="11" name="Dolor título 2"/>
          <p:cNvSpPr txBox="1"/>
          <p:nvPr/>
        </p:nvSpPr>
        <p:spPr>
          <a:xfrm>
            <a:off x="5806440" y="1527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Fiados sin control</a:t>
            </a:r>
            <a:endParaRPr lang="en-US" sz="1800" dirty="0"/>
          </a:p>
        </p:txBody>
      </p:sp>
      <p:sp>
        <p:nvSpPr>
          <p:cNvPr id="12" name="Dolor texto 2"/>
          <p:cNvSpPr txBox="1"/>
          <p:nvPr/>
        </p:nvSpPr>
        <p:spPr>
          <a:xfrm>
            <a:off x="580644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6BD"/>
                </a:solidFill>
              </a:rPr>
              <a:t>Nadie recuerda quién debe cuánto ni desde cuándo.</a:t>
            </a:r>
            <a:endParaRPr lang="en-US" sz="1400" dirty="0"/>
          </a:p>
        </p:txBody>
      </p:sp>
      <p:sp>
        <p:nvSpPr>
          <p:cNvPr id="13" name="Dolor 3"/>
          <p:cNvSpPr/>
          <p:nvPr/>
        </p:nvSpPr>
        <p:spPr>
          <a:xfrm>
            <a:off x="548640" y="301752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4" name="Dolor 3 círculo"/>
          <p:cNvSpPr/>
          <p:nvPr/>
        </p:nvSpPr>
        <p:spPr>
          <a:xfrm>
            <a:off x="822960" y="3337560"/>
            <a:ext cx="685800" cy="685800"/>
          </a:xfrm>
          <a:prstGeom prst="ellipse">
            <a:avLst/>
          </a:prstGeom>
          <a:solidFill>
            <a:srgbClr val="3B1F33"/>
          </a:solidFill>
          <a:ln w="12700">
            <a:solidFill>
              <a:srgbClr val="3B1F33"/>
            </a:solidFill>
            <a:prstDash val="solid"/>
          </a:ln>
        </p:spPr>
      </p:sp>
      <p:pic>
        <p:nvPicPr>
          <p:cNvPr id="15" name="Dolor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502152"/>
            <a:ext cx="356616" cy="356616"/>
          </a:xfrm>
          <a:prstGeom prst="rect">
            <a:avLst/>
          </a:prstGeom>
        </p:spPr>
      </p:pic>
      <p:sp>
        <p:nvSpPr>
          <p:cNvPr id="16" name="Dolor título 3"/>
          <p:cNvSpPr txBox="1"/>
          <p:nvPr/>
        </p:nvSpPr>
        <p:spPr>
          <a:xfrm>
            <a:off x="1737360" y="3310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a ojo</a:t>
            </a:r>
            <a:endParaRPr lang="en-US" sz="1800" dirty="0"/>
          </a:p>
        </p:txBody>
      </p:sp>
      <p:sp>
        <p:nvSpPr>
          <p:cNvPr id="17" name="Dolor texto 3"/>
          <p:cNvSpPr txBox="1"/>
          <p:nvPr/>
        </p:nvSpPr>
        <p:spPr>
          <a:xfrm>
            <a:off x="173736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6BD"/>
                </a:solidFill>
              </a:rPr>
              <a:t>Se acaba la cerveza en plena noche y nadie avisó.</a:t>
            </a:r>
            <a:endParaRPr lang="en-US" sz="1400" dirty="0"/>
          </a:p>
        </p:txBody>
      </p:sp>
      <p:sp>
        <p:nvSpPr>
          <p:cNvPr id="18" name="Dolor 4"/>
          <p:cNvSpPr/>
          <p:nvPr/>
        </p:nvSpPr>
        <p:spPr>
          <a:xfrm>
            <a:off x="4617720" y="301752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9" name="Dolor 4 círculo"/>
          <p:cNvSpPr/>
          <p:nvPr/>
        </p:nvSpPr>
        <p:spPr>
          <a:xfrm>
            <a:off x="4892040" y="3337560"/>
            <a:ext cx="685800" cy="685800"/>
          </a:xfrm>
          <a:prstGeom prst="ellipse">
            <a:avLst/>
          </a:prstGeom>
          <a:solidFill>
            <a:srgbClr val="3B1F33"/>
          </a:solidFill>
          <a:ln w="12700">
            <a:solidFill>
              <a:srgbClr val="3B1F33"/>
            </a:solidFill>
            <a:prstDash val="solid"/>
          </a:ln>
        </p:spPr>
      </p:sp>
      <p:pic>
        <p:nvPicPr>
          <p:cNvPr id="20" name="Dolor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502152"/>
            <a:ext cx="356616" cy="356616"/>
          </a:xfrm>
          <a:prstGeom prst="rect">
            <a:avLst/>
          </a:prstGeom>
        </p:spPr>
      </p:pic>
      <p:sp>
        <p:nvSpPr>
          <p:cNvPr id="21" name="Dolor título 4"/>
          <p:cNvSpPr txBox="1"/>
          <p:nvPr/>
        </p:nvSpPr>
        <p:spPr>
          <a:xfrm>
            <a:off x="5806440" y="3310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Música sin control</a:t>
            </a:r>
            <a:endParaRPr lang="en-US" sz="1800" dirty="0"/>
          </a:p>
        </p:txBody>
      </p:sp>
      <p:sp>
        <p:nvSpPr>
          <p:cNvPr id="22" name="Dolor texto 4"/>
          <p:cNvSpPr txBox="1"/>
          <p:nvPr/>
        </p:nvSpPr>
        <p:spPr>
          <a:xfrm>
            <a:off x="580644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6BD"/>
                </a:solidFill>
              </a:rPr>
              <a:t>La pone quien tenga el celular; los clientes no pueden pedir.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Todo el negocio en un solo celular</a:t>
            </a:r>
            <a:endParaRPr lang="en-US" sz="3000" dirty="0"/>
          </a:p>
        </p:txBody>
      </p:sp>
      <p:sp>
        <p:nvSpPr>
          <p:cNvPr id="3" name="Pilar 1"/>
          <p:cNvSpPr/>
          <p:nvPr/>
        </p:nvSpPr>
        <p:spPr>
          <a:xfrm>
            <a:off x="548640" y="1188720"/>
            <a:ext cx="2542032" cy="1600200"/>
          </a:xfrm>
          <a:prstGeom prst="roundRect">
            <a:avLst>
              <a:gd name="adj" fmla="val 6857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4" name="Pilar 1 círculo"/>
          <p:cNvSpPr/>
          <p:nvPr/>
        </p:nvSpPr>
        <p:spPr>
          <a:xfrm>
            <a:off x="777240" y="141732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Pilar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1553383"/>
            <a:ext cx="294803" cy="294803"/>
          </a:xfrm>
          <a:prstGeom prst="rect">
            <a:avLst/>
          </a:prstGeom>
        </p:spPr>
      </p:pic>
      <p:sp>
        <p:nvSpPr>
          <p:cNvPr id="6" name="Pilar título 1"/>
          <p:cNvSpPr txBox="1"/>
          <p:nvPr/>
        </p:nvSpPr>
        <p:spPr>
          <a:xfrm>
            <a:off x="777240" y="20756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Mesas y cuentas</a:t>
            </a:r>
            <a:endParaRPr lang="en-US" sz="1600" dirty="0"/>
          </a:p>
        </p:txBody>
      </p:sp>
      <p:sp>
        <p:nvSpPr>
          <p:cNvPr id="7" name="Pilar texto 1"/>
          <p:cNvSpPr txBox="1"/>
          <p:nvPr/>
        </p:nvSpPr>
        <p:spPr>
          <a:xfrm>
            <a:off x="7772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Personas, abonos y cobro con un toque</a:t>
            </a:r>
            <a:endParaRPr lang="en-US" sz="1200" dirty="0"/>
          </a:p>
        </p:txBody>
      </p:sp>
      <p:sp>
        <p:nvSpPr>
          <p:cNvPr id="8" name="Pilar 2"/>
          <p:cNvSpPr/>
          <p:nvPr/>
        </p:nvSpPr>
        <p:spPr>
          <a:xfrm>
            <a:off x="3264408" y="1188720"/>
            <a:ext cx="2542032" cy="1600200"/>
          </a:xfrm>
          <a:prstGeom prst="roundRect">
            <a:avLst>
              <a:gd name="adj" fmla="val 6857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9" name="Pilar 2 círculo"/>
          <p:cNvSpPr/>
          <p:nvPr/>
        </p:nvSpPr>
        <p:spPr>
          <a:xfrm>
            <a:off x="3493008" y="141732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Pilar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071" y="1553383"/>
            <a:ext cx="294803" cy="294803"/>
          </a:xfrm>
          <a:prstGeom prst="rect">
            <a:avLst/>
          </a:prstGeom>
        </p:spPr>
      </p:pic>
      <p:sp>
        <p:nvSpPr>
          <p:cNvPr id="11" name="Pilar título 2"/>
          <p:cNvSpPr txBox="1"/>
          <p:nvPr/>
        </p:nvSpPr>
        <p:spPr>
          <a:xfrm>
            <a:off x="3493008" y="20756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por voz</a:t>
            </a:r>
            <a:endParaRPr lang="en-US" sz="1600" dirty="0"/>
          </a:p>
        </p:txBody>
      </p:sp>
      <p:sp>
        <p:nvSpPr>
          <p:cNvPr id="12" name="Pilar texto 2"/>
          <p:cNvSpPr txBox="1"/>
          <p:nvPr/>
        </p:nvSpPr>
        <p:spPr>
          <a:xfrm>
            <a:off x="3493008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«Mesa 3, dos Póker» y queda anotado</a:t>
            </a:r>
            <a:endParaRPr lang="en-US" sz="1200" dirty="0"/>
          </a:p>
        </p:txBody>
      </p:sp>
      <p:sp>
        <p:nvSpPr>
          <p:cNvPr id="13" name="Pilar 3"/>
          <p:cNvSpPr/>
          <p:nvPr/>
        </p:nvSpPr>
        <p:spPr>
          <a:xfrm>
            <a:off x="5980176" y="1188720"/>
            <a:ext cx="2542032" cy="1600200"/>
          </a:xfrm>
          <a:prstGeom prst="roundRect">
            <a:avLst>
              <a:gd name="adj" fmla="val 6857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4" name="Pilar 3 círculo"/>
          <p:cNvSpPr/>
          <p:nvPr/>
        </p:nvSpPr>
        <p:spPr>
          <a:xfrm>
            <a:off x="6208776" y="141732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Pilar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839" y="1553383"/>
            <a:ext cx="294803" cy="294803"/>
          </a:xfrm>
          <a:prstGeom prst="rect">
            <a:avLst/>
          </a:prstGeom>
        </p:spPr>
      </p:pic>
      <p:sp>
        <p:nvSpPr>
          <p:cNvPr id="16" name="Pilar título 3"/>
          <p:cNvSpPr txBox="1"/>
          <p:nvPr/>
        </p:nvSpPr>
        <p:spPr>
          <a:xfrm>
            <a:off x="6208776" y="20756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Vento IA</a:t>
            </a:r>
            <a:endParaRPr lang="en-US" sz="1600" dirty="0"/>
          </a:p>
        </p:txBody>
      </p:sp>
      <p:sp>
        <p:nvSpPr>
          <p:cNvPr id="17" name="Pilar texto 3"/>
          <p:cNvSpPr txBox="1"/>
          <p:nvPr/>
        </p:nvSpPr>
        <p:spPr>
          <a:xfrm>
            <a:off x="6208776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Lee facturas y responde con tus datos</a:t>
            </a:r>
            <a:endParaRPr lang="en-US" sz="1200" dirty="0"/>
          </a:p>
        </p:txBody>
      </p:sp>
      <p:sp>
        <p:nvSpPr>
          <p:cNvPr id="18" name="Pilar 4"/>
          <p:cNvSpPr/>
          <p:nvPr/>
        </p:nvSpPr>
        <p:spPr>
          <a:xfrm>
            <a:off x="548640" y="2971800"/>
            <a:ext cx="2542032" cy="1600200"/>
          </a:xfrm>
          <a:prstGeom prst="roundRect">
            <a:avLst>
              <a:gd name="adj" fmla="val 6857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9" name="Pilar 4 círculo"/>
          <p:cNvSpPr/>
          <p:nvPr/>
        </p:nvSpPr>
        <p:spPr>
          <a:xfrm>
            <a:off x="777240" y="320040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Pilar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03" y="3336463"/>
            <a:ext cx="294803" cy="294803"/>
          </a:xfrm>
          <a:prstGeom prst="rect">
            <a:avLst/>
          </a:prstGeom>
        </p:spPr>
      </p:pic>
      <p:sp>
        <p:nvSpPr>
          <p:cNvPr id="21" name="Pilar título 4"/>
          <p:cNvSpPr txBox="1"/>
          <p:nvPr/>
        </p:nvSpPr>
        <p:spPr>
          <a:xfrm>
            <a:off x="777240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por QR</a:t>
            </a:r>
            <a:endParaRPr lang="en-US" sz="1600" dirty="0"/>
          </a:p>
        </p:txBody>
      </p:sp>
      <p:sp>
        <p:nvSpPr>
          <p:cNvPr id="22" name="Pilar texto 4"/>
          <p:cNvSpPr txBox="1"/>
          <p:nvPr/>
        </p:nvSpPr>
        <p:spPr>
          <a:xfrm>
            <a:off x="77724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El cliente pide desde su mesa</a:t>
            </a:r>
            <a:endParaRPr lang="en-US" sz="1200" dirty="0"/>
          </a:p>
        </p:txBody>
      </p:sp>
      <p:sp>
        <p:nvSpPr>
          <p:cNvPr id="23" name="Pilar 5"/>
          <p:cNvSpPr/>
          <p:nvPr/>
        </p:nvSpPr>
        <p:spPr>
          <a:xfrm>
            <a:off x="3264408" y="2971800"/>
            <a:ext cx="2542032" cy="1600200"/>
          </a:xfrm>
          <a:prstGeom prst="roundRect">
            <a:avLst>
              <a:gd name="adj" fmla="val 6857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4" name="Pilar 5 círculo"/>
          <p:cNvSpPr/>
          <p:nvPr/>
        </p:nvSpPr>
        <p:spPr>
          <a:xfrm>
            <a:off x="3493008" y="320040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Pilar 5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071" y="3336463"/>
            <a:ext cx="294803" cy="294803"/>
          </a:xfrm>
          <a:prstGeom prst="rect">
            <a:avLst/>
          </a:prstGeom>
        </p:spPr>
      </p:pic>
      <p:sp>
        <p:nvSpPr>
          <p:cNvPr id="26" name="Pilar título 5"/>
          <p:cNvSpPr txBox="1"/>
          <p:nvPr/>
        </p:nvSpPr>
        <p:spPr>
          <a:xfrm>
            <a:off x="3493008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Música en el TV</a:t>
            </a:r>
            <a:endParaRPr lang="en-US" sz="1600" dirty="0"/>
          </a:p>
        </p:txBody>
      </p:sp>
      <p:sp>
        <p:nvSpPr>
          <p:cNvPr id="27" name="Pilar texto 5"/>
          <p:cNvSpPr txBox="1"/>
          <p:nvPr/>
        </p:nvSpPr>
        <p:spPr>
          <a:xfrm>
            <a:off x="3493008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Los clientes eligen; suena sola en YouTube</a:t>
            </a:r>
            <a:endParaRPr lang="en-US" sz="1200" dirty="0"/>
          </a:p>
        </p:txBody>
      </p:sp>
      <p:sp>
        <p:nvSpPr>
          <p:cNvPr id="28" name="Pilar 6"/>
          <p:cNvSpPr/>
          <p:nvPr/>
        </p:nvSpPr>
        <p:spPr>
          <a:xfrm>
            <a:off x="5980176" y="2971800"/>
            <a:ext cx="2542032" cy="1600200"/>
          </a:xfrm>
          <a:prstGeom prst="roundRect">
            <a:avLst>
              <a:gd name="adj" fmla="val 6857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9" name="Pilar 6 círculo"/>
          <p:cNvSpPr/>
          <p:nvPr/>
        </p:nvSpPr>
        <p:spPr>
          <a:xfrm>
            <a:off x="6208776" y="320040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0" name="Pilar 6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4839" y="3336463"/>
            <a:ext cx="294803" cy="294803"/>
          </a:xfrm>
          <a:prstGeom prst="rect">
            <a:avLst/>
          </a:prstGeom>
        </p:spPr>
      </p:pic>
      <p:sp>
        <p:nvSpPr>
          <p:cNvPr id="31" name="Pilar título 6"/>
          <p:cNvSpPr txBox="1"/>
          <p:nvPr/>
        </p:nvSpPr>
        <p:spPr>
          <a:xfrm>
            <a:off x="6208776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</a:t>
            </a:r>
            <a:endParaRPr lang="en-US" sz="1600" dirty="0"/>
          </a:p>
        </p:txBody>
      </p:sp>
      <p:sp>
        <p:nvSpPr>
          <p:cNvPr id="32" name="Pilar texto 6"/>
          <p:cNvSpPr txBox="1"/>
          <p:nvPr/>
        </p:nvSpPr>
        <p:spPr>
          <a:xfrm>
            <a:off x="6208776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Stock al día y avisos de agotados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Cobrar nunca fue tan fácil</a:t>
            </a:r>
            <a:endParaRPr lang="en-US" sz="3000" dirty="0"/>
          </a:p>
        </p:txBody>
      </p:sp>
      <p:sp>
        <p:nvSpPr>
          <p:cNvPr id="3" name="Tarjeta de pago marco"/>
          <p:cNvSpPr/>
          <p:nvPr/>
        </p:nvSpPr>
        <p:spPr>
          <a:xfrm>
            <a:off x="621792" y="1078992"/>
            <a:ext cx="1818139" cy="3785616"/>
          </a:xfrm>
          <a:prstGeom prst="roundRect">
            <a:avLst>
              <a:gd name="adj" fmla="val 11065"/>
            </a:avLst>
          </a:prstGeom>
          <a:solidFill>
            <a:srgbClr val="05050A"/>
          </a:solidFill>
          <a:ln w="19050">
            <a:solidFill>
              <a:srgbClr val="4C3A8F"/>
            </a:solidFill>
            <a:prstDash val="solid"/>
          </a:ln>
          <a:effectLst>
            <a:outerShdw sx="100000" sy="100000" kx="0" ky="0" algn="bl" rotWithShape="0" blurRad="228600" dist="25400" dir="5400000">
              <a:srgbClr val="7C3AED">
                <a:alpha val="35000"/>
              </a:srgbClr>
            </a:outerShdw>
          </a:effectLst>
        </p:spPr>
      </p:sp>
      <p:pic>
        <p:nvPicPr>
          <p:cNvPr id="4" name="Tarjeta de pa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1690123" cy="3657600"/>
          </a:xfrm>
          <a:prstGeom prst="rect">
            <a:avLst/>
          </a:prstGeom>
        </p:spPr>
      </p:pic>
      <p:sp>
        <p:nvSpPr>
          <p:cNvPr id="5" name="Cobro 1 círculo"/>
          <p:cNvSpPr/>
          <p:nvPr/>
        </p:nvSpPr>
        <p:spPr>
          <a:xfrm>
            <a:off x="2971800" y="11430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Cobro 1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474" y="1274674"/>
            <a:ext cx="285293" cy="285293"/>
          </a:xfrm>
          <a:prstGeom prst="rect">
            <a:avLst/>
          </a:prstGeom>
        </p:spPr>
      </p:pic>
      <p:sp>
        <p:nvSpPr>
          <p:cNvPr id="7" name="Cobro título 1"/>
          <p:cNvSpPr txBox="1"/>
          <p:nvPr/>
        </p:nvSpPr>
        <p:spPr>
          <a:xfrm>
            <a:off x="3703320" y="1124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persona con su cuenta</a:t>
            </a:r>
            <a:endParaRPr lang="en-US" sz="1600" dirty="0"/>
          </a:p>
        </p:txBody>
      </p:sp>
      <p:sp>
        <p:nvSpPr>
          <p:cNvPr id="8" name="Cobro texto 1"/>
          <p:cNvSpPr txBox="1"/>
          <p:nvPr/>
        </p:nvSpPr>
        <p:spPr>
          <a:xfrm>
            <a:off x="3703320" y="1417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Agrega a Ana o a Luis y cada uno paga lo suyo.</a:t>
            </a:r>
            <a:endParaRPr lang="en-US" sz="1300" dirty="0"/>
          </a:p>
        </p:txBody>
      </p:sp>
      <p:sp>
        <p:nvSpPr>
          <p:cNvPr id="9" name="Cobro 2 círculo"/>
          <p:cNvSpPr/>
          <p:nvPr/>
        </p:nvSpPr>
        <p:spPr>
          <a:xfrm>
            <a:off x="2971800" y="20574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Cobro 2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474" y="2189074"/>
            <a:ext cx="285293" cy="285293"/>
          </a:xfrm>
          <a:prstGeom prst="rect">
            <a:avLst/>
          </a:prstGeom>
        </p:spPr>
      </p:pic>
      <p:sp>
        <p:nvSpPr>
          <p:cNvPr id="11" name="Cobro título 2"/>
          <p:cNvSpPr txBox="1"/>
          <p:nvPr/>
        </p:nvSpPr>
        <p:spPr>
          <a:xfrm>
            <a:off x="3703320" y="20391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Abonos y cuenta dividida</a:t>
            </a:r>
            <a:endParaRPr lang="en-US" sz="1600" dirty="0"/>
          </a:p>
        </p:txBody>
      </p:sp>
      <p:sp>
        <p:nvSpPr>
          <p:cNvPr id="12" name="Cobro texto 2"/>
          <p:cNvSpPr txBox="1"/>
          <p:nvPr/>
        </p:nvSpPr>
        <p:spPr>
          <a:xfrm>
            <a:off x="370332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Elige entre cuántos se divide y Vento dice cuánto le toca a cada uno.</a:t>
            </a:r>
            <a:endParaRPr lang="en-US" sz="1300" dirty="0"/>
          </a:p>
        </p:txBody>
      </p:sp>
      <p:sp>
        <p:nvSpPr>
          <p:cNvPr id="13" name="Cobro 3 círculo"/>
          <p:cNvSpPr/>
          <p:nvPr/>
        </p:nvSpPr>
        <p:spPr>
          <a:xfrm>
            <a:off x="2971800" y="29718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Cobro 3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474" y="3103474"/>
            <a:ext cx="285293" cy="285293"/>
          </a:xfrm>
          <a:prstGeom prst="rect">
            <a:avLst/>
          </a:prstGeom>
        </p:spPr>
      </p:pic>
      <p:sp>
        <p:nvSpPr>
          <p:cNvPr id="15" name="Cobro título 3"/>
          <p:cNvSpPr txBox="1"/>
          <p:nvPr/>
        </p:nvSpPr>
        <p:spPr>
          <a:xfrm>
            <a:off x="3703320" y="29535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Efectivo, Nequi o fiado</a:t>
            </a:r>
            <a:endParaRPr lang="en-US" sz="1600" dirty="0"/>
          </a:p>
        </p:txBody>
      </p:sp>
      <p:sp>
        <p:nvSpPr>
          <p:cNvPr id="16" name="Cobro texto 3"/>
          <p:cNvSpPr txBox="1"/>
          <p:nvPr/>
        </p:nvSpPr>
        <p:spPr>
          <a:xfrm>
            <a:off x="370332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Comprobantes de transferencia verificados y fiados en la libreta.</a:t>
            </a:r>
            <a:endParaRPr lang="en-US" sz="1300" dirty="0"/>
          </a:p>
        </p:txBody>
      </p:sp>
      <p:sp>
        <p:nvSpPr>
          <p:cNvPr id="17" name="Cobro 4 círculo"/>
          <p:cNvSpPr/>
          <p:nvPr/>
        </p:nvSpPr>
        <p:spPr>
          <a:xfrm>
            <a:off x="2971800" y="38862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Cobro 4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3474" y="4017874"/>
            <a:ext cx="285293" cy="285293"/>
          </a:xfrm>
          <a:prstGeom prst="rect">
            <a:avLst/>
          </a:prstGeom>
        </p:spPr>
      </p:pic>
      <p:sp>
        <p:nvSpPr>
          <p:cNvPr id="19" name="Cobro título 4"/>
          <p:cNvSpPr txBox="1"/>
          <p:nvPr/>
        </p:nvSpPr>
        <p:spPr>
          <a:xfrm>
            <a:off x="3703320" y="3867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 y libera con un toque</a:t>
            </a:r>
            <a:endParaRPr lang="en-US" sz="1600" dirty="0"/>
          </a:p>
        </p:txBody>
      </p:sp>
      <p:sp>
        <p:nvSpPr>
          <p:cNvPr id="20" name="Cobro texto 4"/>
          <p:cNvSpPr txBox="1"/>
          <p:nvPr/>
        </p:nvSpPr>
        <p:spPr>
          <a:xfrm>
            <a:off x="370332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Cierre de caja automático y recibo por WhatsApp o impreso.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Cobros directos, sin comisión</a:t>
            </a:r>
            <a:endParaRPr lang="en-US" sz="3000" dirty="0"/>
          </a:p>
        </p:txBody>
      </p:sp>
      <p:sp>
        <p:nvSpPr>
          <p:cNvPr id="3" name="Etiqueta disponible fondo"/>
          <p:cNvSpPr/>
          <p:nvPr/>
        </p:nvSpPr>
        <p:spPr>
          <a:xfrm>
            <a:off x="6263640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1326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Etiqueta disponible"/>
          <p:cNvSpPr txBox="1"/>
          <p:nvPr/>
        </p:nvSpPr>
        <p:spPr>
          <a:xfrm>
            <a:off x="6263640" y="4572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YA DISPONIBLE EN VENTO</a:t>
            </a:r>
            <a:endParaRPr lang="en-US" sz="900" dirty="0"/>
          </a:p>
        </p:txBody>
      </p:sp>
      <p:sp>
        <p:nvSpPr>
          <p:cNvPr id="5" name="Paso cobro 1"/>
          <p:cNvSpPr/>
          <p:nvPr/>
        </p:nvSpPr>
        <p:spPr>
          <a:xfrm>
            <a:off x="548640" y="1188720"/>
            <a:ext cx="2377440" cy="1783080"/>
          </a:xfrm>
          <a:prstGeom prst="roundRect">
            <a:avLst>
              <a:gd name="adj" fmla="val 6154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6" name="Paso cobro 1 círculo"/>
          <p:cNvSpPr/>
          <p:nvPr/>
        </p:nvSpPr>
        <p:spPr>
          <a:xfrm>
            <a:off x="749808" y="13716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Paso cobro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503274"/>
            <a:ext cx="285293" cy="285293"/>
          </a:xfrm>
          <a:prstGeom prst="rect">
            <a:avLst/>
          </a:prstGeom>
        </p:spPr>
      </p:pic>
      <p:sp>
        <p:nvSpPr>
          <p:cNvPr id="8" name="Paso cobro título 1"/>
          <p:cNvSpPr txBox="1"/>
          <p:nvPr/>
        </p:nvSpPr>
        <p:spPr>
          <a:xfrm>
            <a:off x="749808" y="20116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Muestra tu QR</a:t>
            </a:r>
            <a:endParaRPr lang="en-US" sz="1400" dirty="0"/>
          </a:p>
        </p:txBody>
      </p:sp>
      <p:sp>
        <p:nvSpPr>
          <p:cNvPr id="9" name="Paso cobro texto 1"/>
          <p:cNvSpPr txBox="1"/>
          <p:nvPr/>
        </p:nvSpPr>
        <p:spPr>
          <a:xfrm>
            <a:off x="749808" y="23134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Tu QR de Nequi o Bre-B sale en la cuenta y en el recibo.</a:t>
            </a:r>
            <a:endParaRPr lang="en-US" sz="1150" dirty="0"/>
          </a:p>
        </p:txBody>
      </p:sp>
      <p:pic>
        <p:nvPicPr>
          <p:cNvPr id="10" name="Flech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944" y="1965960"/>
            <a:ext cx="228600" cy="228600"/>
          </a:xfrm>
          <a:prstGeom prst="rect">
            <a:avLst/>
          </a:prstGeom>
        </p:spPr>
      </p:pic>
      <p:sp>
        <p:nvSpPr>
          <p:cNvPr id="11" name="Paso cobro 2"/>
          <p:cNvSpPr/>
          <p:nvPr/>
        </p:nvSpPr>
        <p:spPr>
          <a:xfrm>
            <a:off x="3264408" y="1188720"/>
            <a:ext cx="2377440" cy="1783080"/>
          </a:xfrm>
          <a:prstGeom prst="roundRect">
            <a:avLst>
              <a:gd name="adj" fmla="val 6154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2" name="Paso cobro 2 círculo"/>
          <p:cNvSpPr/>
          <p:nvPr/>
        </p:nvSpPr>
        <p:spPr>
          <a:xfrm>
            <a:off x="3465576" y="13716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Paso cobro 2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250" y="1503274"/>
            <a:ext cx="285293" cy="285293"/>
          </a:xfrm>
          <a:prstGeom prst="rect">
            <a:avLst/>
          </a:prstGeom>
        </p:spPr>
      </p:pic>
      <p:sp>
        <p:nvSpPr>
          <p:cNvPr id="14" name="Paso cobro título 2"/>
          <p:cNvSpPr txBox="1"/>
          <p:nvPr/>
        </p:nvSpPr>
        <p:spPr>
          <a:xfrm>
            <a:off x="3465576" y="20116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El cliente paga</a:t>
            </a:r>
            <a:endParaRPr lang="en-US" sz="1400" dirty="0"/>
          </a:p>
        </p:txBody>
      </p:sp>
      <p:sp>
        <p:nvSpPr>
          <p:cNvPr id="15" name="Paso cobro texto 2"/>
          <p:cNvSpPr txBox="1"/>
          <p:nvPr/>
        </p:nvSpPr>
        <p:spPr>
          <a:xfrm>
            <a:off x="3465576" y="23134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Con Nequi, Daviplata o Bre-B, desde su app.</a:t>
            </a:r>
            <a:endParaRPr lang="en-US" sz="1150" dirty="0"/>
          </a:p>
        </p:txBody>
      </p:sp>
      <p:pic>
        <p:nvPicPr>
          <p:cNvPr id="16" name="Flech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1965960"/>
            <a:ext cx="228600" cy="228600"/>
          </a:xfrm>
          <a:prstGeom prst="rect">
            <a:avLst/>
          </a:prstGeom>
        </p:spPr>
      </p:pic>
      <p:sp>
        <p:nvSpPr>
          <p:cNvPr id="17" name="Paso cobro 3"/>
          <p:cNvSpPr/>
          <p:nvPr/>
        </p:nvSpPr>
        <p:spPr>
          <a:xfrm>
            <a:off x="5980176" y="1188720"/>
            <a:ext cx="2377440" cy="1783080"/>
          </a:xfrm>
          <a:prstGeom prst="roundRect">
            <a:avLst>
              <a:gd name="adj" fmla="val 6154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8" name="Paso cobro 3 círculo"/>
          <p:cNvSpPr/>
          <p:nvPr/>
        </p:nvSpPr>
        <p:spPr>
          <a:xfrm>
            <a:off x="6181344" y="13716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Paso cobro 3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018" y="1503274"/>
            <a:ext cx="285293" cy="285293"/>
          </a:xfrm>
          <a:prstGeom prst="rect">
            <a:avLst/>
          </a:prstGeom>
        </p:spPr>
      </p:pic>
      <p:sp>
        <p:nvSpPr>
          <p:cNvPr id="20" name="Paso cobro título 3"/>
          <p:cNvSpPr txBox="1"/>
          <p:nvPr/>
        </p:nvSpPr>
        <p:spPr>
          <a:xfrm>
            <a:off x="6181344" y="20116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Vento lo confirma</a:t>
            </a:r>
            <a:endParaRPr lang="en-US" sz="1400" dirty="0"/>
          </a:p>
        </p:txBody>
      </p:sp>
      <p:sp>
        <p:nvSpPr>
          <p:cNvPr id="21" name="Paso cobro texto 3"/>
          <p:cNvSpPr txBox="1"/>
          <p:nvPr/>
        </p:nvSpPr>
        <p:spPr>
          <a:xfrm>
            <a:off x="6181344" y="23134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Llega el aviso del banco: dice cuánto, de quién y de qué mesa.</a:t>
            </a:r>
            <a:endParaRPr lang="en-US" sz="1150" dirty="0"/>
          </a:p>
        </p:txBody>
      </p:sp>
      <p:sp>
        <p:nvSpPr>
          <p:cNvPr id="22" name="Ventaja 1"/>
          <p:cNvSpPr/>
          <p:nvPr/>
        </p:nvSpPr>
        <p:spPr>
          <a:xfrm>
            <a:off x="548640" y="32004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13261F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3" name="Ventaja cifra 1"/>
          <p:cNvSpPr txBox="1"/>
          <p:nvPr/>
        </p:nvSpPr>
        <p:spPr>
          <a:xfrm>
            <a:off x="713232" y="3310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</a:t>
            </a:r>
            <a:endParaRPr lang="en-US" sz="3000" dirty="0"/>
          </a:p>
        </p:txBody>
      </p:sp>
      <p:sp>
        <p:nvSpPr>
          <p:cNvPr id="24" name="Ventaja texto 1"/>
          <p:cNvSpPr txBox="1"/>
          <p:nvPr/>
        </p:nvSpPr>
        <p:spPr>
          <a:xfrm>
            <a:off x="713232" y="38404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de comisión de Vento por venta</a:t>
            </a:r>
            <a:endParaRPr lang="en-US" sz="1100" dirty="0"/>
          </a:p>
        </p:txBody>
      </p:sp>
      <p:sp>
        <p:nvSpPr>
          <p:cNvPr id="25" name="Ventaja 2"/>
          <p:cNvSpPr/>
          <p:nvPr/>
        </p:nvSpPr>
        <p:spPr>
          <a:xfrm>
            <a:off x="2578608" y="32004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13261F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6" name="Ventaja cifra 2"/>
          <p:cNvSpPr txBox="1"/>
          <p:nvPr/>
        </p:nvSpPr>
        <p:spPr>
          <a:xfrm>
            <a:off x="2743200" y="3310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000" dirty="0"/>
          </a:p>
        </p:txBody>
      </p:sp>
      <p:sp>
        <p:nvSpPr>
          <p:cNvPr id="27" name="Ventaja texto 2"/>
          <p:cNvSpPr txBox="1"/>
          <p:nvPr/>
        </p:nvSpPr>
        <p:spPr>
          <a:xfrm>
            <a:off x="2743200" y="38404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por verificar cada pago</a:t>
            </a:r>
            <a:endParaRPr lang="en-US" sz="1100" dirty="0"/>
          </a:p>
        </p:txBody>
      </p:sp>
      <p:sp>
        <p:nvSpPr>
          <p:cNvPr id="28" name="Ventaja 3"/>
          <p:cNvSpPr/>
          <p:nvPr/>
        </p:nvSpPr>
        <p:spPr>
          <a:xfrm>
            <a:off x="4608576" y="32004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13261F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9" name="Ventaja cifra 3"/>
          <p:cNvSpPr txBox="1"/>
          <p:nvPr/>
        </p:nvSpPr>
        <p:spPr>
          <a:xfrm>
            <a:off x="4773168" y="3310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</a:t>
            </a:r>
            <a:endParaRPr lang="en-US" sz="2200" dirty="0"/>
          </a:p>
        </p:txBody>
      </p:sp>
      <p:sp>
        <p:nvSpPr>
          <p:cNvPr id="30" name="Ventaja texto 3"/>
          <p:cNvSpPr txBox="1"/>
          <p:nvPr/>
        </p:nvSpPr>
        <p:spPr>
          <a:xfrm>
            <a:off x="4773168" y="38404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el dinero llega a tu cuenta, sin intermediarios</a:t>
            </a:r>
            <a:endParaRPr lang="en-US" sz="1100" dirty="0"/>
          </a:p>
        </p:txBody>
      </p:sp>
      <p:sp>
        <p:nvSpPr>
          <p:cNvPr id="31" name="Ventaja 4"/>
          <p:cNvSpPr/>
          <p:nvPr/>
        </p:nvSpPr>
        <p:spPr>
          <a:xfrm>
            <a:off x="6638544" y="32004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13261F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32" name="Ventaja cifra 4"/>
          <p:cNvSpPr txBox="1"/>
          <p:nvPr/>
        </p:nvSpPr>
        <p:spPr>
          <a:xfrm>
            <a:off x="6803136" y="3310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</a:t>
            </a:r>
            <a:endParaRPr lang="en-US" sz="2200" dirty="0"/>
          </a:p>
        </p:txBody>
      </p:sp>
      <p:sp>
        <p:nvSpPr>
          <p:cNvPr id="33" name="Ventaja texto 4"/>
          <p:cNvSpPr txBox="1"/>
          <p:nvPr/>
        </p:nvSpPr>
        <p:spPr>
          <a:xfrm>
            <a:off x="6803136" y="38404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de SMS falsos y comprobantes repetidos o editados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Adiós a los pagos falsos</a:t>
            </a:r>
            <a:endParaRPr lang="en-US" sz="3000" dirty="0"/>
          </a:p>
        </p:txBody>
      </p:sp>
      <p:sp>
        <p:nvSpPr>
          <p:cNvPr id="3" name="Etiqueta disponible fondo"/>
          <p:cNvSpPr/>
          <p:nvPr/>
        </p:nvSpPr>
        <p:spPr>
          <a:xfrm>
            <a:off x="6263640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1326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Etiqueta disponible"/>
          <p:cNvSpPr txBox="1"/>
          <p:nvPr/>
        </p:nvSpPr>
        <p:spPr>
          <a:xfrm>
            <a:off x="6263640" y="4572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YA DISPONIBLE EN VENTO</a:t>
            </a:r>
            <a:endParaRPr lang="en-US" sz="900" dirty="0"/>
          </a:p>
        </p:txBody>
      </p:sp>
      <p:sp>
        <p:nvSpPr>
          <p:cNvPr id="5" name="Ejemplo comprobante"/>
          <p:cNvSpPr/>
          <p:nvPr/>
        </p:nvSpPr>
        <p:spPr>
          <a:xfrm>
            <a:off x="548640" y="118872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6" name="Ejemplo cabecera"/>
          <p:cNvSpPr/>
          <p:nvPr/>
        </p:nvSpPr>
        <p:spPr>
          <a:xfrm>
            <a:off x="548640" y="1188720"/>
            <a:ext cx="3246120" cy="457200"/>
          </a:xfrm>
          <a:prstGeom prst="roundRect">
            <a:avLst>
              <a:gd name="adj" fmla="val 24000"/>
            </a:avLst>
          </a:prstGeom>
          <a:solidFill>
            <a:srgbClr val="3B1F2B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Ejemplo veredicto"/>
          <p:cNvSpPr txBox="1"/>
          <p:nvPr/>
        </p:nvSpPr>
        <p:spPr>
          <a:xfrm>
            <a:off x="548640" y="1188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NO LO ACEPTES</a:t>
            </a:r>
            <a:endParaRPr lang="en-US" sz="1600" dirty="0"/>
          </a:p>
        </p:txBody>
      </p:sp>
      <p:sp>
        <p:nvSpPr>
          <p:cNvPr id="8" name="Ejemplo valor"/>
          <p:cNvSpPr txBox="1"/>
          <p:nvPr/>
        </p:nvSpPr>
        <p:spPr>
          <a:xfrm>
            <a:off x="548640" y="17830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$45.000</a:t>
            </a:r>
            <a:endParaRPr lang="en-US" sz="3200" dirty="0"/>
          </a:p>
        </p:txBody>
      </p:sp>
      <p:sp>
        <p:nvSpPr>
          <p:cNvPr id="9" name="Ejemplo datos"/>
          <p:cNvSpPr txBox="1"/>
          <p:nvPr/>
        </p:nvSpPr>
        <p:spPr>
          <a:xfrm>
            <a:off x="548640" y="2331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Nequi · Ref. M1234567 · hoy 9:42 p. m.</a:t>
            </a:r>
            <a:endParaRPr lang="en-US" sz="1100" dirty="0"/>
          </a:p>
        </p:txBody>
      </p:sp>
      <p:sp>
        <p:nvSpPr>
          <p:cNvPr id="10" name="Ejemplo motivos"/>
          <p:cNvSpPr txBox="1"/>
          <p:nvPr/>
        </p:nvSpPr>
        <p:spPr>
          <a:xfrm>
            <a:off x="777240" y="27889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2F1F7"/>
                </a:solidFill>
              </a:rPr>
              <a:t>Este comprobante YA SE USÓ en la Mesa 2 (misma referencia).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2F1F7"/>
                </a:solidFill>
              </a:rPr>
              <a:t>Vento lo leyó del pantallazo, sin internet, y lo cruzó con los pagos que de verdad llegaron.</a:t>
            </a:r>
            <a:endParaRPr lang="en-US" sz="1200" dirty="0"/>
          </a:p>
        </p:txBody>
      </p:sp>
      <p:sp>
        <p:nvSpPr>
          <p:cNvPr id="11" name="Chequeo 1 círculo"/>
          <p:cNvSpPr/>
          <p:nvPr/>
        </p:nvSpPr>
        <p:spPr>
          <a:xfrm>
            <a:off x="4069080" y="1188720"/>
            <a:ext cx="457200" cy="457200"/>
          </a:xfrm>
          <a:prstGeom prst="ellipse">
            <a:avLst/>
          </a:prstGeom>
          <a:solidFill>
            <a:srgbClr val="262338"/>
          </a:solidFill>
          <a:ln w="12700">
            <a:solidFill>
              <a:srgbClr val="262338"/>
            </a:solidFill>
            <a:prstDash val="solid"/>
          </a:ln>
        </p:spPr>
      </p:sp>
      <p:pic>
        <p:nvPicPr>
          <p:cNvPr id="12" name="Chequeo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808" y="1298448"/>
            <a:ext cx="237744" cy="237744"/>
          </a:xfrm>
          <a:prstGeom prst="rect">
            <a:avLst/>
          </a:prstGeom>
        </p:spPr>
      </p:pic>
      <p:sp>
        <p:nvSpPr>
          <p:cNvPr id="13" name="Chequeo título 1"/>
          <p:cNvSpPr txBox="1"/>
          <p:nvPr/>
        </p:nvSpPr>
        <p:spPr>
          <a:xfrm>
            <a:off x="4617720" y="1188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Coincide con un pago real</a:t>
            </a:r>
            <a:endParaRPr lang="en-US" sz="1250" dirty="0"/>
          </a:p>
        </p:txBody>
      </p:sp>
      <p:sp>
        <p:nvSpPr>
          <p:cNvPr id="14" name="Chequeo texto 1"/>
          <p:cNvSpPr txBox="1"/>
          <p:nvPr/>
        </p:nvSpPr>
        <p:spPr>
          <a:xfrm>
            <a:off x="4617720" y="159105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Mismo valor y hora que un pago que sí llegó: se registra.</a:t>
            </a:r>
            <a:endParaRPr lang="en-US" sz="1050" dirty="0"/>
          </a:p>
        </p:txBody>
      </p:sp>
      <p:sp>
        <p:nvSpPr>
          <p:cNvPr id="15" name="Chequeo 2 círculo"/>
          <p:cNvSpPr/>
          <p:nvPr/>
        </p:nvSpPr>
        <p:spPr>
          <a:xfrm>
            <a:off x="6355080" y="1188720"/>
            <a:ext cx="457200" cy="457200"/>
          </a:xfrm>
          <a:prstGeom prst="ellipse">
            <a:avLst/>
          </a:prstGeom>
          <a:solidFill>
            <a:srgbClr val="262338"/>
          </a:solidFill>
          <a:ln w="12700">
            <a:solidFill>
              <a:srgbClr val="262338"/>
            </a:solidFill>
            <a:prstDash val="solid"/>
          </a:ln>
        </p:spPr>
      </p:sp>
      <p:pic>
        <p:nvPicPr>
          <p:cNvPr id="16" name="Chequeo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298448"/>
            <a:ext cx="237744" cy="237744"/>
          </a:xfrm>
          <a:prstGeom prst="rect">
            <a:avLst/>
          </a:prstGeom>
        </p:spPr>
      </p:pic>
      <p:sp>
        <p:nvSpPr>
          <p:cNvPr id="17" name="Chequeo título 2"/>
          <p:cNvSpPr txBox="1"/>
          <p:nvPr/>
        </p:nvSpPr>
        <p:spPr>
          <a:xfrm>
            <a:off x="6903720" y="1188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repetida</a:t>
            </a:r>
            <a:endParaRPr lang="en-US" sz="1250" dirty="0"/>
          </a:p>
        </p:txBody>
      </p:sp>
      <p:sp>
        <p:nvSpPr>
          <p:cNvPr id="18" name="Chequeo texto 2"/>
          <p:cNvSpPr txBox="1"/>
          <p:nvPr/>
        </p:nvSpPr>
        <p:spPr>
          <a:xfrm>
            <a:off x="6903720" y="159105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El mismo comprobante mostrado dos veces: falso.</a:t>
            </a:r>
            <a:endParaRPr lang="en-US" sz="1050" dirty="0"/>
          </a:p>
        </p:txBody>
      </p:sp>
      <p:sp>
        <p:nvSpPr>
          <p:cNvPr id="19" name="Chequeo 3 círculo"/>
          <p:cNvSpPr/>
          <p:nvPr/>
        </p:nvSpPr>
        <p:spPr>
          <a:xfrm>
            <a:off x="4069080" y="2286000"/>
            <a:ext cx="457200" cy="457200"/>
          </a:xfrm>
          <a:prstGeom prst="ellipse">
            <a:avLst/>
          </a:prstGeom>
          <a:solidFill>
            <a:srgbClr val="262338"/>
          </a:solidFill>
          <a:ln w="12700">
            <a:solidFill>
              <a:srgbClr val="262338"/>
            </a:solidFill>
            <a:prstDash val="solid"/>
          </a:ln>
        </p:spPr>
      </p:sp>
      <p:pic>
        <p:nvPicPr>
          <p:cNvPr id="20" name="Chequeo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2395728"/>
            <a:ext cx="237744" cy="237744"/>
          </a:xfrm>
          <a:prstGeom prst="rect">
            <a:avLst/>
          </a:prstGeom>
        </p:spPr>
      </p:pic>
      <p:sp>
        <p:nvSpPr>
          <p:cNvPr id="21" name="Chequeo título 3"/>
          <p:cNvSpPr txBox="1"/>
          <p:nvPr/>
        </p:nvSpPr>
        <p:spPr>
          <a:xfrm>
            <a:off x="4617720" y="2286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 a otro número</a:t>
            </a:r>
            <a:endParaRPr lang="en-US" sz="1250" dirty="0"/>
          </a:p>
        </p:txBody>
      </p:sp>
      <p:sp>
        <p:nvSpPr>
          <p:cNvPr id="22" name="Chequeo texto 3"/>
          <p:cNvSpPr txBox="1"/>
          <p:nvPr/>
        </p:nvSpPr>
        <p:spPr>
          <a:xfrm>
            <a:off x="4617720" y="268833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La plata no llegó a tu Nequi: falso.</a:t>
            </a:r>
            <a:endParaRPr lang="en-US" sz="1050" dirty="0"/>
          </a:p>
        </p:txBody>
      </p:sp>
      <p:sp>
        <p:nvSpPr>
          <p:cNvPr id="23" name="Chequeo 4 círculo"/>
          <p:cNvSpPr/>
          <p:nvPr/>
        </p:nvSpPr>
        <p:spPr>
          <a:xfrm>
            <a:off x="6355080" y="2286000"/>
            <a:ext cx="457200" cy="457200"/>
          </a:xfrm>
          <a:prstGeom prst="ellipse">
            <a:avLst/>
          </a:prstGeom>
          <a:solidFill>
            <a:srgbClr val="262338"/>
          </a:solidFill>
          <a:ln w="12700">
            <a:solidFill>
              <a:srgbClr val="262338"/>
            </a:solidFill>
            <a:prstDash val="solid"/>
          </a:ln>
        </p:spPr>
      </p:sp>
      <p:pic>
        <p:nvPicPr>
          <p:cNvPr id="24" name="Chequeo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2395728"/>
            <a:ext cx="237744" cy="237744"/>
          </a:xfrm>
          <a:prstGeom prst="rect">
            <a:avLst/>
          </a:prstGeom>
        </p:spPr>
      </p:pic>
      <p:sp>
        <p:nvSpPr>
          <p:cNvPr id="25" name="Chequeo título 4"/>
          <p:cNvSpPr txBox="1"/>
          <p:nvPr/>
        </p:nvSpPr>
        <p:spPr>
          <a:xfrm>
            <a:off x="6903720" y="2286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editada o vieja</a:t>
            </a:r>
            <a:endParaRPr lang="en-US" sz="1250" dirty="0"/>
          </a:p>
        </p:txBody>
      </p:sp>
      <p:sp>
        <p:nvSpPr>
          <p:cNvPr id="26" name="Chequeo texto 4"/>
          <p:cNvSpPr txBox="1"/>
          <p:nvPr/>
        </p:nvSpPr>
        <p:spPr>
          <a:xfrm>
            <a:off x="6903720" y="268833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Fecha del futuro o de otro día: lo marca.</a:t>
            </a:r>
            <a:endParaRPr lang="en-US" sz="1050" dirty="0"/>
          </a:p>
        </p:txBody>
      </p:sp>
      <p:sp>
        <p:nvSpPr>
          <p:cNvPr id="27" name="Chequeo 5 círculo"/>
          <p:cNvSpPr/>
          <p:nvPr/>
        </p:nvSpPr>
        <p:spPr>
          <a:xfrm>
            <a:off x="4069080" y="3383280"/>
            <a:ext cx="457200" cy="457200"/>
          </a:xfrm>
          <a:prstGeom prst="ellipse">
            <a:avLst/>
          </a:prstGeom>
          <a:solidFill>
            <a:srgbClr val="262338"/>
          </a:solidFill>
          <a:ln w="12700">
            <a:solidFill>
              <a:srgbClr val="262338"/>
            </a:solidFill>
            <a:prstDash val="solid"/>
          </a:ln>
        </p:spPr>
      </p:sp>
      <p:pic>
        <p:nvPicPr>
          <p:cNvPr id="28" name="Chequeo 5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8808" y="3493008"/>
            <a:ext cx="237744" cy="237744"/>
          </a:xfrm>
          <a:prstGeom prst="rect">
            <a:avLst/>
          </a:prstGeom>
        </p:spPr>
      </p:pic>
      <p:sp>
        <p:nvSpPr>
          <p:cNvPr id="29" name="Chequeo título 5"/>
          <p:cNvSpPr txBox="1"/>
          <p:nvPr/>
        </p:nvSpPr>
        <p:spPr>
          <a:xfrm>
            <a:off x="4617720" y="3383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Aún no llega</a:t>
            </a:r>
            <a:endParaRPr lang="en-US" sz="1250" dirty="0"/>
          </a:p>
        </p:txBody>
      </p:sp>
      <p:sp>
        <p:nvSpPr>
          <p:cNvPr id="30" name="Chequeo texto 5"/>
          <p:cNvSpPr txBox="1"/>
          <p:nvPr/>
        </p:nvSpPr>
        <p:spPr>
          <a:xfrm>
            <a:off x="4617720" y="378561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No entregues: Vento te avisa cuando entre.</a:t>
            </a:r>
            <a:endParaRPr lang="en-US" sz="1050" dirty="0"/>
          </a:p>
        </p:txBody>
      </p:sp>
      <p:sp>
        <p:nvSpPr>
          <p:cNvPr id="31" name="Chequeo 6 círculo"/>
          <p:cNvSpPr/>
          <p:nvPr/>
        </p:nvSpPr>
        <p:spPr>
          <a:xfrm>
            <a:off x="6355080" y="3383280"/>
            <a:ext cx="457200" cy="457200"/>
          </a:xfrm>
          <a:prstGeom prst="ellipse">
            <a:avLst/>
          </a:prstGeom>
          <a:solidFill>
            <a:srgbClr val="262338"/>
          </a:solidFill>
          <a:ln w="12700">
            <a:solidFill>
              <a:srgbClr val="262338"/>
            </a:solidFill>
            <a:prstDash val="solid"/>
          </a:ln>
        </p:spPr>
      </p:sp>
      <p:pic>
        <p:nvPicPr>
          <p:cNvPr id="32" name="Chequeo 6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3493008"/>
            <a:ext cx="237744" cy="237744"/>
          </a:xfrm>
          <a:prstGeom prst="rect">
            <a:avLst/>
          </a:prstGeom>
        </p:spPr>
      </p:pic>
      <p:sp>
        <p:nvSpPr>
          <p:cNvPr id="33" name="Chequeo título 6"/>
          <p:cNvSpPr txBox="1"/>
          <p:nvPr/>
        </p:nvSpPr>
        <p:spPr>
          <a:xfrm>
            <a:off x="6903720" y="3383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desde un celular</a:t>
            </a:r>
            <a:endParaRPr lang="en-US" sz="1250" dirty="0"/>
          </a:p>
        </p:txBody>
      </p:sp>
      <p:sp>
        <p:nvSpPr>
          <p:cNvPr id="34" name="Chequeo texto 6"/>
          <p:cNvSpPr txBox="1"/>
          <p:nvPr/>
        </p:nvSpPr>
        <p:spPr>
          <a:xfrm>
            <a:off x="6903720" y="378561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Los bancos no escriben desde celulares: falso.</a:t>
            </a:r>
            <a:endParaRPr lang="en-US" sz="1050" dirty="0"/>
          </a:p>
        </p:txBody>
      </p:sp>
      <p:sp>
        <p:nvSpPr>
          <p:cNvPr id="35" name="Comparación pasarelas"/>
          <p:cNvSpPr txBox="1"/>
          <p:nvPr/>
        </p:nvSpPr>
        <p:spPr>
          <a:xfrm>
            <a:off x="406908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4B5FD"/>
                </a:solidFill>
              </a:rPr>
              <a:t>Como el SonoQR de Bold, Vento anuncia en voz alta cada pago que llega, pero con tu Nequi y DaviPlata y sin comisión de Vento.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Habla y Vento anota</a:t>
            </a:r>
            <a:endParaRPr lang="en-US" sz="3000" dirty="0"/>
          </a:p>
        </p:txBody>
      </p:sp>
      <p:sp>
        <p:nvSpPr>
          <p:cNvPr id="3" name="Ejemplo de voz"/>
          <p:cNvSpPr/>
          <p:nvPr/>
        </p:nvSpPr>
        <p:spPr>
          <a:xfrm>
            <a:off x="548640" y="118872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4" name="Micrófono círculo"/>
          <p:cNvSpPr/>
          <p:nvPr/>
        </p:nvSpPr>
        <p:spPr>
          <a:xfrm>
            <a:off x="868680" y="1508760"/>
            <a:ext cx="777240" cy="7772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Micrófono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695298"/>
            <a:ext cx="404165" cy="404165"/>
          </a:xfrm>
          <a:prstGeom prst="rect">
            <a:avLst/>
          </a:prstGeom>
        </p:spPr>
      </p:pic>
      <p:sp>
        <p:nvSpPr>
          <p:cNvPr id="6" name="Frase de voz"/>
          <p:cNvSpPr txBox="1"/>
          <p:nvPr/>
        </p:nvSpPr>
        <p:spPr>
          <a:xfrm>
            <a:off x="868680" y="2377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“Hola Vento, mesa 3, dos Póker”</a:t>
            </a:r>
            <a:endParaRPr lang="en-US" sz="2200" dirty="0"/>
          </a:p>
        </p:txBody>
      </p:sp>
      <p:sp>
        <p:nvSpPr>
          <p:cNvPr id="7" name="Resultado de voz"/>
          <p:cNvSpPr txBox="1"/>
          <p:nvPr/>
        </p:nvSpPr>
        <p:spPr>
          <a:xfrm>
            <a:off x="86868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 2 Póker anotadas en la Mesa 3</a:t>
            </a:r>
            <a:endParaRPr lang="en-US" sz="1600" dirty="0"/>
          </a:p>
        </p:txBody>
      </p:sp>
      <p:sp>
        <p:nvSpPr>
          <p:cNvPr id="8" name="Sub voz"/>
          <p:cNvSpPr txBox="1"/>
          <p:nvPr/>
        </p:nvSpPr>
        <p:spPr>
          <a:xfrm>
            <a:off x="86868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6BD"/>
                </a:solidFill>
              </a:rPr>
              <a:t>Manos libres: sin tocar la pantalla.</a:t>
            </a:r>
            <a:endParaRPr lang="en-US" sz="1400" dirty="0"/>
          </a:p>
        </p:txBody>
      </p:sp>
      <p:sp>
        <p:nvSpPr>
          <p:cNvPr id="9" name="Comando 1"/>
          <p:cNvSpPr/>
          <p:nvPr/>
        </p:nvSpPr>
        <p:spPr>
          <a:xfrm>
            <a:off x="4709160" y="1188720"/>
            <a:ext cx="3886200" cy="731520"/>
          </a:xfrm>
          <a:prstGeom prst="roundRect">
            <a:avLst>
              <a:gd name="adj" fmla="val 15000"/>
            </a:avLst>
          </a:prstGeom>
          <a:solidFill>
            <a:srgbClr val="262338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0" name="Comando 1 frase"/>
          <p:cNvSpPr txBox="1"/>
          <p:nvPr/>
        </p:nvSpPr>
        <p:spPr>
          <a:xfrm>
            <a:off x="4937760" y="1280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</a:rPr>
              <a:t>«Borra el pedido anterior»</a:t>
            </a:r>
            <a:endParaRPr lang="en-US" sz="1400" dirty="0"/>
          </a:p>
        </p:txBody>
      </p:sp>
      <p:sp>
        <p:nvSpPr>
          <p:cNvPr id="11" name="Comando 1 efecto"/>
          <p:cNvSpPr txBox="1"/>
          <p:nvPr/>
        </p:nvSpPr>
        <p:spPr>
          <a:xfrm>
            <a:off x="4937760" y="1581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Deshace al instante.</a:t>
            </a:r>
            <a:endParaRPr lang="en-US" sz="1200" dirty="0"/>
          </a:p>
        </p:txBody>
      </p:sp>
      <p:sp>
        <p:nvSpPr>
          <p:cNvPr id="12" name="Comando 2"/>
          <p:cNvSpPr/>
          <p:nvPr/>
        </p:nvSpPr>
        <p:spPr>
          <a:xfrm>
            <a:off x="4709160" y="2039112"/>
            <a:ext cx="3886200" cy="731520"/>
          </a:xfrm>
          <a:prstGeom prst="roundRect">
            <a:avLst>
              <a:gd name="adj" fmla="val 15000"/>
            </a:avLst>
          </a:prstGeom>
          <a:solidFill>
            <a:srgbClr val="262338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3" name="Comando 2 frase"/>
          <p:cNvSpPr txBox="1"/>
          <p:nvPr/>
        </p:nvSpPr>
        <p:spPr>
          <a:xfrm>
            <a:off x="4937760" y="2130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</a:rPr>
              <a:t>«La mesa 3 abona 20 mil»</a:t>
            </a:r>
            <a:endParaRPr lang="en-US" sz="1400" dirty="0"/>
          </a:p>
        </p:txBody>
      </p:sp>
      <p:sp>
        <p:nvSpPr>
          <p:cNvPr id="14" name="Comando 2 efecto"/>
          <p:cNvSpPr txBox="1"/>
          <p:nvPr/>
        </p:nvSpPr>
        <p:spPr>
          <a:xfrm>
            <a:off x="4937760" y="2432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Registra el abono y dice cuánto queda.</a:t>
            </a:r>
            <a:endParaRPr lang="en-US" sz="1200" dirty="0"/>
          </a:p>
        </p:txBody>
      </p:sp>
      <p:sp>
        <p:nvSpPr>
          <p:cNvPr id="15" name="Comando 3"/>
          <p:cNvSpPr/>
          <p:nvPr/>
        </p:nvSpPr>
        <p:spPr>
          <a:xfrm>
            <a:off x="4709160" y="2889504"/>
            <a:ext cx="3886200" cy="731520"/>
          </a:xfrm>
          <a:prstGeom prst="roundRect">
            <a:avLst>
              <a:gd name="adj" fmla="val 15000"/>
            </a:avLst>
          </a:prstGeom>
          <a:solidFill>
            <a:srgbClr val="262338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6" name="Comando 3 frase"/>
          <p:cNvSpPr txBox="1"/>
          <p:nvPr/>
        </p:nvSpPr>
        <p:spPr>
          <a:xfrm>
            <a:off x="4937760" y="29809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</a:rPr>
              <a:t>«¿Cuántas Póker quedan?»</a:t>
            </a:r>
            <a:endParaRPr lang="en-US" sz="1400" dirty="0"/>
          </a:p>
        </p:txBody>
      </p:sp>
      <p:sp>
        <p:nvSpPr>
          <p:cNvPr id="17" name="Comando 3 efecto"/>
          <p:cNvSpPr txBox="1"/>
          <p:nvPr/>
        </p:nvSpPr>
        <p:spPr>
          <a:xfrm>
            <a:off x="4937760" y="3282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Responde con el inventario real.</a:t>
            </a:r>
            <a:endParaRPr lang="en-US" sz="1200" dirty="0"/>
          </a:p>
        </p:txBody>
      </p:sp>
      <p:sp>
        <p:nvSpPr>
          <p:cNvPr id="18" name="Comando 4"/>
          <p:cNvSpPr/>
          <p:nvPr/>
        </p:nvSpPr>
        <p:spPr>
          <a:xfrm>
            <a:off x="4709160" y="3739896"/>
            <a:ext cx="3886200" cy="731520"/>
          </a:xfrm>
          <a:prstGeom prst="roundRect">
            <a:avLst>
              <a:gd name="adj" fmla="val 15000"/>
            </a:avLst>
          </a:prstGeom>
          <a:solidFill>
            <a:srgbClr val="262338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9" name="Comando 4 frase"/>
          <p:cNvSpPr txBox="1"/>
          <p:nvPr/>
        </p:nvSpPr>
        <p:spPr>
          <a:xfrm>
            <a:off x="4937760" y="38313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</a:rPr>
              <a:t>«Cobra la mesa 3» · «Siguiente canción»</a:t>
            </a:r>
            <a:endParaRPr lang="en-US" sz="1400" dirty="0"/>
          </a:p>
        </p:txBody>
      </p:sp>
      <p:sp>
        <p:nvSpPr>
          <p:cNvPr id="20" name="Comando 4 efecto"/>
          <p:cNvSpPr txBox="1"/>
          <p:nvPr/>
        </p:nvSpPr>
        <p:spPr>
          <a:xfrm>
            <a:off x="4937760" y="4133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Cobra, abre mesas y maneja la música.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Vento IA: la inteligencia del negocio</a:t>
            </a:r>
            <a:endParaRPr lang="en-US" sz="3000" dirty="0"/>
          </a:p>
        </p:txBody>
      </p:sp>
      <p:sp>
        <p:nvSpPr>
          <p:cNvPr id="3" name="Chat con Vento IA marco"/>
          <p:cNvSpPr/>
          <p:nvPr/>
        </p:nvSpPr>
        <p:spPr>
          <a:xfrm>
            <a:off x="6473952" y="1033272"/>
            <a:ext cx="1818139" cy="3785616"/>
          </a:xfrm>
          <a:prstGeom prst="roundRect">
            <a:avLst>
              <a:gd name="adj" fmla="val 11065"/>
            </a:avLst>
          </a:prstGeom>
          <a:solidFill>
            <a:srgbClr val="05050A"/>
          </a:solidFill>
          <a:ln w="19050">
            <a:solidFill>
              <a:srgbClr val="4C3A8F"/>
            </a:solidFill>
            <a:prstDash val="solid"/>
          </a:ln>
          <a:effectLst>
            <a:outerShdw sx="100000" sy="100000" kx="0" ky="0" algn="bl" rotWithShape="0" blurRad="228600" dist="25400" dir="5400000">
              <a:srgbClr val="7C3AED">
                <a:alpha val="35000"/>
              </a:srgbClr>
            </a:outerShdw>
          </a:effectLst>
        </p:spPr>
      </p:sp>
      <p:pic>
        <p:nvPicPr>
          <p:cNvPr id="4" name="Chat con Vento I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097280"/>
            <a:ext cx="1690123" cy="3657600"/>
          </a:xfrm>
          <a:prstGeom prst="rect">
            <a:avLst/>
          </a:prstGeom>
        </p:spPr>
      </p:pic>
      <p:sp>
        <p:nvSpPr>
          <p:cNvPr id="5" name="Dato facturas"/>
          <p:cNvSpPr/>
          <p:nvPr/>
        </p:nvSpPr>
        <p:spPr>
          <a:xfrm>
            <a:off x="548640" y="118872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6" name="Dato tiempo"/>
          <p:cNvSpPr txBox="1"/>
          <p:nvPr/>
        </p:nvSpPr>
        <p:spPr>
          <a:xfrm>
            <a:off x="777240" y="1325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 s</a:t>
            </a:r>
            <a:endParaRPr lang="en-US" sz="4400" dirty="0"/>
          </a:p>
        </p:txBody>
      </p:sp>
      <p:sp>
        <p:nvSpPr>
          <p:cNvPr id="7" name="Dato tiempo texto"/>
          <p:cNvSpPr txBox="1"/>
          <p:nvPr/>
        </p:nvSpPr>
        <p:spPr>
          <a:xfrm>
            <a:off x="777240" y="2011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para leer una factura de proveedor sin internet (prueba interna)</a:t>
            </a:r>
            <a:endParaRPr lang="en-US" sz="1200" dirty="0"/>
          </a:p>
        </p:txBody>
      </p:sp>
      <p:sp>
        <p:nvSpPr>
          <p:cNvPr id="8" name="Dato carrera"/>
          <p:cNvSpPr/>
          <p:nvPr/>
        </p:nvSpPr>
        <p:spPr>
          <a:xfrm>
            <a:off x="3429000" y="118872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9" name="Dato carrera título"/>
          <p:cNvSpPr txBox="1"/>
          <p:nvPr/>
        </p:nvSpPr>
        <p:spPr>
          <a:xfrm>
            <a:off x="3657600" y="1325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Doble lectura</a:t>
            </a:r>
            <a:endParaRPr lang="en-US" sz="2200" dirty="0"/>
          </a:p>
        </p:txBody>
      </p:sp>
      <p:sp>
        <p:nvSpPr>
          <p:cNvPr id="10" name="Dato carrera texto"/>
          <p:cNvSpPr txBox="1"/>
          <p:nvPr/>
        </p:nvSpPr>
        <p:spPr>
          <a:xfrm>
            <a:off x="3657600" y="2011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dos lectores trabajan a la vez y gana el más rápido</a:t>
            </a:r>
            <a:endParaRPr lang="en-US" sz="1200" dirty="0"/>
          </a:p>
        </p:txBody>
      </p:sp>
      <p:sp>
        <p:nvSpPr>
          <p:cNvPr id="11" name="Beneficios Vento IA"/>
          <p:cNvSpPr txBox="1"/>
          <p:nvPr/>
        </p:nvSpPr>
        <p:spPr>
          <a:xfrm>
            <a:off x="548640" y="297180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Escanea facturas y suma el inventario con IVA y costo por unidad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Responde «¿cuánto vendí hoy?» con los datos reales del negocio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Avisa agotados, precios que subieron y pedidos demorados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Ya viene configurada: el negocio no pone ninguna clave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El cliente pide desde su mesa</a:t>
            </a:r>
            <a:endParaRPr lang="en-US" sz="3000" dirty="0"/>
          </a:p>
        </p:txBody>
      </p:sp>
      <p:sp>
        <p:nvSpPr>
          <p:cNvPr id="3" name="Columna Pedidos por QR"/>
          <p:cNvSpPr/>
          <p:nvPr/>
        </p:nvSpPr>
        <p:spPr>
          <a:xfrm>
            <a:off x="548640" y="118872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4" name="Pedidos por QR círculo"/>
          <p:cNvSpPr/>
          <p:nvPr/>
        </p:nvSpPr>
        <p:spPr>
          <a:xfrm>
            <a:off x="822960" y="146304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Pedidos por QR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638605"/>
            <a:ext cx="380390" cy="380390"/>
          </a:xfrm>
          <a:prstGeom prst="rect">
            <a:avLst/>
          </a:prstGeom>
        </p:spPr>
      </p:pic>
      <p:sp>
        <p:nvSpPr>
          <p:cNvPr id="6" name="Pedidos por QR título"/>
          <p:cNvSpPr txBox="1"/>
          <p:nvPr/>
        </p:nvSpPr>
        <p:spPr>
          <a:xfrm>
            <a:off x="173736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por QR</a:t>
            </a:r>
            <a:endParaRPr lang="en-US" sz="2000" dirty="0"/>
          </a:p>
        </p:txBody>
      </p:sp>
      <p:sp>
        <p:nvSpPr>
          <p:cNvPr id="7" name="Pedidos por QR puntos"/>
          <p:cNvSpPr txBox="1"/>
          <p:nvPr/>
        </p:nvSpPr>
        <p:spPr>
          <a:xfrm>
            <a:off x="822960" y="242316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Escanea el QR de su mesa y pide desde el celular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El pedido llega a Vento y a la pantalla de cocina o barra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Se suma solo a la cuenta de la mesa</a:t>
            </a:r>
            <a:endParaRPr lang="en-US" sz="1400" dirty="0"/>
          </a:p>
        </p:txBody>
      </p:sp>
      <p:sp>
        <p:nvSpPr>
          <p:cNvPr id="8" name="Columna Música en el TV"/>
          <p:cNvSpPr/>
          <p:nvPr/>
        </p:nvSpPr>
        <p:spPr>
          <a:xfrm>
            <a:off x="4663440" y="118872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9" name="Música en el TV círculo"/>
          <p:cNvSpPr/>
          <p:nvPr/>
        </p:nvSpPr>
        <p:spPr>
          <a:xfrm>
            <a:off x="4937760" y="146304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Música en el TV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325" y="1638605"/>
            <a:ext cx="380390" cy="380390"/>
          </a:xfrm>
          <a:prstGeom prst="rect">
            <a:avLst/>
          </a:prstGeom>
        </p:spPr>
      </p:pic>
      <p:sp>
        <p:nvSpPr>
          <p:cNvPr id="11" name="Música en el TV título"/>
          <p:cNvSpPr txBox="1"/>
          <p:nvPr/>
        </p:nvSpPr>
        <p:spPr>
          <a:xfrm>
            <a:off x="585216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Música en el TV</a:t>
            </a:r>
            <a:endParaRPr lang="en-US" sz="2000" dirty="0"/>
          </a:p>
        </p:txBody>
      </p:sp>
      <p:sp>
        <p:nvSpPr>
          <p:cNvPr id="12" name="Música en el TV puntos"/>
          <p:cNvSpPr txBox="1"/>
          <p:nvPr/>
        </p:nvSpPr>
        <p:spPr>
          <a:xfrm>
            <a:off x="4937760" y="242316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El cliente pide la canción con el mismo QR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Suena sola en el YouTube del TV, una tras otra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Cola justa entre mesas; se une aunque otro celular ya esté conectado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Funciona donde está tu negocio</a:t>
            </a:r>
            <a:endParaRPr lang="en-US" sz="3000" dirty="0"/>
          </a:p>
        </p:txBody>
      </p:sp>
      <p:sp>
        <p:nvSpPr>
          <p:cNvPr id="3" name="Con o sin internet círculo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Con o sin internet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342339"/>
            <a:ext cx="332842" cy="332842"/>
          </a:xfrm>
          <a:prstGeom prst="rect">
            <a:avLst/>
          </a:prstGeom>
        </p:spPr>
      </p:pic>
      <p:sp>
        <p:nvSpPr>
          <p:cNvPr id="5" name="Con o sin internet título"/>
          <p:cNvSpPr txBox="1"/>
          <p:nvPr/>
        </p:nvSpPr>
        <p:spPr>
          <a:xfrm>
            <a:off x="1371600" y="11887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o sin internet</a:t>
            </a:r>
            <a:endParaRPr lang="en-US" sz="1600" dirty="0"/>
          </a:p>
        </p:txBody>
      </p:sp>
      <p:sp>
        <p:nvSpPr>
          <p:cNvPr id="6" name="Con o sin internet texto"/>
          <p:cNvSpPr txBox="1"/>
          <p:nvPr/>
        </p:nvSpPr>
        <p:spPr>
          <a:xfrm>
            <a:off x="1371600" y="15179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Sigue vendiendo sin señal y se pone al día sola.</a:t>
            </a:r>
            <a:endParaRPr lang="en-US" sz="1300" dirty="0"/>
          </a:p>
        </p:txBody>
      </p:sp>
      <p:sp>
        <p:nvSpPr>
          <p:cNvPr id="7" name="App para Android círculo"/>
          <p:cNvSpPr/>
          <p:nvPr/>
        </p:nvSpPr>
        <p:spPr>
          <a:xfrm>
            <a:off x="4617720" y="118872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App para Android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1342339"/>
            <a:ext cx="332842" cy="332842"/>
          </a:xfrm>
          <a:prstGeom prst="rect">
            <a:avLst/>
          </a:prstGeom>
        </p:spPr>
      </p:pic>
      <p:sp>
        <p:nvSpPr>
          <p:cNvPr id="9" name="App para Android título"/>
          <p:cNvSpPr txBox="1"/>
          <p:nvPr/>
        </p:nvSpPr>
        <p:spPr>
          <a:xfrm>
            <a:off x="5440680" y="11887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para Android</a:t>
            </a:r>
            <a:endParaRPr lang="en-US" sz="1600" dirty="0"/>
          </a:p>
        </p:txBody>
      </p:sp>
      <p:sp>
        <p:nvSpPr>
          <p:cNvPr id="10" name="App para Android texto"/>
          <p:cNvSpPr txBox="1"/>
          <p:nvPr/>
        </p:nvSpPr>
        <p:spPr>
          <a:xfrm>
            <a:off x="5440680" y="15179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También abre en cualquier navegador.</a:t>
            </a:r>
            <a:endParaRPr lang="en-US" sz="1300" dirty="0"/>
          </a:p>
        </p:txBody>
      </p:sp>
      <p:sp>
        <p:nvSpPr>
          <p:cNvPr id="11" name="Varios celulares círculo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Varios celulares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2485339"/>
            <a:ext cx="332842" cy="332842"/>
          </a:xfrm>
          <a:prstGeom prst="rect">
            <a:avLst/>
          </a:prstGeom>
        </p:spPr>
      </p:pic>
      <p:sp>
        <p:nvSpPr>
          <p:cNvPr id="13" name="Varios celulares título"/>
          <p:cNvSpPr txBox="1"/>
          <p:nvPr/>
        </p:nvSpPr>
        <p:spPr>
          <a:xfrm>
            <a:off x="1371600" y="23317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celulares</a:t>
            </a:r>
            <a:endParaRPr lang="en-US" sz="1600" dirty="0"/>
          </a:p>
        </p:txBody>
      </p:sp>
      <p:sp>
        <p:nvSpPr>
          <p:cNvPr id="14" name="Varios celulares texto"/>
          <p:cNvSpPr txBox="1"/>
          <p:nvPr/>
        </p:nvSpPr>
        <p:spPr>
          <a:xfrm>
            <a:off x="1371600" y="26609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Dueño, cajero y meseros con su propio usuario.</a:t>
            </a:r>
            <a:endParaRPr lang="en-US" sz="1300" dirty="0"/>
          </a:p>
        </p:txBody>
      </p:sp>
      <p:sp>
        <p:nvSpPr>
          <p:cNvPr id="15" name="Entra con Google círculo"/>
          <p:cNvSpPr/>
          <p:nvPr/>
        </p:nvSpPr>
        <p:spPr>
          <a:xfrm>
            <a:off x="4617720" y="233172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Entra con Google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339" y="2485339"/>
            <a:ext cx="332842" cy="332842"/>
          </a:xfrm>
          <a:prstGeom prst="rect">
            <a:avLst/>
          </a:prstGeom>
        </p:spPr>
      </p:pic>
      <p:sp>
        <p:nvSpPr>
          <p:cNvPr id="17" name="Entra con Google título"/>
          <p:cNvSpPr txBox="1"/>
          <p:nvPr/>
        </p:nvSpPr>
        <p:spPr>
          <a:xfrm>
            <a:off x="5440680" y="23317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con Google</a:t>
            </a:r>
            <a:endParaRPr lang="en-US" sz="1600" dirty="0"/>
          </a:p>
        </p:txBody>
      </p:sp>
      <p:sp>
        <p:nvSpPr>
          <p:cNvPr id="18" name="Entra con Google texto"/>
          <p:cNvSpPr txBox="1"/>
          <p:nvPr/>
        </p:nvSpPr>
        <p:spPr>
          <a:xfrm>
            <a:off x="5440680" y="26609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O con correo y contraseña. Respaldos en la nube.</a:t>
            </a:r>
            <a:endParaRPr lang="en-US" sz="1300" dirty="0"/>
          </a:p>
        </p:txBody>
      </p:sp>
      <p:sp>
        <p:nvSpPr>
          <p:cNvPr id="19" name="Cualquier negocio círculo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Cualquier negocio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" y="3628339"/>
            <a:ext cx="332842" cy="332842"/>
          </a:xfrm>
          <a:prstGeom prst="rect">
            <a:avLst/>
          </a:prstGeom>
        </p:spPr>
      </p:pic>
      <p:sp>
        <p:nvSpPr>
          <p:cNvPr id="21" name="Cualquier negocio título"/>
          <p:cNvSpPr txBox="1"/>
          <p:nvPr/>
        </p:nvSpPr>
        <p:spPr>
          <a:xfrm>
            <a:off x="1371600" y="34747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negocio</a:t>
            </a:r>
            <a:endParaRPr lang="en-US" sz="1600" dirty="0"/>
          </a:p>
        </p:txBody>
      </p:sp>
      <p:sp>
        <p:nvSpPr>
          <p:cNvPr id="22" name="Cualquier negocio texto"/>
          <p:cNvSpPr txBox="1"/>
          <p:nvPr/>
        </p:nvSpPr>
        <p:spPr>
          <a:xfrm>
            <a:off x="1371600" y="38039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Bar, restaurante, cafetería, tienda y más.</a:t>
            </a:r>
            <a:endParaRPr lang="en-US" sz="1300" dirty="0"/>
          </a:p>
        </p:txBody>
      </p:sp>
      <p:sp>
        <p:nvSpPr>
          <p:cNvPr id="23" name="Datos protegidos círculo"/>
          <p:cNvSpPr/>
          <p:nvPr/>
        </p:nvSpPr>
        <p:spPr>
          <a:xfrm>
            <a:off x="4617720" y="347472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Datos protegidos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1339" y="3628339"/>
            <a:ext cx="332842" cy="332842"/>
          </a:xfrm>
          <a:prstGeom prst="rect">
            <a:avLst/>
          </a:prstGeom>
        </p:spPr>
      </p:pic>
      <p:sp>
        <p:nvSpPr>
          <p:cNvPr id="25" name="Datos protegidos título"/>
          <p:cNvSpPr txBox="1"/>
          <p:nvPr/>
        </p:nvSpPr>
        <p:spPr>
          <a:xfrm>
            <a:off x="5440680" y="34747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protegidos</a:t>
            </a:r>
            <a:endParaRPr lang="en-US" sz="1600" dirty="0"/>
          </a:p>
        </p:txBody>
      </p:sp>
      <p:sp>
        <p:nvSpPr>
          <p:cNvPr id="26" name="Datos protegidos texto"/>
          <p:cNvSpPr txBox="1"/>
          <p:nvPr/>
        </p:nvSpPr>
        <p:spPr>
          <a:xfrm>
            <a:off x="5440680" y="38039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Cada negocio ve solo lo suyo.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En cualquier pantalla</a:t>
            </a:r>
            <a:endParaRPr lang="en-US" sz="3000" dirty="0"/>
          </a:p>
        </p:txBody>
      </p:sp>
      <p:sp>
        <p:nvSpPr>
          <p:cNvPr id="3" name="Smart TV o TV Box marco"/>
          <p:cNvSpPr/>
          <p:nvPr/>
        </p:nvSpPr>
        <p:spPr>
          <a:xfrm>
            <a:off x="493776" y="1133856"/>
            <a:ext cx="3035808" cy="1755648"/>
          </a:xfrm>
          <a:prstGeom prst="roundRect">
            <a:avLst>
              <a:gd name="adj" fmla="val 2604"/>
            </a:avLst>
          </a:prstGeom>
          <a:solidFill>
            <a:srgbClr val="05050A"/>
          </a:solidFill>
          <a:ln w="15875">
            <a:solidFill>
              <a:srgbClr val="4C3A8F"/>
            </a:solidFill>
            <a:prstDash val="solid"/>
          </a:ln>
        </p:spPr>
      </p:sp>
      <p:pic>
        <p:nvPicPr>
          <p:cNvPr id="4" name="Smart TV o TV Box pantall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2926080" cy="1645920"/>
          </a:xfrm>
          <a:prstGeom prst="rect">
            <a:avLst/>
          </a:prstGeom>
        </p:spPr>
      </p:pic>
      <p:sp>
        <p:nvSpPr>
          <p:cNvPr id="5" name="Base TV"/>
          <p:cNvSpPr/>
          <p:nvPr/>
        </p:nvSpPr>
        <p:spPr>
          <a:xfrm>
            <a:off x="1691640" y="2898648"/>
            <a:ext cx="640080" cy="45720"/>
          </a:xfrm>
          <a:prstGeom prst="rect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6" name="Smart TV o TV Box nombre"/>
          <p:cNvSpPr txBox="1"/>
          <p:nvPr/>
        </p:nvSpPr>
        <p:spPr>
          <a:xfrm>
            <a:off x="457200" y="3035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TV o TV Box</a:t>
            </a:r>
            <a:endParaRPr lang="en-US" sz="1300" dirty="0"/>
          </a:p>
        </p:txBody>
      </p:sp>
      <p:sp>
        <p:nvSpPr>
          <p:cNvPr id="7" name="Smart TV o TV Box detalle"/>
          <p:cNvSpPr txBox="1"/>
          <p:nvPr/>
        </p:nvSpPr>
        <p:spPr>
          <a:xfrm>
            <a:off x="457200" y="3291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En el navegador del TV.</a:t>
            </a:r>
            <a:endParaRPr lang="en-US" sz="1050" dirty="0"/>
          </a:p>
        </p:txBody>
      </p:sp>
      <p:sp>
        <p:nvSpPr>
          <p:cNvPr id="8" name="Computador marco"/>
          <p:cNvSpPr/>
          <p:nvPr/>
        </p:nvSpPr>
        <p:spPr>
          <a:xfrm>
            <a:off x="3621024" y="1133856"/>
            <a:ext cx="2743200" cy="1755648"/>
          </a:xfrm>
          <a:prstGeom prst="roundRect">
            <a:avLst>
              <a:gd name="adj" fmla="val 2604"/>
            </a:avLst>
          </a:prstGeom>
          <a:solidFill>
            <a:srgbClr val="05050A"/>
          </a:solidFill>
          <a:ln w="15875">
            <a:solidFill>
              <a:srgbClr val="4C3A8F"/>
            </a:solidFill>
            <a:prstDash val="solid"/>
          </a:ln>
        </p:spPr>
      </p:sp>
      <p:pic>
        <p:nvPicPr>
          <p:cNvPr id="9" name="Computador pantall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188720"/>
            <a:ext cx="2633472" cy="1645920"/>
          </a:xfrm>
          <a:prstGeom prst="rect">
            <a:avLst/>
          </a:prstGeom>
        </p:spPr>
      </p:pic>
      <p:sp>
        <p:nvSpPr>
          <p:cNvPr id="10" name="Base computador"/>
          <p:cNvSpPr/>
          <p:nvPr/>
        </p:nvSpPr>
        <p:spPr>
          <a:xfrm>
            <a:off x="3493008" y="2898648"/>
            <a:ext cx="2999232" cy="64008"/>
          </a:xfrm>
          <a:prstGeom prst="roundRect">
            <a:avLst>
              <a:gd name="adj" fmla="val 42857"/>
            </a:avLst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11" name="Computador nombre"/>
          <p:cNvSpPr txBox="1"/>
          <p:nvPr/>
        </p:nvSpPr>
        <p:spPr>
          <a:xfrm>
            <a:off x="3584448" y="303580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Computador</a:t>
            </a:r>
            <a:endParaRPr lang="en-US" sz="1300" dirty="0"/>
          </a:p>
        </p:txBody>
      </p:sp>
      <p:sp>
        <p:nvSpPr>
          <p:cNvPr id="12" name="Computador detalle"/>
          <p:cNvSpPr txBox="1"/>
          <p:nvPr/>
        </p:nvSpPr>
        <p:spPr>
          <a:xfrm>
            <a:off x="3584448" y="329184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Ancho completo en la caja.</a:t>
            </a:r>
            <a:endParaRPr lang="en-US" sz="1050" dirty="0"/>
          </a:p>
        </p:txBody>
      </p:sp>
      <p:sp>
        <p:nvSpPr>
          <p:cNvPr id="13" name="Tableta marco"/>
          <p:cNvSpPr/>
          <p:nvPr/>
        </p:nvSpPr>
        <p:spPr>
          <a:xfrm>
            <a:off x="6437376" y="1115568"/>
            <a:ext cx="1290079" cy="1792224"/>
          </a:xfrm>
          <a:prstGeom prst="roundRect">
            <a:avLst>
              <a:gd name="adj" fmla="val 9923"/>
            </a:avLst>
          </a:prstGeom>
          <a:solidFill>
            <a:srgbClr val="05050A"/>
          </a:solidFill>
          <a:ln w="15875">
            <a:solidFill>
              <a:srgbClr val="4C3A8F"/>
            </a:solidFill>
            <a:prstDash val="solid"/>
          </a:ln>
        </p:spPr>
      </p:sp>
      <p:pic>
        <p:nvPicPr>
          <p:cNvPr id="14" name="Tableta pantall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188720"/>
            <a:ext cx="1143775" cy="1645920"/>
          </a:xfrm>
          <a:prstGeom prst="rect">
            <a:avLst/>
          </a:prstGeom>
        </p:spPr>
      </p:pic>
      <p:sp>
        <p:nvSpPr>
          <p:cNvPr id="15" name="Tableta nombre"/>
          <p:cNvSpPr txBox="1"/>
          <p:nvPr/>
        </p:nvSpPr>
        <p:spPr>
          <a:xfrm>
            <a:off x="6419088" y="3035808"/>
            <a:ext cx="1326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Tableta</a:t>
            </a:r>
            <a:endParaRPr lang="en-US" sz="1300" dirty="0"/>
          </a:p>
        </p:txBody>
      </p:sp>
      <p:sp>
        <p:nvSpPr>
          <p:cNvPr id="16" name="Tableta detalle"/>
          <p:cNvSpPr txBox="1"/>
          <p:nvPr/>
        </p:nvSpPr>
        <p:spPr>
          <a:xfrm>
            <a:off x="6419088" y="3291840"/>
            <a:ext cx="1326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Ideal para la barra.</a:t>
            </a:r>
            <a:endParaRPr lang="en-US" sz="1050" dirty="0"/>
          </a:p>
        </p:txBody>
      </p:sp>
      <p:sp>
        <p:nvSpPr>
          <p:cNvPr id="17" name="Celular marco"/>
          <p:cNvSpPr/>
          <p:nvPr/>
        </p:nvSpPr>
        <p:spPr>
          <a:xfrm>
            <a:off x="7782319" y="1115568"/>
            <a:ext cx="906859" cy="1792224"/>
          </a:xfrm>
          <a:prstGeom prst="roundRect">
            <a:avLst>
              <a:gd name="adj" fmla="val 14116"/>
            </a:avLst>
          </a:prstGeom>
          <a:solidFill>
            <a:srgbClr val="05050A"/>
          </a:solidFill>
          <a:ln w="15875">
            <a:solidFill>
              <a:srgbClr val="4C3A8F"/>
            </a:solidFill>
            <a:prstDash val="solid"/>
          </a:ln>
        </p:spPr>
      </p:sp>
      <p:pic>
        <p:nvPicPr>
          <p:cNvPr id="18" name="Celular pantall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471" y="1188720"/>
            <a:ext cx="760555" cy="1645920"/>
          </a:xfrm>
          <a:prstGeom prst="rect">
            <a:avLst/>
          </a:prstGeom>
        </p:spPr>
      </p:pic>
      <p:sp>
        <p:nvSpPr>
          <p:cNvPr id="19" name="Celular nombre"/>
          <p:cNvSpPr txBox="1"/>
          <p:nvPr/>
        </p:nvSpPr>
        <p:spPr>
          <a:xfrm>
            <a:off x="7764031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</a:t>
            </a:r>
            <a:endParaRPr lang="en-US" sz="1300" dirty="0"/>
          </a:p>
        </p:txBody>
      </p:sp>
      <p:sp>
        <p:nvSpPr>
          <p:cNvPr id="20" name="Celular detalle"/>
          <p:cNvSpPr txBox="1"/>
          <p:nvPr/>
        </p:nvSpPr>
        <p:spPr>
          <a:xfrm>
            <a:off x="7764031" y="3291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App Android o navegador.</a:t>
            </a:r>
            <a:endParaRPr lang="en-US" sz="1050" dirty="0"/>
          </a:p>
        </p:txBody>
      </p:sp>
      <p:sp>
        <p:nvSpPr>
          <p:cNvPr id="21" name="Pantallas extra 1"/>
          <p:cNvSpPr/>
          <p:nvPr/>
        </p:nvSpPr>
        <p:spPr>
          <a:xfrm>
            <a:off x="548640" y="3840480"/>
            <a:ext cx="2542032" cy="868680"/>
          </a:xfrm>
          <a:prstGeom prst="roundRect">
            <a:avLst>
              <a:gd name="adj" fmla="val 12632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2" name="Pantallas extra 1 círculo"/>
          <p:cNvSpPr/>
          <p:nvPr/>
        </p:nvSpPr>
        <p:spPr>
          <a:xfrm>
            <a:off x="685800" y="3995928"/>
            <a:ext cx="548640" cy="5486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3" name="Pantallas extra 1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4" y="4127602"/>
            <a:ext cx="285293" cy="285293"/>
          </a:xfrm>
          <a:prstGeom prst="rect">
            <a:avLst/>
          </a:prstGeom>
        </p:spPr>
      </p:pic>
      <p:sp>
        <p:nvSpPr>
          <p:cNvPr id="24" name="Pantallas extra título 1"/>
          <p:cNvSpPr txBox="1"/>
          <p:nvPr/>
        </p:nvSpPr>
        <p:spPr>
          <a:xfrm>
            <a:off x="1371600" y="3950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instalar nada</a:t>
            </a:r>
            <a:endParaRPr lang="en-US" sz="1300" dirty="0"/>
          </a:p>
        </p:txBody>
      </p:sp>
      <p:sp>
        <p:nvSpPr>
          <p:cNvPr id="25" name="Pantallas extra texto 1"/>
          <p:cNvSpPr txBox="1"/>
          <p:nvPr/>
        </p:nvSpPr>
        <p:spPr>
          <a:xfrm>
            <a:off x="1371600" y="4224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Abre en Chrome, Edge, Safari o el navegador del TV.</a:t>
            </a:r>
            <a:endParaRPr lang="en-US" sz="1000" dirty="0"/>
          </a:p>
        </p:txBody>
      </p:sp>
      <p:sp>
        <p:nvSpPr>
          <p:cNvPr id="26" name="Pantallas extra 2"/>
          <p:cNvSpPr/>
          <p:nvPr/>
        </p:nvSpPr>
        <p:spPr>
          <a:xfrm>
            <a:off x="3264408" y="3840480"/>
            <a:ext cx="2542032" cy="868680"/>
          </a:xfrm>
          <a:prstGeom prst="roundRect">
            <a:avLst>
              <a:gd name="adj" fmla="val 12632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7" name="Pantallas extra 2 círculo"/>
          <p:cNvSpPr/>
          <p:nvPr/>
        </p:nvSpPr>
        <p:spPr>
          <a:xfrm>
            <a:off x="3401568" y="3995928"/>
            <a:ext cx="548640" cy="5486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8" name="Pantallas extra 2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3242" y="4127602"/>
            <a:ext cx="285293" cy="285293"/>
          </a:xfrm>
          <a:prstGeom prst="rect">
            <a:avLst/>
          </a:prstGeom>
        </p:spPr>
      </p:pic>
      <p:sp>
        <p:nvSpPr>
          <p:cNvPr id="29" name="Pantallas extra título 2"/>
          <p:cNvSpPr txBox="1"/>
          <p:nvPr/>
        </p:nvSpPr>
        <p:spPr>
          <a:xfrm>
            <a:off x="4087368" y="3950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sincronizado</a:t>
            </a:r>
            <a:endParaRPr lang="en-US" sz="1300" dirty="0"/>
          </a:p>
        </p:txBody>
      </p:sp>
      <p:sp>
        <p:nvSpPr>
          <p:cNvPr id="30" name="Pantallas extra texto 2"/>
          <p:cNvSpPr txBox="1"/>
          <p:nvPr/>
        </p:nvSpPr>
        <p:spPr>
          <a:xfrm>
            <a:off x="4087368" y="4224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Lo que anota el mesero en el celular aparece en la caja.</a:t>
            </a:r>
            <a:endParaRPr lang="en-US" sz="1000" dirty="0"/>
          </a:p>
        </p:txBody>
      </p:sp>
      <p:sp>
        <p:nvSpPr>
          <p:cNvPr id="31" name="Pantallas extra 3"/>
          <p:cNvSpPr/>
          <p:nvPr/>
        </p:nvSpPr>
        <p:spPr>
          <a:xfrm>
            <a:off x="5980176" y="3840480"/>
            <a:ext cx="2542032" cy="868680"/>
          </a:xfrm>
          <a:prstGeom prst="roundRect">
            <a:avLst>
              <a:gd name="adj" fmla="val 12632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32" name="Pantallas extra 3 círculo"/>
          <p:cNvSpPr/>
          <p:nvPr/>
        </p:nvSpPr>
        <p:spPr>
          <a:xfrm>
            <a:off x="6117336" y="3995928"/>
            <a:ext cx="548640" cy="5486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3" name="Pantallas extra 3 í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9010" y="4127602"/>
            <a:ext cx="285293" cy="285293"/>
          </a:xfrm>
          <a:prstGeom prst="rect">
            <a:avLst/>
          </a:prstGeom>
        </p:spPr>
      </p:pic>
      <p:sp>
        <p:nvSpPr>
          <p:cNvPr id="34" name="Pantallas extra título 3"/>
          <p:cNvSpPr txBox="1"/>
          <p:nvPr/>
        </p:nvSpPr>
        <p:spPr>
          <a:xfrm>
            <a:off x="6803136" y="3950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Teclado y control</a:t>
            </a:r>
            <a:endParaRPr lang="en-US" sz="1300" dirty="0"/>
          </a:p>
        </p:txBody>
      </p:sp>
      <p:sp>
        <p:nvSpPr>
          <p:cNvPr id="35" name="Pantallas extra texto 3"/>
          <p:cNvSpPr txBox="1"/>
          <p:nvPr/>
        </p:nvSpPr>
        <p:spPr>
          <a:xfrm>
            <a:off x="6803136" y="4224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Enter abre la mesa y Esc la cierra.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Tu contador de bolsillo</a:t>
            </a:r>
            <a:endParaRPr lang="en-US" sz="3000" dirty="0"/>
          </a:p>
        </p:txBody>
      </p:sp>
      <p:sp>
        <p:nvSpPr>
          <p:cNvPr id="3" name="Pantalla de contabilidad marco"/>
          <p:cNvSpPr/>
          <p:nvPr/>
        </p:nvSpPr>
        <p:spPr>
          <a:xfrm>
            <a:off x="6473952" y="1033272"/>
            <a:ext cx="1818139" cy="3785616"/>
          </a:xfrm>
          <a:prstGeom prst="roundRect">
            <a:avLst>
              <a:gd name="adj" fmla="val 11065"/>
            </a:avLst>
          </a:prstGeom>
          <a:solidFill>
            <a:srgbClr val="05050A"/>
          </a:solidFill>
          <a:ln w="19050">
            <a:solidFill>
              <a:srgbClr val="4C3A8F"/>
            </a:solidFill>
            <a:prstDash val="solid"/>
          </a:ln>
          <a:effectLst>
            <a:outerShdw sx="100000" sy="100000" kx="0" ky="0" algn="bl" rotWithShape="0" blurRad="228600" dist="25400" dir="5400000">
              <a:srgbClr val="7C3AED">
                <a:alpha val="35000"/>
              </a:srgbClr>
            </a:outerShdw>
          </a:effectLst>
        </p:spPr>
      </p:sp>
      <p:pic>
        <p:nvPicPr>
          <p:cNvPr id="4" name="Pantalla de contabilida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097280"/>
            <a:ext cx="1690123" cy="3657600"/>
          </a:xfrm>
          <a:prstGeom prst="rect">
            <a:avLst/>
          </a:prstGeom>
        </p:spPr>
      </p:pic>
      <p:sp>
        <p:nvSpPr>
          <p:cNvPr id="5" name="Entradas y gastos círculo"/>
          <p:cNvSpPr/>
          <p:nvPr/>
        </p:nvSpPr>
        <p:spPr>
          <a:xfrm>
            <a:off x="548640" y="118872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Entradas y gastos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1320394"/>
            <a:ext cx="285293" cy="285293"/>
          </a:xfrm>
          <a:prstGeom prst="rect">
            <a:avLst/>
          </a:prstGeom>
        </p:spPr>
      </p:pic>
      <p:sp>
        <p:nvSpPr>
          <p:cNvPr id="7" name="Conta título 1"/>
          <p:cNvSpPr txBox="1"/>
          <p:nvPr/>
        </p:nvSpPr>
        <p:spPr>
          <a:xfrm>
            <a:off x="1234440" y="1170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y gastos</a:t>
            </a:r>
            <a:endParaRPr lang="en-US" sz="1400" dirty="0"/>
          </a:p>
        </p:txBody>
      </p:sp>
      <p:sp>
        <p:nvSpPr>
          <p:cNvPr id="8" name="Conta texto 1"/>
          <p:cNvSpPr txBox="1"/>
          <p:nvPr/>
        </p:nvSpPr>
        <p:spPr>
          <a:xfrm>
            <a:off x="1234440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Por medio de pago: efectivo, transferencia, Nequi, tarjeta.</a:t>
            </a:r>
            <a:endParaRPr lang="en-US" sz="1200" dirty="0"/>
          </a:p>
        </p:txBody>
      </p:sp>
      <p:sp>
        <p:nvSpPr>
          <p:cNvPr id="9" name="Gastos con su recibo círculo"/>
          <p:cNvSpPr/>
          <p:nvPr/>
        </p:nvSpPr>
        <p:spPr>
          <a:xfrm>
            <a:off x="3520440" y="118872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Gastos con su recibo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114" y="1320394"/>
            <a:ext cx="285293" cy="285293"/>
          </a:xfrm>
          <a:prstGeom prst="rect">
            <a:avLst/>
          </a:prstGeom>
        </p:spPr>
      </p:pic>
      <p:sp>
        <p:nvSpPr>
          <p:cNvPr id="11" name="Conta título 2"/>
          <p:cNvSpPr txBox="1"/>
          <p:nvPr/>
        </p:nvSpPr>
        <p:spPr>
          <a:xfrm>
            <a:off x="4206240" y="1170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Gastos con su recibo</a:t>
            </a:r>
            <a:endParaRPr lang="en-US" sz="1400" dirty="0"/>
          </a:p>
        </p:txBody>
      </p:sp>
      <p:sp>
        <p:nvSpPr>
          <p:cNvPr id="12" name="Conta texto 2"/>
          <p:cNvSpPr txBox="1"/>
          <p:nvPr/>
        </p:nvSpPr>
        <p:spPr>
          <a:xfrm>
            <a:off x="4206240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Por categoría según tu negocio, con la foto del recibo.</a:t>
            </a:r>
            <a:endParaRPr lang="en-US" sz="1200" dirty="0"/>
          </a:p>
        </p:txBody>
      </p:sp>
      <p:sp>
        <p:nvSpPr>
          <p:cNvPr id="13" name="Ganancia real círculo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Ganancia real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2481682"/>
            <a:ext cx="285293" cy="285293"/>
          </a:xfrm>
          <a:prstGeom prst="rect">
            <a:avLst/>
          </a:prstGeom>
        </p:spPr>
      </p:pic>
      <p:sp>
        <p:nvSpPr>
          <p:cNvPr id="15" name="Conta título 3"/>
          <p:cNvSpPr txBox="1"/>
          <p:nvPr/>
        </p:nvSpPr>
        <p:spPr>
          <a:xfrm>
            <a:off x="1234440" y="2331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Ganancia real</a:t>
            </a:r>
            <a:endParaRPr lang="en-US" sz="1400" dirty="0"/>
          </a:p>
        </p:txBody>
      </p:sp>
      <p:sp>
        <p:nvSpPr>
          <p:cNvPr id="16" name="Conta texto 3"/>
          <p:cNvSpPr txBox="1"/>
          <p:nvPr/>
        </p:nvSpPr>
        <p:spPr>
          <a:xfrm>
            <a:off x="1234440" y="26243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«Te quedó»: lo vendido menos el costo de cada producto.</a:t>
            </a:r>
            <a:endParaRPr lang="en-US" sz="1200" dirty="0"/>
          </a:p>
        </p:txBody>
      </p:sp>
      <p:sp>
        <p:nvSpPr>
          <p:cNvPr id="17" name="IVA y costo por unidad círculo"/>
          <p:cNvSpPr/>
          <p:nvPr/>
        </p:nvSpPr>
        <p:spPr>
          <a:xfrm>
            <a:off x="3520440" y="2350008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VA y costo por unidad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2114" y="2481682"/>
            <a:ext cx="285293" cy="285293"/>
          </a:xfrm>
          <a:prstGeom prst="rect">
            <a:avLst/>
          </a:prstGeom>
        </p:spPr>
      </p:pic>
      <p:sp>
        <p:nvSpPr>
          <p:cNvPr id="19" name="Conta título 4"/>
          <p:cNvSpPr txBox="1"/>
          <p:nvPr/>
        </p:nvSpPr>
        <p:spPr>
          <a:xfrm>
            <a:off x="4206240" y="2331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y costo por unidad</a:t>
            </a:r>
            <a:endParaRPr lang="en-US" sz="1400" dirty="0"/>
          </a:p>
        </p:txBody>
      </p:sp>
      <p:sp>
        <p:nvSpPr>
          <p:cNvPr id="20" name="Conta texto 4"/>
          <p:cNvSpPr txBox="1"/>
          <p:nvPr/>
        </p:nvSpPr>
        <p:spPr>
          <a:xfrm>
            <a:off x="4206240" y="26243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Vento calcula el IVA pagado en cada factura de compra.</a:t>
            </a:r>
            <a:endParaRPr lang="en-US" sz="1200" dirty="0"/>
          </a:p>
        </p:txBody>
      </p:sp>
      <p:sp>
        <p:nvSpPr>
          <p:cNvPr id="21" name="Cierre de caja automático círculo"/>
          <p:cNvSpPr/>
          <p:nvPr/>
        </p:nvSpPr>
        <p:spPr>
          <a:xfrm>
            <a:off x="548640" y="3511296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Cierre de caja automático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14" y="3642970"/>
            <a:ext cx="285293" cy="285293"/>
          </a:xfrm>
          <a:prstGeom prst="rect">
            <a:avLst/>
          </a:prstGeom>
        </p:spPr>
      </p:pic>
      <p:sp>
        <p:nvSpPr>
          <p:cNvPr id="23" name="Conta título 5"/>
          <p:cNvSpPr txBox="1"/>
          <p:nvPr/>
        </p:nvSpPr>
        <p:spPr>
          <a:xfrm>
            <a:off x="1234440" y="3493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caja automático</a:t>
            </a:r>
            <a:endParaRPr lang="en-US" sz="1400" dirty="0"/>
          </a:p>
        </p:txBody>
      </p:sp>
      <p:sp>
        <p:nvSpPr>
          <p:cNvPr id="24" name="Conta texto 5"/>
          <p:cNvSpPr txBox="1"/>
          <p:nvPr/>
        </p:nvSpPr>
        <p:spPr>
          <a:xfrm>
            <a:off x="1234440" y="378561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A la hora que elijas, con resumen del día por horas.</a:t>
            </a:r>
            <a:endParaRPr lang="en-US" sz="1200" dirty="0"/>
          </a:p>
        </p:txBody>
      </p:sp>
      <p:sp>
        <p:nvSpPr>
          <p:cNvPr id="25" name="Listo para tu contador círculo"/>
          <p:cNvSpPr/>
          <p:nvPr/>
        </p:nvSpPr>
        <p:spPr>
          <a:xfrm>
            <a:off x="3520440" y="3511296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Listo para tu contador í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2114" y="3642970"/>
            <a:ext cx="285293" cy="285293"/>
          </a:xfrm>
          <a:prstGeom prst="rect">
            <a:avLst/>
          </a:prstGeom>
        </p:spPr>
      </p:pic>
      <p:sp>
        <p:nvSpPr>
          <p:cNvPr id="27" name="Conta título 6"/>
          <p:cNvSpPr txBox="1"/>
          <p:nvPr/>
        </p:nvSpPr>
        <p:spPr>
          <a:xfrm>
            <a:off x="4206240" y="3493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para tu contador</a:t>
            </a:r>
            <a:endParaRPr lang="en-US" sz="1400" dirty="0"/>
          </a:p>
        </p:txBody>
      </p:sp>
      <p:sp>
        <p:nvSpPr>
          <p:cNvPr id="28" name="Conta texto 6"/>
          <p:cNvSpPr txBox="1"/>
          <p:nvPr/>
        </p:nvSpPr>
        <p:spPr>
          <a:xfrm>
            <a:off x="4206240" y="378561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Movimientos y ventas en Excel con un toque.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La libreta de fiados, ahora por voz</a:t>
            </a:r>
            <a:endParaRPr lang="en-US" sz="3000" dirty="0"/>
          </a:p>
        </p:txBody>
      </p:sp>
      <p:sp>
        <p:nvSpPr>
          <p:cNvPr id="3" name="Libreta 1"/>
          <p:cNvSpPr/>
          <p:nvPr/>
        </p:nvSpPr>
        <p:spPr>
          <a:xfrm>
            <a:off x="548640" y="118872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262338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4" name="Libreta frase 1"/>
          <p:cNvSpPr txBox="1"/>
          <p:nvPr/>
        </p:nvSpPr>
        <p:spPr>
          <a:xfrm>
            <a:off x="777240" y="13258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B5FD"/>
                </a:solidFill>
              </a:rPr>
              <a:t>«Juan me debe 20 mil»</a:t>
            </a:r>
            <a:endParaRPr lang="en-US" sz="1500" dirty="0"/>
          </a:p>
        </p:txBody>
      </p:sp>
      <p:sp>
        <p:nvSpPr>
          <p:cNvPr id="5" name="Libreta efecto 1"/>
          <p:cNvSpPr txBox="1"/>
          <p:nvPr/>
        </p:nvSpPr>
        <p:spPr>
          <a:xfrm>
            <a:off x="77724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Queda anotado en la libreta, con fecha.</a:t>
            </a:r>
            <a:endParaRPr lang="en-US" sz="1300" dirty="0"/>
          </a:p>
        </p:txBody>
      </p:sp>
      <p:sp>
        <p:nvSpPr>
          <p:cNvPr id="6" name="Libreta 2"/>
          <p:cNvSpPr/>
          <p:nvPr/>
        </p:nvSpPr>
        <p:spPr>
          <a:xfrm>
            <a:off x="4617720" y="118872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7" name="Libreta frase 2"/>
          <p:cNvSpPr txBox="1"/>
          <p:nvPr/>
        </p:nvSpPr>
        <p:spPr>
          <a:xfrm>
            <a:off x="4846320" y="13258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B5FD"/>
                </a:solidFill>
              </a:rPr>
              <a:t>«Juan pagó 10 mil»</a:t>
            </a:r>
            <a:endParaRPr lang="en-US" sz="1500" dirty="0"/>
          </a:p>
        </p:txBody>
      </p:sp>
      <p:sp>
        <p:nvSpPr>
          <p:cNvPr id="8" name="Libreta efecto 2"/>
          <p:cNvSpPr txBox="1"/>
          <p:nvPr/>
        </p:nvSpPr>
        <p:spPr>
          <a:xfrm>
            <a:off x="48463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Descuenta el abono y dice cuánto le falta.</a:t>
            </a:r>
            <a:endParaRPr lang="en-US" sz="1300" dirty="0"/>
          </a:p>
        </p:txBody>
      </p:sp>
      <p:sp>
        <p:nvSpPr>
          <p:cNvPr id="9" name="Libreta 3"/>
          <p:cNvSpPr/>
          <p:nvPr/>
        </p:nvSpPr>
        <p:spPr>
          <a:xfrm>
            <a:off x="548640" y="233172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0" name="Libreta frase 3"/>
          <p:cNvSpPr txBox="1"/>
          <p:nvPr/>
        </p:nvSpPr>
        <p:spPr>
          <a:xfrm>
            <a:off x="777240" y="24688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B5FD"/>
                </a:solidFill>
              </a:rPr>
              <a:t>«¿Quién me debe?»</a:t>
            </a:r>
            <a:endParaRPr lang="en-US" sz="1500" dirty="0"/>
          </a:p>
        </p:txBody>
      </p:sp>
      <p:sp>
        <p:nvSpPr>
          <p:cNvPr id="11" name="Libreta efecto 3"/>
          <p:cNvSpPr txBox="1"/>
          <p:nvPr/>
        </p:nvSpPr>
        <p:spPr>
          <a:xfrm>
            <a:off x="77724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Lista de deudores y el total por cobrar.</a:t>
            </a:r>
            <a:endParaRPr lang="en-US" sz="1300" dirty="0"/>
          </a:p>
        </p:txBody>
      </p:sp>
      <p:sp>
        <p:nvSpPr>
          <p:cNvPr id="12" name="Libreta 4"/>
          <p:cNvSpPr/>
          <p:nvPr/>
        </p:nvSpPr>
        <p:spPr>
          <a:xfrm>
            <a:off x="4617720" y="233172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262338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3" name="Libreta frase 4"/>
          <p:cNvSpPr txBox="1"/>
          <p:nvPr/>
        </p:nvSpPr>
        <p:spPr>
          <a:xfrm>
            <a:off x="4846320" y="24688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B5FD"/>
                </a:solidFill>
              </a:rPr>
              <a:t>«Le pagué a Pedro 50 mil»</a:t>
            </a:r>
            <a:endParaRPr lang="en-US" sz="1500" dirty="0"/>
          </a:p>
        </p:txBody>
      </p:sp>
      <p:sp>
        <p:nvSpPr>
          <p:cNvPr id="14" name="Libreta efecto 4"/>
          <p:cNvSpPr txBox="1"/>
          <p:nvPr/>
        </p:nvSpPr>
        <p:spPr>
          <a:xfrm>
            <a:off x="484632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Pagos a empleados, sumados por mes.</a:t>
            </a:r>
            <a:endParaRPr lang="en-US" sz="1300" dirty="0"/>
          </a:p>
        </p:txBody>
      </p:sp>
      <p:sp>
        <p:nvSpPr>
          <p:cNvPr id="15" name="Libreta 5"/>
          <p:cNvSpPr/>
          <p:nvPr/>
        </p:nvSpPr>
        <p:spPr>
          <a:xfrm>
            <a:off x="548640" y="347472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6" name="Libreta frase 5"/>
          <p:cNvSpPr txBox="1"/>
          <p:nvPr/>
        </p:nvSpPr>
        <p:spPr>
          <a:xfrm>
            <a:off x="777240" y="36118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B5FD"/>
                </a:solidFill>
              </a:rPr>
              <a:t>«Súmame 13.400»</a:t>
            </a:r>
            <a:endParaRPr lang="en-US" sz="1500" dirty="0"/>
          </a:p>
        </p:txBody>
      </p:sp>
      <p:sp>
        <p:nvSpPr>
          <p:cNvPr id="17" name="Libreta efecto 5"/>
          <p:cNvSpPr txBox="1"/>
          <p:nvPr/>
        </p:nvSpPr>
        <p:spPr>
          <a:xfrm>
            <a:off x="77724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Calculadora de cuenta corrida: «¿cuánto llevo?»</a:t>
            </a:r>
            <a:endParaRPr lang="en-US" sz="1300" dirty="0"/>
          </a:p>
        </p:txBody>
      </p:sp>
      <p:sp>
        <p:nvSpPr>
          <p:cNvPr id="18" name="Libreta 6"/>
          <p:cNvSpPr/>
          <p:nvPr/>
        </p:nvSpPr>
        <p:spPr>
          <a:xfrm>
            <a:off x="4617720" y="347472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9" name="Libreta frase 6"/>
          <p:cNvSpPr txBox="1"/>
          <p:nvPr/>
        </p:nvSpPr>
        <p:spPr>
          <a:xfrm>
            <a:off x="4846320" y="36118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B5FD"/>
                </a:solidFill>
              </a:rPr>
              <a:t>Mesa que queda debiendo</a:t>
            </a:r>
            <a:endParaRPr lang="en-US" sz="1500" dirty="0"/>
          </a:p>
        </p:txBody>
      </p:sp>
      <p:sp>
        <p:nvSpPr>
          <p:cNvPr id="20" name="Libreta efecto 6"/>
          <p:cNvSpPr txBox="1"/>
          <p:nvPr/>
        </p:nvSpPr>
        <p:spPr>
          <a:xfrm>
            <a:off x="484632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Pasa sola a la libreta con el nombre de quien debe.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Inventario que casi se maneja solo</a:t>
            </a:r>
            <a:endParaRPr lang="en-US" sz="3000" dirty="0"/>
          </a:p>
        </p:txBody>
      </p:sp>
      <p:sp>
        <p:nvSpPr>
          <p:cNvPr id="3" name="Pantalla de productos marco"/>
          <p:cNvSpPr/>
          <p:nvPr/>
        </p:nvSpPr>
        <p:spPr>
          <a:xfrm>
            <a:off x="621792" y="1033272"/>
            <a:ext cx="1818139" cy="3785616"/>
          </a:xfrm>
          <a:prstGeom prst="roundRect">
            <a:avLst>
              <a:gd name="adj" fmla="val 11065"/>
            </a:avLst>
          </a:prstGeom>
          <a:solidFill>
            <a:srgbClr val="05050A"/>
          </a:solidFill>
          <a:ln w="19050">
            <a:solidFill>
              <a:srgbClr val="4C3A8F"/>
            </a:solidFill>
            <a:prstDash val="solid"/>
          </a:ln>
          <a:effectLst>
            <a:outerShdw sx="100000" sy="100000" kx="0" ky="0" algn="bl" rotWithShape="0" blurRad="228600" dist="25400" dir="5400000">
              <a:srgbClr val="7C3AED">
                <a:alpha val="35000"/>
              </a:srgbClr>
            </a:outerShdw>
          </a:effectLst>
        </p:spPr>
      </p:sp>
      <p:pic>
        <p:nvPicPr>
          <p:cNvPr id="4" name="Pantalla de producto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1690123" cy="3657600"/>
          </a:xfrm>
          <a:prstGeom prst="rect">
            <a:avLst/>
          </a:prstGeom>
        </p:spPr>
      </p:pic>
      <p:sp>
        <p:nvSpPr>
          <p:cNvPr id="5" name="Factura del proveedor círculo"/>
          <p:cNvSpPr/>
          <p:nvPr/>
        </p:nvSpPr>
        <p:spPr>
          <a:xfrm>
            <a:off x="2971800" y="118872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Factura del proveedor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474" y="1320394"/>
            <a:ext cx="285293" cy="285293"/>
          </a:xfrm>
          <a:prstGeom prst="rect">
            <a:avLst/>
          </a:prstGeom>
        </p:spPr>
      </p:pic>
      <p:sp>
        <p:nvSpPr>
          <p:cNvPr id="7" name="Inv título 1"/>
          <p:cNvSpPr txBox="1"/>
          <p:nvPr/>
        </p:nvSpPr>
        <p:spPr>
          <a:xfrm>
            <a:off x="3657600" y="1170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 del proveedor</a:t>
            </a:r>
            <a:endParaRPr lang="en-US" sz="1400" dirty="0"/>
          </a:p>
        </p:txBody>
      </p:sp>
      <p:sp>
        <p:nvSpPr>
          <p:cNvPr id="8" name="Inv texto 1"/>
          <p:cNvSpPr txBox="1"/>
          <p:nvPr/>
        </p:nvSpPr>
        <p:spPr>
          <a:xfrm>
            <a:off x="3657600" y="1463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Foto o PDF: anota cantidades, IVA y costo real.</a:t>
            </a:r>
            <a:endParaRPr lang="en-US" sz="1200" dirty="0"/>
          </a:p>
        </p:txBody>
      </p:sp>
      <p:sp>
        <p:nvSpPr>
          <p:cNvPr id="9" name="Margen con foto círculo"/>
          <p:cNvSpPr/>
          <p:nvPr/>
        </p:nvSpPr>
        <p:spPr>
          <a:xfrm>
            <a:off x="5852160" y="118872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Margen con foto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834" y="1320394"/>
            <a:ext cx="285293" cy="285293"/>
          </a:xfrm>
          <a:prstGeom prst="rect">
            <a:avLst/>
          </a:prstGeom>
        </p:spPr>
      </p:pic>
      <p:sp>
        <p:nvSpPr>
          <p:cNvPr id="11" name="Inv título 2"/>
          <p:cNvSpPr txBox="1"/>
          <p:nvPr/>
        </p:nvSpPr>
        <p:spPr>
          <a:xfrm>
            <a:off x="6537960" y="1170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con foto</a:t>
            </a:r>
            <a:endParaRPr lang="en-US" sz="1400" dirty="0"/>
          </a:p>
        </p:txBody>
      </p:sp>
      <p:sp>
        <p:nvSpPr>
          <p:cNvPr id="12" name="Inv texto 2"/>
          <p:cNvSpPr txBox="1"/>
          <p:nvPr/>
        </p:nvSpPr>
        <p:spPr>
          <a:xfrm>
            <a:off x="6537960" y="1463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Foto de la etiqueta: dice el costo y a cuánto venderlo.</a:t>
            </a:r>
            <a:endParaRPr lang="en-US" sz="1200" dirty="0"/>
          </a:p>
        </p:txBody>
      </p:sp>
      <p:sp>
        <p:nvSpPr>
          <p:cNvPr id="13" name="Código de barras círculo"/>
          <p:cNvSpPr/>
          <p:nvPr/>
        </p:nvSpPr>
        <p:spPr>
          <a:xfrm>
            <a:off x="2971800" y="2350008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Código de barras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474" y="2481682"/>
            <a:ext cx="285293" cy="285293"/>
          </a:xfrm>
          <a:prstGeom prst="rect">
            <a:avLst/>
          </a:prstGeom>
        </p:spPr>
      </p:pic>
      <p:sp>
        <p:nvSpPr>
          <p:cNvPr id="15" name="Inv título 3"/>
          <p:cNvSpPr txBox="1"/>
          <p:nvPr/>
        </p:nvSpPr>
        <p:spPr>
          <a:xfrm>
            <a:off x="3657600" y="2331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barras</a:t>
            </a:r>
            <a:endParaRPr lang="en-US" sz="1400" dirty="0"/>
          </a:p>
        </p:txBody>
      </p:sp>
      <p:sp>
        <p:nvSpPr>
          <p:cNvPr id="16" name="Inv texto 3"/>
          <p:cNvSpPr txBox="1"/>
          <p:nvPr/>
        </p:nvSpPr>
        <p:spPr>
          <a:xfrm>
            <a:off x="3657600" y="26243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Vende escaneando, como en un supermercado.</a:t>
            </a:r>
            <a:endParaRPr lang="en-US" sz="1200" dirty="0"/>
          </a:p>
        </p:txBody>
      </p:sp>
      <p:sp>
        <p:nvSpPr>
          <p:cNvPr id="17" name="Unir repetidos círculo"/>
          <p:cNvSpPr/>
          <p:nvPr/>
        </p:nvSpPr>
        <p:spPr>
          <a:xfrm>
            <a:off x="5852160" y="2350008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Unir repetidos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834" y="2481682"/>
            <a:ext cx="285293" cy="285293"/>
          </a:xfrm>
          <a:prstGeom prst="rect">
            <a:avLst/>
          </a:prstGeom>
        </p:spPr>
      </p:pic>
      <p:sp>
        <p:nvSpPr>
          <p:cNvPr id="19" name="Inv título 4"/>
          <p:cNvSpPr txBox="1"/>
          <p:nvPr/>
        </p:nvSpPr>
        <p:spPr>
          <a:xfrm>
            <a:off x="6537960" y="2331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Unir repetidos</a:t>
            </a:r>
            <a:endParaRPr lang="en-US" sz="1400" dirty="0"/>
          </a:p>
        </p:txBody>
      </p:sp>
      <p:sp>
        <p:nvSpPr>
          <p:cNvPr id="20" name="Inv texto 4"/>
          <p:cNvSpPr txBox="1"/>
          <p:nvPr/>
        </p:nvSpPr>
        <p:spPr>
          <a:xfrm>
            <a:off x="6537960" y="26243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Encuentra productos duplicados y los junta.</a:t>
            </a:r>
            <a:endParaRPr lang="en-US" sz="1200" dirty="0"/>
          </a:p>
        </p:txBody>
      </p:sp>
      <p:sp>
        <p:nvSpPr>
          <p:cNvPr id="21" name="Avisos y predicción círculo"/>
          <p:cNvSpPr/>
          <p:nvPr/>
        </p:nvSpPr>
        <p:spPr>
          <a:xfrm>
            <a:off x="2971800" y="3511296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Avisos y predicción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3474" y="3642970"/>
            <a:ext cx="285293" cy="285293"/>
          </a:xfrm>
          <a:prstGeom prst="rect">
            <a:avLst/>
          </a:prstGeom>
        </p:spPr>
      </p:pic>
      <p:sp>
        <p:nvSpPr>
          <p:cNvPr id="23" name="Inv título 5"/>
          <p:cNvSpPr txBox="1"/>
          <p:nvPr/>
        </p:nvSpPr>
        <p:spPr>
          <a:xfrm>
            <a:off x="3657600" y="3493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 y predicción</a:t>
            </a:r>
            <a:endParaRPr lang="en-US" sz="1400" dirty="0"/>
          </a:p>
        </p:txBody>
      </p:sp>
      <p:sp>
        <p:nvSpPr>
          <p:cNvPr id="24" name="Inv texto 5"/>
          <p:cNvSpPr txBox="1"/>
          <p:nvPr/>
        </p:nvSpPr>
        <p:spPr>
          <a:xfrm>
            <a:off x="3657600" y="378561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«¿Cuánto me dura?»: estima según lo vendido.</a:t>
            </a:r>
            <a:endParaRPr lang="en-US" sz="1200" dirty="0"/>
          </a:p>
        </p:txBody>
      </p:sp>
      <p:sp>
        <p:nvSpPr>
          <p:cNvPr id="25" name="Movimientos círculo"/>
          <p:cNvSpPr/>
          <p:nvPr/>
        </p:nvSpPr>
        <p:spPr>
          <a:xfrm>
            <a:off x="5852160" y="3511296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Movimientos í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3834" y="3642970"/>
            <a:ext cx="285293" cy="285293"/>
          </a:xfrm>
          <a:prstGeom prst="rect">
            <a:avLst/>
          </a:prstGeom>
        </p:spPr>
      </p:pic>
      <p:sp>
        <p:nvSpPr>
          <p:cNvPr id="27" name="Inv título 6"/>
          <p:cNvSpPr txBox="1"/>
          <p:nvPr/>
        </p:nvSpPr>
        <p:spPr>
          <a:xfrm>
            <a:off x="6537960" y="3493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Movimientos</a:t>
            </a:r>
            <a:endParaRPr lang="en-US" sz="1400" dirty="0"/>
          </a:p>
        </p:txBody>
      </p:sp>
      <p:sp>
        <p:nvSpPr>
          <p:cNvPr id="28" name="Inv texto 6"/>
          <p:cNvSpPr txBox="1"/>
          <p:nvPr/>
        </p:nvSpPr>
        <p:spPr>
          <a:xfrm>
            <a:off x="6537960" y="378561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Historial de cada entrada y salida, con su fecha.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Todo el equipo, sincronizado</a:t>
            </a:r>
            <a:endParaRPr lang="en-US" sz="3000" dirty="0"/>
          </a:p>
        </p:txBody>
      </p:sp>
      <p:sp>
        <p:nvSpPr>
          <p:cNvPr id="3" name="Pantalla de preparación marco"/>
          <p:cNvSpPr/>
          <p:nvPr/>
        </p:nvSpPr>
        <p:spPr>
          <a:xfrm>
            <a:off x="6473952" y="1033272"/>
            <a:ext cx="1818139" cy="3785616"/>
          </a:xfrm>
          <a:prstGeom prst="roundRect">
            <a:avLst>
              <a:gd name="adj" fmla="val 11065"/>
            </a:avLst>
          </a:prstGeom>
          <a:solidFill>
            <a:srgbClr val="05050A"/>
          </a:solidFill>
          <a:ln w="19050">
            <a:solidFill>
              <a:srgbClr val="4C3A8F"/>
            </a:solidFill>
            <a:prstDash val="solid"/>
          </a:ln>
          <a:effectLst>
            <a:outerShdw sx="100000" sy="100000" kx="0" ky="0" algn="bl" rotWithShape="0" blurRad="228600" dist="25400" dir="5400000">
              <a:srgbClr val="7C3AED">
                <a:alpha val="35000"/>
              </a:srgbClr>
            </a:outerShdw>
          </a:effectLst>
        </p:spPr>
      </p:sp>
      <p:pic>
        <p:nvPicPr>
          <p:cNvPr id="4" name="Pantalla de preparació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097280"/>
            <a:ext cx="1690123" cy="3657600"/>
          </a:xfrm>
          <a:prstGeom prst="rect">
            <a:avLst/>
          </a:prstGeom>
        </p:spPr>
      </p:pic>
      <p:sp>
        <p:nvSpPr>
          <p:cNvPr id="5" name="App de meseros círculo"/>
          <p:cNvSpPr/>
          <p:nvPr/>
        </p:nvSpPr>
        <p:spPr>
          <a:xfrm>
            <a:off x="548640" y="1143000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App de meseros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" y="1270284"/>
            <a:ext cx="275783" cy="275783"/>
          </a:xfrm>
          <a:prstGeom prst="rect">
            <a:avLst/>
          </a:prstGeom>
        </p:spPr>
      </p:pic>
      <p:sp>
        <p:nvSpPr>
          <p:cNvPr id="7" name="Equipo título 1"/>
          <p:cNvSpPr txBox="1"/>
          <p:nvPr/>
        </p:nvSpPr>
        <p:spPr>
          <a:xfrm>
            <a:off x="1234440" y="11247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 meseros</a:t>
            </a:r>
            <a:endParaRPr lang="en-US" sz="1500" dirty="0"/>
          </a:p>
        </p:txBody>
      </p:sp>
      <p:sp>
        <p:nvSpPr>
          <p:cNvPr id="8" name="Equipo texto 1"/>
          <p:cNvSpPr txBox="1"/>
          <p:nvPr/>
        </p:nvSpPr>
        <p:spPr>
          <a:xfrm>
            <a:off x="1234440" y="1399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Cada mesero pide desde su celular, tocando o por voz; llega directo a la caja.</a:t>
            </a:r>
            <a:endParaRPr lang="en-US" sz="1200" dirty="0"/>
          </a:p>
        </p:txBody>
      </p:sp>
      <p:sp>
        <p:nvSpPr>
          <p:cNvPr id="9" name="Pantalla de cocina o barra círculo"/>
          <p:cNvSpPr/>
          <p:nvPr/>
        </p:nvSpPr>
        <p:spPr>
          <a:xfrm>
            <a:off x="548640" y="185623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Pantalla de cocina o barra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24" y="1983516"/>
            <a:ext cx="275783" cy="275783"/>
          </a:xfrm>
          <a:prstGeom prst="rect">
            <a:avLst/>
          </a:prstGeom>
        </p:spPr>
      </p:pic>
      <p:sp>
        <p:nvSpPr>
          <p:cNvPr id="11" name="Equipo título 2"/>
          <p:cNvSpPr txBox="1"/>
          <p:nvPr/>
        </p:nvSpPr>
        <p:spPr>
          <a:xfrm>
            <a:off x="1234440" y="1837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de cocina o barra</a:t>
            </a:r>
            <a:endParaRPr lang="en-US" sz="1500" dirty="0"/>
          </a:p>
        </p:txBody>
      </p:sp>
      <p:sp>
        <p:nvSpPr>
          <p:cNvPr id="12" name="Equipo texto 2"/>
          <p:cNvSpPr txBox="1"/>
          <p:nvPr/>
        </p:nvSpPr>
        <p:spPr>
          <a:xfrm>
            <a:off x="1234440" y="21122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Recibido → En preparación → Listo → Entregado.</a:t>
            </a:r>
            <a:endParaRPr lang="en-US" sz="1200" dirty="0"/>
          </a:p>
        </p:txBody>
      </p:sp>
      <p:sp>
        <p:nvSpPr>
          <p:cNvPr id="13" name="Roles y permisos círculo"/>
          <p:cNvSpPr/>
          <p:nvPr/>
        </p:nvSpPr>
        <p:spPr>
          <a:xfrm>
            <a:off x="548640" y="2569464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Roles y permisos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24" y="2696748"/>
            <a:ext cx="275783" cy="275783"/>
          </a:xfrm>
          <a:prstGeom prst="rect">
            <a:avLst/>
          </a:prstGeom>
        </p:spPr>
      </p:pic>
      <p:sp>
        <p:nvSpPr>
          <p:cNvPr id="15" name="Equipo título 3"/>
          <p:cNvSpPr txBox="1"/>
          <p:nvPr/>
        </p:nvSpPr>
        <p:spPr>
          <a:xfrm>
            <a:off x="1234440" y="25511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y permisos</a:t>
            </a:r>
            <a:endParaRPr lang="en-US" sz="1500" dirty="0"/>
          </a:p>
        </p:txBody>
      </p:sp>
      <p:sp>
        <p:nvSpPr>
          <p:cNvPr id="16" name="Equipo texto 3"/>
          <p:cNvSpPr txBox="1"/>
          <p:nvPr/>
        </p:nvSpPr>
        <p:spPr>
          <a:xfrm>
            <a:off x="1234440" y="28254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Dueño, administrador, cajero y mesero, cada uno con lo suyo.</a:t>
            </a:r>
            <a:endParaRPr lang="en-US" sz="1200" dirty="0"/>
          </a:p>
        </p:txBody>
      </p:sp>
      <p:sp>
        <p:nvSpPr>
          <p:cNvPr id="17" name="Mapa del local círculo"/>
          <p:cNvSpPr/>
          <p:nvPr/>
        </p:nvSpPr>
        <p:spPr>
          <a:xfrm>
            <a:off x="548640" y="3282696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Mapa del local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24" y="3409980"/>
            <a:ext cx="275783" cy="275783"/>
          </a:xfrm>
          <a:prstGeom prst="rect">
            <a:avLst/>
          </a:prstGeom>
        </p:spPr>
      </p:pic>
      <p:sp>
        <p:nvSpPr>
          <p:cNvPr id="19" name="Equipo título 4"/>
          <p:cNvSpPr txBox="1"/>
          <p:nvPr/>
        </p:nvSpPr>
        <p:spPr>
          <a:xfrm>
            <a:off x="1234440" y="3264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del local</a:t>
            </a:r>
            <a:endParaRPr lang="en-US" sz="1500" dirty="0"/>
          </a:p>
        </p:txBody>
      </p:sp>
      <p:sp>
        <p:nvSpPr>
          <p:cNvPr id="20" name="Equipo texto 4"/>
          <p:cNvSpPr txBox="1"/>
          <p:nvPr/>
        </p:nvSpPr>
        <p:spPr>
          <a:xfrm>
            <a:off x="1234440" y="35387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Mesas en su lugar; pásalas, júntalas o sepáralas.</a:t>
            </a:r>
            <a:endParaRPr lang="en-US" sz="1200" dirty="0"/>
          </a:p>
        </p:txBody>
      </p:sp>
      <p:sp>
        <p:nvSpPr>
          <p:cNvPr id="21" name="Avisos aunque esté cerrada círculo"/>
          <p:cNvSpPr/>
          <p:nvPr/>
        </p:nvSpPr>
        <p:spPr>
          <a:xfrm>
            <a:off x="548640" y="399592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Avisos aunque esté cerrada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24" y="4123212"/>
            <a:ext cx="275783" cy="275783"/>
          </a:xfrm>
          <a:prstGeom prst="rect">
            <a:avLst/>
          </a:prstGeom>
        </p:spPr>
      </p:pic>
      <p:sp>
        <p:nvSpPr>
          <p:cNvPr id="23" name="Equipo título 5"/>
          <p:cNvSpPr txBox="1"/>
          <p:nvPr/>
        </p:nvSpPr>
        <p:spPr>
          <a:xfrm>
            <a:off x="1234440" y="3977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 aunque esté cerrada</a:t>
            </a:r>
            <a:endParaRPr lang="en-US" sz="1500" dirty="0"/>
          </a:p>
        </p:txBody>
      </p:sp>
      <p:sp>
        <p:nvSpPr>
          <p:cNvPr id="24" name="Equipo texto 5"/>
          <p:cNvSpPr txBox="1"/>
          <p:nvPr/>
        </p:nvSpPr>
        <p:spPr>
          <a:xfrm>
            <a:off x="123444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Pedidos nuevos en la pantalla del celular bloqueado.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Más formas de vender</a:t>
            </a:r>
            <a:endParaRPr lang="en-US" sz="3000" dirty="0"/>
          </a:p>
        </p:txBody>
      </p:sp>
      <p:sp>
        <p:nvSpPr>
          <p:cNvPr id="3" name="Carta digital marco"/>
          <p:cNvSpPr/>
          <p:nvPr/>
        </p:nvSpPr>
        <p:spPr>
          <a:xfrm>
            <a:off x="621792" y="1033272"/>
            <a:ext cx="1818139" cy="3785616"/>
          </a:xfrm>
          <a:prstGeom prst="roundRect">
            <a:avLst>
              <a:gd name="adj" fmla="val 11065"/>
            </a:avLst>
          </a:prstGeom>
          <a:solidFill>
            <a:srgbClr val="05050A"/>
          </a:solidFill>
          <a:ln w="19050">
            <a:solidFill>
              <a:srgbClr val="4C3A8F"/>
            </a:solidFill>
            <a:prstDash val="solid"/>
          </a:ln>
          <a:effectLst>
            <a:outerShdw sx="100000" sy="100000" kx="0" ky="0" algn="bl" rotWithShape="0" blurRad="228600" dist="25400" dir="5400000">
              <a:srgbClr val="7C3AED">
                <a:alpha val="35000"/>
              </a:srgbClr>
            </a:outerShdw>
          </a:effectLst>
        </p:spPr>
      </p:sp>
      <p:pic>
        <p:nvPicPr>
          <p:cNvPr id="4" name="Carta digit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1690123" cy="3657600"/>
          </a:xfrm>
          <a:prstGeom prst="rect">
            <a:avLst/>
          </a:prstGeom>
        </p:spPr>
      </p:pic>
      <p:sp>
        <p:nvSpPr>
          <p:cNvPr id="5" name="Venta rápida círculo"/>
          <p:cNvSpPr/>
          <p:nvPr/>
        </p:nvSpPr>
        <p:spPr>
          <a:xfrm>
            <a:off x="2971800" y="118872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Venta rápida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474" y="1320394"/>
            <a:ext cx="285293" cy="285293"/>
          </a:xfrm>
          <a:prstGeom prst="rect">
            <a:avLst/>
          </a:prstGeom>
        </p:spPr>
      </p:pic>
      <p:sp>
        <p:nvSpPr>
          <p:cNvPr id="7" name="Vender título 1"/>
          <p:cNvSpPr txBox="1"/>
          <p:nvPr/>
        </p:nvSpPr>
        <p:spPr>
          <a:xfrm>
            <a:off x="3657600" y="1170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rápida</a:t>
            </a:r>
            <a:endParaRPr lang="en-US" sz="1400" dirty="0"/>
          </a:p>
        </p:txBody>
      </p:sp>
      <p:sp>
        <p:nvSpPr>
          <p:cNvPr id="8" name="Vender texto 1"/>
          <p:cNvSpPr txBox="1"/>
          <p:nvPr/>
        </p:nvSpPr>
        <p:spPr>
          <a:xfrm>
            <a:off x="3657600" y="1463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Mostrador sin abrir mesa, en segundos.</a:t>
            </a:r>
            <a:endParaRPr lang="en-US" sz="1200" dirty="0"/>
          </a:p>
        </p:txBody>
      </p:sp>
      <p:sp>
        <p:nvSpPr>
          <p:cNvPr id="9" name="Domicilios círculo"/>
          <p:cNvSpPr/>
          <p:nvPr/>
        </p:nvSpPr>
        <p:spPr>
          <a:xfrm>
            <a:off x="5852160" y="118872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Domicilios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834" y="1320394"/>
            <a:ext cx="285293" cy="285293"/>
          </a:xfrm>
          <a:prstGeom prst="rect">
            <a:avLst/>
          </a:prstGeom>
        </p:spPr>
      </p:pic>
      <p:sp>
        <p:nvSpPr>
          <p:cNvPr id="11" name="Vender título 2"/>
          <p:cNvSpPr txBox="1"/>
          <p:nvPr/>
        </p:nvSpPr>
        <p:spPr>
          <a:xfrm>
            <a:off x="6537960" y="1170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Domicilios</a:t>
            </a:r>
            <a:endParaRPr lang="en-US" sz="1400" dirty="0"/>
          </a:p>
        </p:txBody>
      </p:sp>
      <p:sp>
        <p:nvSpPr>
          <p:cNvPr id="12" name="Vender texto 2"/>
          <p:cNvSpPr txBox="1"/>
          <p:nvPr/>
        </p:nvSpPr>
        <p:spPr>
          <a:xfrm>
            <a:off x="6537960" y="1463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Cliente, dirección y valor del envío.</a:t>
            </a:r>
            <a:endParaRPr lang="en-US" sz="1200" dirty="0"/>
          </a:p>
        </p:txBody>
      </p:sp>
      <p:sp>
        <p:nvSpPr>
          <p:cNvPr id="13" name="Carta digital en QR círculo"/>
          <p:cNvSpPr/>
          <p:nvPr/>
        </p:nvSpPr>
        <p:spPr>
          <a:xfrm>
            <a:off x="2971800" y="2350008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Carta digital en QR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474" y="2481682"/>
            <a:ext cx="285293" cy="285293"/>
          </a:xfrm>
          <a:prstGeom prst="rect">
            <a:avLst/>
          </a:prstGeom>
        </p:spPr>
      </p:pic>
      <p:sp>
        <p:nvSpPr>
          <p:cNvPr id="15" name="Vender título 3"/>
          <p:cNvSpPr txBox="1"/>
          <p:nvPr/>
        </p:nvSpPr>
        <p:spPr>
          <a:xfrm>
            <a:off x="3657600" y="2331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 digital en QR</a:t>
            </a:r>
            <a:endParaRPr lang="en-US" sz="1400" dirty="0"/>
          </a:p>
        </p:txBody>
      </p:sp>
      <p:sp>
        <p:nvSpPr>
          <p:cNvPr id="16" name="Vender texto 3"/>
          <p:cNvSpPr txBox="1"/>
          <p:nvPr/>
        </p:nvSpPr>
        <p:spPr>
          <a:xfrm>
            <a:off x="3657600" y="26243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Con combos y promociones, siempre al día.</a:t>
            </a:r>
            <a:endParaRPr lang="en-US" sz="1200" dirty="0"/>
          </a:p>
        </p:txBody>
      </p:sp>
      <p:sp>
        <p:nvSpPr>
          <p:cNvPr id="17" name="Clientes frecuentes círculo"/>
          <p:cNvSpPr/>
          <p:nvPr/>
        </p:nvSpPr>
        <p:spPr>
          <a:xfrm>
            <a:off x="5852160" y="2350008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Clientes frecuentes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834" y="2481682"/>
            <a:ext cx="285293" cy="285293"/>
          </a:xfrm>
          <a:prstGeom prst="rect">
            <a:avLst/>
          </a:prstGeom>
        </p:spPr>
      </p:pic>
      <p:sp>
        <p:nvSpPr>
          <p:cNvPr id="19" name="Vender título 4"/>
          <p:cNvSpPr txBox="1"/>
          <p:nvPr/>
        </p:nvSpPr>
        <p:spPr>
          <a:xfrm>
            <a:off x="6537960" y="2331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frecuentes</a:t>
            </a:r>
            <a:endParaRPr lang="en-US" sz="1400" dirty="0"/>
          </a:p>
        </p:txBody>
      </p:sp>
      <p:sp>
        <p:nvSpPr>
          <p:cNvPr id="20" name="Vender texto 4"/>
          <p:cNvSpPr txBox="1"/>
          <p:nvPr/>
        </p:nvSpPr>
        <p:spPr>
          <a:xfrm>
            <a:off x="6537960" y="26243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Visitas y gasto de cada cliente por WhatsApp.</a:t>
            </a:r>
            <a:endParaRPr lang="en-US" sz="1200" dirty="0"/>
          </a:p>
        </p:txBody>
      </p:sp>
      <p:sp>
        <p:nvSpPr>
          <p:cNvPr id="21" name="Propinas círculo"/>
          <p:cNvSpPr/>
          <p:nvPr/>
        </p:nvSpPr>
        <p:spPr>
          <a:xfrm>
            <a:off x="2971800" y="3511296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Propinas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3474" y="3642970"/>
            <a:ext cx="285293" cy="285293"/>
          </a:xfrm>
          <a:prstGeom prst="rect">
            <a:avLst/>
          </a:prstGeom>
        </p:spPr>
      </p:pic>
      <p:sp>
        <p:nvSpPr>
          <p:cNvPr id="23" name="Vender título 5"/>
          <p:cNvSpPr txBox="1"/>
          <p:nvPr/>
        </p:nvSpPr>
        <p:spPr>
          <a:xfrm>
            <a:off x="3657600" y="3493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Propinas</a:t>
            </a:r>
            <a:endParaRPr lang="en-US" sz="1400" dirty="0"/>
          </a:p>
        </p:txBody>
      </p:sp>
      <p:sp>
        <p:nvSpPr>
          <p:cNvPr id="24" name="Vender texto 5"/>
          <p:cNvSpPr txBox="1"/>
          <p:nvPr/>
        </p:nvSpPr>
        <p:spPr>
          <a:xfrm>
            <a:off x="3657600" y="378561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Se suman al cobrar, sin cuentas aparte.</a:t>
            </a:r>
            <a:endParaRPr lang="en-US" sz="1200" dirty="0"/>
          </a:p>
        </p:txBody>
      </p:sp>
      <p:sp>
        <p:nvSpPr>
          <p:cNvPr id="25" name="Recibo con tu NIT círculo"/>
          <p:cNvSpPr/>
          <p:nvPr/>
        </p:nvSpPr>
        <p:spPr>
          <a:xfrm>
            <a:off x="5852160" y="3511296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Recibo con tu NIT í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3834" y="3642970"/>
            <a:ext cx="285293" cy="285293"/>
          </a:xfrm>
          <a:prstGeom prst="rect">
            <a:avLst/>
          </a:prstGeom>
        </p:spPr>
      </p:pic>
      <p:sp>
        <p:nvSpPr>
          <p:cNvPr id="27" name="Vender título 6"/>
          <p:cNvSpPr txBox="1"/>
          <p:nvPr/>
        </p:nvSpPr>
        <p:spPr>
          <a:xfrm>
            <a:off x="6537960" y="3493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Recibo con tu NIT</a:t>
            </a:r>
            <a:endParaRPr lang="en-US" sz="1400" dirty="0"/>
          </a:p>
        </p:txBody>
      </p:sp>
      <p:sp>
        <p:nvSpPr>
          <p:cNvPr id="28" name="Vender texto 6"/>
          <p:cNvSpPr txBox="1"/>
          <p:nvPr/>
        </p:nvSpPr>
        <p:spPr>
          <a:xfrm>
            <a:off x="6537960" y="378561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Impreso o por WhatsApp, con desglose de IVA.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 Vento para cada negocio</a:t>
            </a:r>
            <a:endParaRPr lang="en-US" sz="3000" dirty="0"/>
          </a:p>
        </p:txBody>
      </p:sp>
      <p:sp>
        <p:nvSpPr>
          <p:cNvPr id="3" name="Dato tipos de negocio"/>
          <p:cNvSpPr/>
          <p:nvPr/>
        </p:nvSpPr>
        <p:spPr>
          <a:xfrm>
            <a:off x="548640" y="1188720"/>
            <a:ext cx="2926080" cy="3291840"/>
          </a:xfrm>
          <a:prstGeom prst="roundRect">
            <a:avLst>
              <a:gd name="adj" fmla="val 3750"/>
            </a:avLst>
          </a:prstGeom>
          <a:solidFill>
            <a:srgbClr val="2A1B55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4" name="Dato 75"/>
          <p:cNvSpPr txBox="1"/>
          <p:nvPr/>
        </p:nvSpPr>
        <p:spPr>
          <a:xfrm>
            <a:off x="77724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</a:t>
            </a:r>
            <a:endParaRPr lang="en-US" sz="6600" dirty="0"/>
          </a:p>
        </p:txBody>
      </p:sp>
      <p:sp>
        <p:nvSpPr>
          <p:cNvPr id="5" name="Dato 75 texto"/>
          <p:cNvSpPr txBox="1"/>
          <p:nvPr/>
        </p:nvSpPr>
        <p:spPr>
          <a:xfrm>
            <a:off x="777240" y="2514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tipos de negocio listos para usar</a:t>
            </a:r>
            <a:endParaRPr lang="en-US" sz="1600" dirty="0"/>
          </a:p>
        </p:txBody>
      </p:sp>
      <p:sp>
        <p:nvSpPr>
          <p:cNvPr id="6" name="Dato 75 nota"/>
          <p:cNvSpPr txBox="1"/>
          <p:nvPr/>
        </p:nvSpPr>
        <p:spPr>
          <a:xfrm>
            <a:off x="777240" y="3246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La app usa las palabras de tu negocio: mesas, sillas, habitaciones, citas u órdenes.</a:t>
            </a:r>
            <a:endParaRPr lang="en-US" sz="1200" dirty="0"/>
          </a:p>
        </p:txBody>
      </p:sp>
      <p:sp>
        <p:nvSpPr>
          <p:cNvPr id="7" name="Tipo Bar / Cervecería"/>
          <p:cNvSpPr/>
          <p:nvPr/>
        </p:nvSpPr>
        <p:spPr>
          <a:xfrm>
            <a:off x="3703320" y="1188720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8" name="Tipo texto 1"/>
          <p:cNvSpPr txBox="1"/>
          <p:nvPr/>
        </p:nvSpPr>
        <p:spPr>
          <a:xfrm>
            <a:off x="3703320" y="11887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Bar / Cervecería</a:t>
            </a:r>
            <a:endParaRPr lang="en-US" sz="1100" dirty="0"/>
          </a:p>
        </p:txBody>
      </p:sp>
      <p:sp>
        <p:nvSpPr>
          <p:cNvPr id="9" name="Tipo Restaurante"/>
          <p:cNvSpPr/>
          <p:nvPr/>
        </p:nvSpPr>
        <p:spPr>
          <a:xfrm>
            <a:off x="5349240" y="1188720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10" name="Tipo texto 2"/>
          <p:cNvSpPr txBox="1"/>
          <p:nvPr/>
        </p:nvSpPr>
        <p:spPr>
          <a:xfrm>
            <a:off x="5349240" y="11887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Restaurante</a:t>
            </a:r>
            <a:endParaRPr lang="en-US" sz="1100" dirty="0"/>
          </a:p>
        </p:txBody>
      </p:sp>
      <p:sp>
        <p:nvSpPr>
          <p:cNvPr id="11" name="Tipo Cafetería"/>
          <p:cNvSpPr/>
          <p:nvPr/>
        </p:nvSpPr>
        <p:spPr>
          <a:xfrm>
            <a:off x="6995160" y="1188720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12" name="Tipo texto 3"/>
          <p:cNvSpPr txBox="1"/>
          <p:nvPr/>
        </p:nvSpPr>
        <p:spPr>
          <a:xfrm>
            <a:off x="6995160" y="11887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Cafetería</a:t>
            </a:r>
            <a:endParaRPr lang="en-US" sz="1100" dirty="0"/>
          </a:p>
        </p:txBody>
      </p:sp>
      <p:sp>
        <p:nvSpPr>
          <p:cNvPr id="13" name="Tipo Tienda de barrio"/>
          <p:cNvSpPr/>
          <p:nvPr/>
        </p:nvSpPr>
        <p:spPr>
          <a:xfrm>
            <a:off x="3703320" y="16642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14" name="Tipo texto 4"/>
          <p:cNvSpPr txBox="1"/>
          <p:nvPr/>
        </p:nvSpPr>
        <p:spPr>
          <a:xfrm>
            <a:off x="3703320" y="16642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Tienda de barrio</a:t>
            </a:r>
            <a:endParaRPr lang="en-US" sz="1100" dirty="0"/>
          </a:p>
        </p:txBody>
      </p:sp>
      <p:sp>
        <p:nvSpPr>
          <p:cNvPr id="15" name="Tipo Discoteca"/>
          <p:cNvSpPr/>
          <p:nvPr/>
        </p:nvSpPr>
        <p:spPr>
          <a:xfrm>
            <a:off x="5349240" y="16642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16" name="Tipo texto 5"/>
          <p:cNvSpPr txBox="1"/>
          <p:nvPr/>
        </p:nvSpPr>
        <p:spPr>
          <a:xfrm>
            <a:off x="5349240" y="16642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Discoteca</a:t>
            </a:r>
            <a:endParaRPr lang="en-US" sz="1100" dirty="0"/>
          </a:p>
        </p:txBody>
      </p:sp>
      <p:sp>
        <p:nvSpPr>
          <p:cNvPr id="17" name="Tipo Billar"/>
          <p:cNvSpPr/>
          <p:nvPr/>
        </p:nvSpPr>
        <p:spPr>
          <a:xfrm>
            <a:off x="6995160" y="16642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18" name="Tipo texto 6"/>
          <p:cNvSpPr txBox="1"/>
          <p:nvPr/>
        </p:nvSpPr>
        <p:spPr>
          <a:xfrm>
            <a:off x="6995160" y="16642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Billar</a:t>
            </a:r>
            <a:endParaRPr lang="en-US" sz="1100" dirty="0"/>
          </a:p>
        </p:txBody>
      </p:sp>
      <p:sp>
        <p:nvSpPr>
          <p:cNvPr id="19" name="Tipo Pizzería"/>
          <p:cNvSpPr/>
          <p:nvPr/>
        </p:nvSpPr>
        <p:spPr>
          <a:xfrm>
            <a:off x="3703320" y="2139696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20" name="Tipo texto 7"/>
          <p:cNvSpPr txBox="1"/>
          <p:nvPr/>
        </p:nvSpPr>
        <p:spPr>
          <a:xfrm>
            <a:off x="3703320" y="213969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Pizzería</a:t>
            </a:r>
            <a:endParaRPr lang="en-US" sz="1100" dirty="0"/>
          </a:p>
        </p:txBody>
      </p:sp>
      <p:sp>
        <p:nvSpPr>
          <p:cNvPr id="21" name="Tipo Panadería"/>
          <p:cNvSpPr/>
          <p:nvPr/>
        </p:nvSpPr>
        <p:spPr>
          <a:xfrm>
            <a:off x="5349240" y="2139696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22" name="Tipo texto 8"/>
          <p:cNvSpPr txBox="1"/>
          <p:nvPr/>
        </p:nvSpPr>
        <p:spPr>
          <a:xfrm>
            <a:off x="5349240" y="213969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Panadería</a:t>
            </a:r>
            <a:endParaRPr lang="en-US" sz="1100" dirty="0"/>
          </a:p>
        </p:txBody>
      </p:sp>
      <p:sp>
        <p:nvSpPr>
          <p:cNvPr id="23" name="Tipo Farmacia"/>
          <p:cNvSpPr/>
          <p:nvPr/>
        </p:nvSpPr>
        <p:spPr>
          <a:xfrm>
            <a:off x="6995160" y="2139696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24" name="Tipo texto 9"/>
          <p:cNvSpPr txBox="1"/>
          <p:nvPr/>
        </p:nvSpPr>
        <p:spPr>
          <a:xfrm>
            <a:off x="6995160" y="213969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Farmacia</a:t>
            </a:r>
            <a:endParaRPr lang="en-US" sz="1100" dirty="0"/>
          </a:p>
        </p:txBody>
      </p:sp>
      <p:sp>
        <p:nvSpPr>
          <p:cNvPr id="25" name="Tipo Licorera"/>
          <p:cNvSpPr/>
          <p:nvPr/>
        </p:nvSpPr>
        <p:spPr>
          <a:xfrm>
            <a:off x="3703320" y="2615184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26" name="Tipo texto 10"/>
          <p:cNvSpPr txBox="1"/>
          <p:nvPr/>
        </p:nvSpPr>
        <p:spPr>
          <a:xfrm>
            <a:off x="3703320" y="2615184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Licorera</a:t>
            </a:r>
            <a:endParaRPr lang="en-US" sz="1100" dirty="0"/>
          </a:p>
        </p:txBody>
      </p:sp>
      <p:sp>
        <p:nvSpPr>
          <p:cNvPr id="27" name="Tipo Ferretería"/>
          <p:cNvSpPr/>
          <p:nvPr/>
        </p:nvSpPr>
        <p:spPr>
          <a:xfrm>
            <a:off x="5349240" y="2615184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28" name="Tipo texto 11"/>
          <p:cNvSpPr txBox="1"/>
          <p:nvPr/>
        </p:nvSpPr>
        <p:spPr>
          <a:xfrm>
            <a:off x="5349240" y="2615184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Ferretería</a:t>
            </a:r>
            <a:endParaRPr lang="en-US" sz="1100" dirty="0"/>
          </a:p>
        </p:txBody>
      </p:sp>
      <p:sp>
        <p:nvSpPr>
          <p:cNvPr id="29" name="Tipo Barbería"/>
          <p:cNvSpPr/>
          <p:nvPr/>
        </p:nvSpPr>
        <p:spPr>
          <a:xfrm>
            <a:off x="6995160" y="2615184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30" name="Tipo texto 12"/>
          <p:cNvSpPr txBox="1"/>
          <p:nvPr/>
        </p:nvSpPr>
        <p:spPr>
          <a:xfrm>
            <a:off x="6995160" y="2615184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Barbería</a:t>
            </a:r>
            <a:endParaRPr lang="en-US" sz="1100" dirty="0"/>
          </a:p>
        </p:txBody>
      </p:sp>
      <p:sp>
        <p:nvSpPr>
          <p:cNvPr id="31" name="Tipo Salón de belleza"/>
          <p:cNvSpPr/>
          <p:nvPr/>
        </p:nvSpPr>
        <p:spPr>
          <a:xfrm>
            <a:off x="3703320" y="309067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32" name="Tipo texto 13"/>
          <p:cNvSpPr txBox="1"/>
          <p:nvPr/>
        </p:nvSpPr>
        <p:spPr>
          <a:xfrm>
            <a:off x="3703320" y="30906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Salón de belleza</a:t>
            </a:r>
            <a:endParaRPr lang="en-US" sz="1100" dirty="0"/>
          </a:p>
        </p:txBody>
      </p:sp>
      <p:sp>
        <p:nvSpPr>
          <p:cNvPr id="33" name="Tipo Hotel / Hostal"/>
          <p:cNvSpPr/>
          <p:nvPr/>
        </p:nvSpPr>
        <p:spPr>
          <a:xfrm>
            <a:off x="5349240" y="309067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34" name="Tipo texto 14"/>
          <p:cNvSpPr txBox="1"/>
          <p:nvPr/>
        </p:nvSpPr>
        <p:spPr>
          <a:xfrm>
            <a:off x="5349240" y="30906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Hotel / Hostal</a:t>
            </a:r>
            <a:endParaRPr lang="en-US" sz="1100" dirty="0"/>
          </a:p>
        </p:txBody>
      </p:sp>
      <p:sp>
        <p:nvSpPr>
          <p:cNvPr id="35" name="Tipo Lavadero"/>
          <p:cNvSpPr/>
          <p:nvPr/>
        </p:nvSpPr>
        <p:spPr>
          <a:xfrm>
            <a:off x="6995160" y="309067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36" name="Tipo texto 15"/>
          <p:cNvSpPr txBox="1"/>
          <p:nvPr/>
        </p:nvSpPr>
        <p:spPr>
          <a:xfrm>
            <a:off x="6995160" y="30906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Lavadero</a:t>
            </a:r>
            <a:endParaRPr lang="en-US" sz="1100" dirty="0"/>
          </a:p>
        </p:txBody>
      </p:sp>
      <p:sp>
        <p:nvSpPr>
          <p:cNvPr id="37" name="Tipo Gimnasio"/>
          <p:cNvSpPr/>
          <p:nvPr/>
        </p:nvSpPr>
        <p:spPr>
          <a:xfrm>
            <a:off x="3703320" y="3566160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38" name="Tipo texto 16"/>
          <p:cNvSpPr txBox="1"/>
          <p:nvPr/>
        </p:nvSpPr>
        <p:spPr>
          <a:xfrm>
            <a:off x="3703320" y="356616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Gimnasio</a:t>
            </a:r>
            <a:endParaRPr lang="en-US" sz="1100" dirty="0"/>
          </a:p>
        </p:txBody>
      </p:sp>
      <p:sp>
        <p:nvSpPr>
          <p:cNvPr id="39" name="Tipo Veterinaria"/>
          <p:cNvSpPr/>
          <p:nvPr/>
        </p:nvSpPr>
        <p:spPr>
          <a:xfrm>
            <a:off x="5349240" y="3566160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40" name="Tipo texto 17"/>
          <p:cNvSpPr txBox="1"/>
          <p:nvPr/>
        </p:nvSpPr>
        <p:spPr>
          <a:xfrm>
            <a:off x="5349240" y="356616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Veterinaria</a:t>
            </a:r>
            <a:endParaRPr lang="en-US" sz="1100" dirty="0"/>
          </a:p>
        </p:txBody>
      </p:sp>
      <p:sp>
        <p:nvSpPr>
          <p:cNvPr id="41" name="Tipo Taller mecánico"/>
          <p:cNvSpPr/>
          <p:nvPr/>
        </p:nvSpPr>
        <p:spPr>
          <a:xfrm>
            <a:off x="6995160" y="3566160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42" name="Tipo texto 18"/>
          <p:cNvSpPr txBox="1"/>
          <p:nvPr/>
        </p:nvSpPr>
        <p:spPr>
          <a:xfrm>
            <a:off x="6995160" y="356616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Taller mecánico</a:t>
            </a:r>
            <a:endParaRPr lang="en-US" sz="1100" dirty="0"/>
          </a:p>
        </p:txBody>
      </p:sp>
      <p:sp>
        <p:nvSpPr>
          <p:cNvPr id="43" name="Tipo Minimercado"/>
          <p:cNvSpPr/>
          <p:nvPr/>
        </p:nvSpPr>
        <p:spPr>
          <a:xfrm>
            <a:off x="3703320" y="404164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44" name="Tipo texto 19"/>
          <p:cNvSpPr txBox="1"/>
          <p:nvPr/>
        </p:nvSpPr>
        <p:spPr>
          <a:xfrm>
            <a:off x="3703320" y="40416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Minimercado</a:t>
            </a:r>
            <a:endParaRPr lang="en-US" sz="1100" dirty="0"/>
          </a:p>
        </p:txBody>
      </p:sp>
      <p:sp>
        <p:nvSpPr>
          <p:cNvPr id="45" name="Tipo Heladería"/>
          <p:cNvSpPr/>
          <p:nvPr/>
        </p:nvSpPr>
        <p:spPr>
          <a:xfrm>
            <a:off x="5349240" y="404164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46" name="Tipo texto 20"/>
          <p:cNvSpPr txBox="1"/>
          <p:nvPr/>
        </p:nvSpPr>
        <p:spPr>
          <a:xfrm>
            <a:off x="5349240" y="40416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Heladería</a:t>
            </a:r>
            <a:endParaRPr lang="en-US" sz="1100" dirty="0"/>
          </a:p>
        </p:txBody>
      </p:sp>
      <p:sp>
        <p:nvSpPr>
          <p:cNvPr id="47" name="Tipo Comidas rápidas"/>
          <p:cNvSpPr/>
          <p:nvPr/>
        </p:nvSpPr>
        <p:spPr>
          <a:xfrm>
            <a:off x="6995160" y="404164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C1A2B"/>
          </a:solidFill>
          <a:ln w="9525">
            <a:solidFill>
              <a:srgbClr val="3A3356"/>
            </a:solidFill>
            <a:prstDash val="solid"/>
          </a:ln>
        </p:spPr>
      </p:sp>
      <p:sp>
        <p:nvSpPr>
          <p:cNvPr id="48" name="Tipo texto 21"/>
          <p:cNvSpPr txBox="1"/>
          <p:nvPr/>
        </p:nvSpPr>
        <p:spPr>
          <a:xfrm>
            <a:off x="6995160" y="40416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7"/>
                </a:solidFill>
              </a:rPr>
              <a:t>Comidas rápidas</a:t>
            </a:r>
            <a:endParaRPr lang="en-US" sz="1100" dirty="0"/>
          </a:p>
        </p:txBody>
      </p:sp>
      <p:sp>
        <p:nvSpPr>
          <p:cNvPr id="49" name="Sedes"/>
          <p:cNvSpPr txBox="1"/>
          <p:nvPr/>
        </p:nvSpPr>
        <p:spPr>
          <a:xfrm>
            <a:off x="3703320" y="45262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Y varias sedes en una sola cuenta: cada local con sus mesas, productos e inventario.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Todo incluido en una sola app</a:t>
            </a:r>
            <a:endParaRPr lang="en-US" sz="3000" dirty="0"/>
          </a:p>
        </p:txBody>
      </p:sp>
      <p:sp>
        <p:nvSpPr>
          <p:cNvPr id="3" name="Incluido 1"/>
          <p:cNvSpPr/>
          <p:nvPr/>
        </p:nvSpPr>
        <p:spPr>
          <a:xfrm>
            <a:off x="548640" y="1234440"/>
            <a:ext cx="2542032" cy="713232"/>
          </a:xfrm>
          <a:prstGeom prst="roundRect">
            <a:avLst>
              <a:gd name="adj" fmla="val 15385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pic>
        <p:nvPicPr>
          <p:cNvPr id="4" name="Vist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35608"/>
            <a:ext cx="310896" cy="310896"/>
          </a:xfrm>
          <a:prstGeom prst="rect">
            <a:avLst/>
          </a:prstGeom>
        </p:spPr>
      </p:pic>
      <p:sp>
        <p:nvSpPr>
          <p:cNvPr id="5" name="Incluido texto 1"/>
          <p:cNvSpPr txBox="1"/>
          <p:nvPr/>
        </p:nvSpPr>
        <p:spPr>
          <a:xfrm>
            <a:off x="1143000" y="13075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Pedidos por voz en español colombiano</a:t>
            </a:r>
            <a:endParaRPr lang="en-US" sz="1200" dirty="0"/>
          </a:p>
        </p:txBody>
      </p:sp>
      <p:sp>
        <p:nvSpPr>
          <p:cNvPr id="6" name="Incluido 2"/>
          <p:cNvSpPr/>
          <p:nvPr/>
        </p:nvSpPr>
        <p:spPr>
          <a:xfrm>
            <a:off x="3264408" y="1234440"/>
            <a:ext cx="2542032" cy="713232"/>
          </a:xfrm>
          <a:prstGeom prst="roundRect">
            <a:avLst>
              <a:gd name="adj" fmla="val 15385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pic>
        <p:nvPicPr>
          <p:cNvPr id="7" name="Vist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435608"/>
            <a:ext cx="310896" cy="310896"/>
          </a:xfrm>
          <a:prstGeom prst="rect">
            <a:avLst/>
          </a:prstGeom>
        </p:spPr>
      </p:pic>
      <p:sp>
        <p:nvSpPr>
          <p:cNvPr id="8" name="Incluido texto 2"/>
          <p:cNvSpPr txBox="1"/>
          <p:nvPr/>
        </p:nvSpPr>
        <p:spPr>
          <a:xfrm>
            <a:off x="3858768" y="13075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IA que lee facturas, incluso sin internet</a:t>
            </a:r>
            <a:endParaRPr lang="en-US" sz="1200" dirty="0"/>
          </a:p>
        </p:txBody>
      </p:sp>
      <p:sp>
        <p:nvSpPr>
          <p:cNvPr id="9" name="Incluido 3"/>
          <p:cNvSpPr/>
          <p:nvPr/>
        </p:nvSpPr>
        <p:spPr>
          <a:xfrm>
            <a:off x="5980176" y="1234440"/>
            <a:ext cx="2542032" cy="713232"/>
          </a:xfrm>
          <a:prstGeom prst="roundRect">
            <a:avLst>
              <a:gd name="adj" fmla="val 15385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pic>
        <p:nvPicPr>
          <p:cNvPr id="10" name="Vist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435608"/>
            <a:ext cx="310896" cy="310896"/>
          </a:xfrm>
          <a:prstGeom prst="rect">
            <a:avLst/>
          </a:prstGeom>
        </p:spPr>
      </p:pic>
      <p:sp>
        <p:nvSpPr>
          <p:cNvPr id="11" name="Incluido texto 3"/>
          <p:cNvSpPr txBox="1"/>
          <p:nvPr/>
        </p:nvSpPr>
        <p:spPr>
          <a:xfrm>
            <a:off x="6574536" y="13075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Música de los clientes en el TV</a:t>
            </a:r>
            <a:endParaRPr lang="en-US" sz="1200" dirty="0"/>
          </a:p>
        </p:txBody>
      </p:sp>
      <p:sp>
        <p:nvSpPr>
          <p:cNvPr id="12" name="Incluido 4"/>
          <p:cNvSpPr/>
          <p:nvPr/>
        </p:nvSpPr>
        <p:spPr>
          <a:xfrm>
            <a:off x="548640" y="2075688"/>
            <a:ext cx="2542032" cy="713232"/>
          </a:xfrm>
          <a:prstGeom prst="roundRect">
            <a:avLst>
              <a:gd name="adj" fmla="val 15385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pic>
        <p:nvPicPr>
          <p:cNvPr id="13" name="Visto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276856"/>
            <a:ext cx="310896" cy="310896"/>
          </a:xfrm>
          <a:prstGeom prst="rect">
            <a:avLst/>
          </a:prstGeom>
        </p:spPr>
      </p:pic>
      <p:sp>
        <p:nvSpPr>
          <p:cNvPr id="14" name="Incluido texto 4"/>
          <p:cNvSpPr txBox="1"/>
          <p:nvPr/>
        </p:nvSpPr>
        <p:spPr>
          <a:xfrm>
            <a:off x="1143000" y="2148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Pedidos por QR desde la mesa</a:t>
            </a:r>
            <a:endParaRPr lang="en-US" sz="1200" dirty="0"/>
          </a:p>
        </p:txBody>
      </p:sp>
      <p:sp>
        <p:nvSpPr>
          <p:cNvPr id="15" name="Incluido 5"/>
          <p:cNvSpPr/>
          <p:nvPr/>
        </p:nvSpPr>
        <p:spPr>
          <a:xfrm>
            <a:off x="3264408" y="2075688"/>
            <a:ext cx="2542032" cy="713232"/>
          </a:xfrm>
          <a:prstGeom prst="roundRect">
            <a:avLst>
              <a:gd name="adj" fmla="val 15385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pic>
        <p:nvPicPr>
          <p:cNvPr id="16" name="Visto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276856"/>
            <a:ext cx="310896" cy="310896"/>
          </a:xfrm>
          <a:prstGeom prst="rect">
            <a:avLst/>
          </a:prstGeom>
        </p:spPr>
      </p:pic>
      <p:sp>
        <p:nvSpPr>
          <p:cNvPr id="17" name="Incluido texto 5"/>
          <p:cNvSpPr txBox="1"/>
          <p:nvPr/>
        </p:nvSpPr>
        <p:spPr>
          <a:xfrm>
            <a:off x="3858768" y="2148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Cuenta dividida, abonos y fiados</a:t>
            </a:r>
            <a:endParaRPr lang="en-US" sz="1200" dirty="0"/>
          </a:p>
        </p:txBody>
      </p:sp>
      <p:sp>
        <p:nvSpPr>
          <p:cNvPr id="18" name="Incluido 6"/>
          <p:cNvSpPr/>
          <p:nvPr/>
        </p:nvSpPr>
        <p:spPr>
          <a:xfrm>
            <a:off x="5980176" y="2075688"/>
            <a:ext cx="2542032" cy="713232"/>
          </a:xfrm>
          <a:prstGeom prst="roundRect">
            <a:avLst>
              <a:gd name="adj" fmla="val 15385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pic>
        <p:nvPicPr>
          <p:cNvPr id="19" name="Visto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2276856"/>
            <a:ext cx="310896" cy="310896"/>
          </a:xfrm>
          <a:prstGeom prst="rect">
            <a:avLst/>
          </a:prstGeom>
        </p:spPr>
      </p:pic>
      <p:sp>
        <p:nvSpPr>
          <p:cNvPr id="20" name="Incluido texto 6"/>
          <p:cNvSpPr txBox="1"/>
          <p:nvPr/>
        </p:nvSpPr>
        <p:spPr>
          <a:xfrm>
            <a:off x="6574536" y="2148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Contabilidad y cierre de caja</a:t>
            </a:r>
            <a:endParaRPr lang="en-US" sz="1200" dirty="0"/>
          </a:p>
        </p:txBody>
      </p:sp>
      <p:sp>
        <p:nvSpPr>
          <p:cNvPr id="21" name="Incluido 7"/>
          <p:cNvSpPr/>
          <p:nvPr/>
        </p:nvSpPr>
        <p:spPr>
          <a:xfrm>
            <a:off x="548640" y="2916936"/>
            <a:ext cx="2542032" cy="713232"/>
          </a:xfrm>
          <a:prstGeom prst="roundRect">
            <a:avLst>
              <a:gd name="adj" fmla="val 15385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pic>
        <p:nvPicPr>
          <p:cNvPr id="22" name="Visto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118104"/>
            <a:ext cx="310896" cy="310896"/>
          </a:xfrm>
          <a:prstGeom prst="rect">
            <a:avLst/>
          </a:prstGeom>
        </p:spPr>
      </p:pic>
      <p:sp>
        <p:nvSpPr>
          <p:cNvPr id="23" name="Incluido texto 7"/>
          <p:cNvSpPr txBox="1"/>
          <p:nvPr/>
        </p:nvSpPr>
        <p:spPr>
          <a:xfrm>
            <a:off x="1143000" y="29900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Inventario con avisos y predicción</a:t>
            </a:r>
            <a:endParaRPr lang="en-US" sz="1200" dirty="0"/>
          </a:p>
        </p:txBody>
      </p:sp>
      <p:sp>
        <p:nvSpPr>
          <p:cNvPr id="24" name="Incluido 8"/>
          <p:cNvSpPr/>
          <p:nvPr/>
        </p:nvSpPr>
        <p:spPr>
          <a:xfrm>
            <a:off x="3264408" y="2916936"/>
            <a:ext cx="2542032" cy="713232"/>
          </a:xfrm>
          <a:prstGeom prst="roundRect">
            <a:avLst>
              <a:gd name="adj" fmla="val 15385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pic>
        <p:nvPicPr>
          <p:cNvPr id="25" name="Visto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118104"/>
            <a:ext cx="310896" cy="310896"/>
          </a:xfrm>
          <a:prstGeom prst="rect">
            <a:avLst/>
          </a:prstGeom>
        </p:spPr>
      </p:pic>
      <p:sp>
        <p:nvSpPr>
          <p:cNvPr id="26" name="Incluido texto 8"/>
          <p:cNvSpPr txBox="1"/>
          <p:nvPr/>
        </p:nvSpPr>
        <p:spPr>
          <a:xfrm>
            <a:off x="3858768" y="29900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 de meseros y pantalla de cocina</a:t>
            </a:r>
            <a:endParaRPr lang="en-US" sz="1200" dirty="0"/>
          </a:p>
        </p:txBody>
      </p:sp>
      <p:sp>
        <p:nvSpPr>
          <p:cNvPr id="27" name="Incluido 9"/>
          <p:cNvSpPr/>
          <p:nvPr/>
        </p:nvSpPr>
        <p:spPr>
          <a:xfrm>
            <a:off x="5980176" y="2916936"/>
            <a:ext cx="2542032" cy="713232"/>
          </a:xfrm>
          <a:prstGeom prst="roundRect">
            <a:avLst>
              <a:gd name="adj" fmla="val 15385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pic>
        <p:nvPicPr>
          <p:cNvPr id="28" name="Visto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4768" y="3118104"/>
            <a:ext cx="310896" cy="310896"/>
          </a:xfrm>
          <a:prstGeom prst="rect">
            <a:avLst/>
          </a:prstGeom>
        </p:spPr>
      </p:pic>
      <p:sp>
        <p:nvSpPr>
          <p:cNvPr id="29" name="Incluido texto 9"/>
          <p:cNvSpPr txBox="1"/>
          <p:nvPr/>
        </p:nvSpPr>
        <p:spPr>
          <a:xfrm>
            <a:off x="6574536" y="29900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Carta digital, domicilios y propinas</a:t>
            </a:r>
            <a:endParaRPr lang="en-US" sz="1200" dirty="0"/>
          </a:p>
        </p:txBody>
      </p:sp>
      <p:sp>
        <p:nvSpPr>
          <p:cNvPr id="30" name="Incluido 10"/>
          <p:cNvSpPr/>
          <p:nvPr/>
        </p:nvSpPr>
        <p:spPr>
          <a:xfrm>
            <a:off x="548640" y="3758184"/>
            <a:ext cx="2542032" cy="713232"/>
          </a:xfrm>
          <a:prstGeom prst="roundRect">
            <a:avLst>
              <a:gd name="adj" fmla="val 15385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pic>
        <p:nvPicPr>
          <p:cNvPr id="31" name="Visto 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" y="3959352"/>
            <a:ext cx="310896" cy="310896"/>
          </a:xfrm>
          <a:prstGeom prst="rect">
            <a:avLst/>
          </a:prstGeom>
        </p:spPr>
      </p:pic>
      <p:sp>
        <p:nvSpPr>
          <p:cNvPr id="32" name="Incluido texto 10"/>
          <p:cNvSpPr txBox="1"/>
          <p:nvPr/>
        </p:nvSpPr>
        <p:spPr>
          <a:xfrm>
            <a:off x="1143000" y="38313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Varios celulares y varias sedes</a:t>
            </a:r>
            <a:endParaRPr lang="en-US" sz="1200" dirty="0"/>
          </a:p>
        </p:txBody>
      </p:sp>
      <p:sp>
        <p:nvSpPr>
          <p:cNvPr id="33" name="Incluido 11"/>
          <p:cNvSpPr/>
          <p:nvPr/>
        </p:nvSpPr>
        <p:spPr>
          <a:xfrm>
            <a:off x="3264408" y="3758184"/>
            <a:ext cx="2542032" cy="713232"/>
          </a:xfrm>
          <a:prstGeom prst="roundRect">
            <a:avLst>
              <a:gd name="adj" fmla="val 15385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pic>
        <p:nvPicPr>
          <p:cNvPr id="34" name="Visto 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0" y="3959352"/>
            <a:ext cx="310896" cy="310896"/>
          </a:xfrm>
          <a:prstGeom prst="rect">
            <a:avLst/>
          </a:prstGeom>
        </p:spPr>
      </p:pic>
      <p:sp>
        <p:nvSpPr>
          <p:cNvPr id="35" name="Incluido texto 11"/>
          <p:cNvSpPr txBox="1"/>
          <p:nvPr/>
        </p:nvSpPr>
        <p:spPr>
          <a:xfrm>
            <a:off x="3858768" y="38313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 comprar equipos: solo el celular</a:t>
            </a:r>
            <a:endParaRPr lang="en-US" sz="1200" dirty="0"/>
          </a:p>
        </p:txBody>
      </p:sp>
      <p:sp>
        <p:nvSpPr>
          <p:cNvPr id="36" name="Incluido 12"/>
          <p:cNvSpPr/>
          <p:nvPr/>
        </p:nvSpPr>
        <p:spPr>
          <a:xfrm>
            <a:off x="5980176" y="3758184"/>
            <a:ext cx="2542032" cy="713232"/>
          </a:xfrm>
          <a:prstGeom prst="roundRect">
            <a:avLst>
              <a:gd name="adj" fmla="val 15385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pic>
        <p:nvPicPr>
          <p:cNvPr id="37" name="Visto 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4768" y="3959352"/>
            <a:ext cx="310896" cy="310896"/>
          </a:xfrm>
          <a:prstGeom prst="rect">
            <a:avLst/>
          </a:prstGeom>
        </p:spPr>
      </p:pic>
      <p:sp>
        <p:nvSpPr>
          <p:cNvPr id="38" name="Incluido texto 12"/>
          <p:cNvSpPr txBox="1"/>
          <p:nvPr/>
        </p:nvSpPr>
        <p:spPr>
          <a:xfrm>
            <a:off x="6574536" y="38313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Respaldos diarios y en la nube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Antes y después de Vento</a:t>
            </a:r>
            <a:endParaRPr lang="en-US" sz="3000" dirty="0"/>
          </a:p>
        </p:txBody>
      </p:sp>
      <p:graphicFrame>
        <p:nvGraphicFramePr>
          <p:cNvPr id="20" name="Tabla antes y despué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30175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7185"/>
                          </a:solidFill>
                        </a:rPr>
                        <a:t>Antes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Con Vento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3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Anotar pedidos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9A6BD"/>
                          </a:solidFill>
                        </a:rPr>
                        <a:t>Libreta y memoria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✓ Voz, QR o un toque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Cobrar mesas grandes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9A6BD"/>
                          </a:solidFill>
                        </a:rPr>
                        <a:t>Calculadora y discusiones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✓ Cada quien paga lo suyo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Saber qué falta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9A6BD"/>
                          </a:solidFill>
                        </a:rPr>
                        <a:t>Contar botellas a mano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✓ Avisos de agotados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Facturas del proveedor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9A6BD"/>
                          </a:solidFill>
                        </a:rPr>
                        <a:t>Digitar línea por línea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✓ Foto y la IA las lee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 música del local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9A6BD"/>
                          </a:solidFill>
                        </a:rPr>
                        <a:t>Un celular conectado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✓ Suena sola lo que piden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Por qué los negocios eligen Vento</a:t>
            </a:r>
            <a:endParaRPr lang="en-US" sz="3000" dirty="0"/>
          </a:p>
        </p:txBody>
      </p:sp>
      <p:sp>
        <p:nvSpPr>
          <p:cNvPr id="3" name="Razón 1"/>
          <p:cNvSpPr/>
          <p:nvPr/>
        </p:nvSpPr>
        <p:spPr>
          <a:xfrm>
            <a:off x="548640" y="1188720"/>
            <a:ext cx="3840480" cy="987552"/>
          </a:xfrm>
          <a:prstGeom prst="roundRect">
            <a:avLst>
              <a:gd name="adj" fmla="val 11111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4" name="Razón 1 círculo"/>
          <p:cNvSpPr/>
          <p:nvPr/>
        </p:nvSpPr>
        <p:spPr>
          <a:xfrm>
            <a:off x="731520" y="1371600"/>
            <a:ext cx="621792" cy="6217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5" name="Razón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750" y="1520830"/>
            <a:ext cx="323332" cy="323332"/>
          </a:xfrm>
          <a:prstGeom prst="rect">
            <a:avLst/>
          </a:prstGeom>
        </p:spPr>
      </p:pic>
      <p:sp>
        <p:nvSpPr>
          <p:cNvPr id="6" name="Razón título 1"/>
          <p:cNvSpPr txBox="1"/>
          <p:nvPr/>
        </p:nvSpPr>
        <p:spPr>
          <a:xfrm>
            <a:off x="1554480" y="13258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en una sola app</a:t>
            </a:r>
            <a:endParaRPr lang="en-US" sz="1500" dirty="0"/>
          </a:p>
        </p:txBody>
      </p:sp>
      <p:sp>
        <p:nvSpPr>
          <p:cNvPr id="7" name="Razón texto 1"/>
          <p:cNvSpPr txBox="1"/>
          <p:nvPr/>
        </p:nvSpPr>
        <p:spPr>
          <a:xfrm>
            <a:off x="1554480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Caja, mesas, inventario, contador, IA y música: no pagas cinco apps.</a:t>
            </a:r>
            <a:endParaRPr lang="en-US" sz="1150" dirty="0"/>
          </a:p>
        </p:txBody>
      </p:sp>
      <p:sp>
        <p:nvSpPr>
          <p:cNvPr id="8" name="Razón 2"/>
          <p:cNvSpPr/>
          <p:nvPr/>
        </p:nvSpPr>
        <p:spPr>
          <a:xfrm>
            <a:off x="4617720" y="1188720"/>
            <a:ext cx="3840480" cy="987552"/>
          </a:xfrm>
          <a:prstGeom prst="roundRect">
            <a:avLst>
              <a:gd name="adj" fmla="val 11111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9" name="Razón 2 círculo"/>
          <p:cNvSpPr/>
          <p:nvPr/>
        </p:nvSpPr>
        <p:spPr>
          <a:xfrm>
            <a:off x="4800600" y="1371600"/>
            <a:ext cx="621792" cy="6217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0" name="Razón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830" y="1520830"/>
            <a:ext cx="323332" cy="323332"/>
          </a:xfrm>
          <a:prstGeom prst="rect">
            <a:avLst/>
          </a:prstGeom>
        </p:spPr>
      </p:pic>
      <p:sp>
        <p:nvSpPr>
          <p:cNvPr id="11" name="Razón título 2"/>
          <p:cNvSpPr txBox="1"/>
          <p:nvPr/>
        </p:nvSpPr>
        <p:spPr>
          <a:xfrm>
            <a:off x="5623560" y="13258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equipos caros</a:t>
            </a:r>
            <a:endParaRPr lang="en-US" sz="1500" dirty="0"/>
          </a:p>
        </p:txBody>
      </p:sp>
      <p:sp>
        <p:nvSpPr>
          <p:cNvPr id="12" name="Razón texto 2"/>
          <p:cNvSpPr txBox="1"/>
          <p:nvPr/>
        </p:nvSpPr>
        <p:spPr>
          <a:xfrm>
            <a:off x="5623560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Funciona en el celular, la tableta o el computador que ya tienes.</a:t>
            </a:r>
            <a:endParaRPr lang="en-US" sz="1150" dirty="0"/>
          </a:p>
        </p:txBody>
      </p:sp>
      <p:sp>
        <p:nvSpPr>
          <p:cNvPr id="13" name="Razón 3"/>
          <p:cNvSpPr/>
          <p:nvPr/>
        </p:nvSpPr>
        <p:spPr>
          <a:xfrm>
            <a:off x="548640" y="2331720"/>
            <a:ext cx="3840480" cy="987552"/>
          </a:xfrm>
          <a:prstGeom prst="roundRect">
            <a:avLst>
              <a:gd name="adj" fmla="val 11111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4" name="Razón 3 círculo"/>
          <p:cNvSpPr/>
          <p:nvPr/>
        </p:nvSpPr>
        <p:spPr>
          <a:xfrm>
            <a:off x="731520" y="2514600"/>
            <a:ext cx="621792" cy="6217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5" name="Razón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50" y="2663830"/>
            <a:ext cx="323332" cy="323332"/>
          </a:xfrm>
          <a:prstGeom prst="rect">
            <a:avLst/>
          </a:prstGeom>
        </p:spPr>
      </p:pic>
      <p:sp>
        <p:nvSpPr>
          <p:cNvPr id="16" name="Razón título 3"/>
          <p:cNvSpPr txBox="1"/>
          <p:nvPr/>
        </p:nvSpPr>
        <p:spPr>
          <a:xfrm>
            <a:off x="1554480" y="24688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maneja hablando</a:t>
            </a:r>
            <a:endParaRPr lang="en-US" sz="1500" dirty="0"/>
          </a:p>
        </p:txBody>
      </p:sp>
      <p:sp>
        <p:nvSpPr>
          <p:cNvPr id="17" name="Razón texto 3"/>
          <p:cNvSpPr txBox="1"/>
          <p:nvPr/>
        </p:nvSpPr>
        <p:spPr>
          <a:xfrm>
            <a:off x="1554480" y="2788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«Hola Vento» y listo: pensado para el ritmo de un negocio lleno.</a:t>
            </a:r>
            <a:endParaRPr lang="en-US" sz="1150" dirty="0"/>
          </a:p>
        </p:txBody>
      </p:sp>
      <p:sp>
        <p:nvSpPr>
          <p:cNvPr id="18" name="Razón 4"/>
          <p:cNvSpPr/>
          <p:nvPr/>
        </p:nvSpPr>
        <p:spPr>
          <a:xfrm>
            <a:off x="4617720" y="2331720"/>
            <a:ext cx="3840480" cy="987552"/>
          </a:xfrm>
          <a:prstGeom prst="roundRect">
            <a:avLst>
              <a:gd name="adj" fmla="val 11111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9" name="Razón 4 círculo"/>
          <p:cNvSpPr/>
          <p:nvPr/>
        </p:nvSpPr>
        <p:spPr>
          <a:xfrm>
            <a:off x="4800600" y="2514600"/>
            <a:ext cx="621792" cy="6217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0" name="Razón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830" y="2663830"/>
            <a:ext cx="323332" cy="323332"/>
          </a:xfrm>
          <a:prstGeom prst="rect">
            <a:avLst/>
          </a:prstGeom>
        </p:spPr>
      </p:pic>
      <p:sp>
        <p:nvSpPr>
          <p:cNvPr id="21" name="Razón título 4"/>
          <p:cNvSpPr txBox="1"/>
          <p:nvPr/>
        </p:nvSpPr>
        <p:spPr>
          <a:xfrm>
            <a:off x="5623560" y="24688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sin internet</a:t>
            </a:r>
            <a:endParaRPr lang="en-US" sz="1500" dirty="0"/>
          </a:p>
        </p:txBody>
      </p:sp>
      <p:sp>
        <p:nvSpPr>
          <p:cNvPr id="22" name="Razón texto 4"/>
          <p:cNvSpPr txBox="1"/>
          <p:nvPr/>
        </p:nvSpPr>
        <p:spPr>
          <a:xfrm>
            <a:off x="5623560" y="2788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Sigue vendiendo sin señal y se pone al día sola.</a:t>
            </a:r>
            <a:endParaRPr lang="en-US" sz="1150" dirty="0"/>
          </a:p>
        </p:txBody>
      </p:sp>
      <p:sp>
        <p:nvSpPr>
          <p:cNvPr id="23" name="Razón 5"/>
          <p:cNvSpPr/>
          <p:nvPr/>
        </p:nvSpPr>
        <p:spPr>
          <a:xfrm>
            <a:off x="548640" y="3474720"/>
            <a:ext cx="3840480" cy="987552"/>
          </a:xfrm>
          <a:prstGeom prst="roundRect">
            <a:avLst>
              <a:gd name="adj" fmla="val 11111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4" name="Razón 5 círculo"/>
          <p:cNvSpPr/>
          <p:nvPr/>
        </p:nvSpPr>
        <p:spPr>
          <a:xfrm>
            <a:off x="731520" y="3657600"/>
            <a:ext cx="621792" cy="6217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5" name="Razón 5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750" y="3806830"/>
            <a:ext cx="323332" cy="323332"/>
          </a:xfrm>
          <a:prstGeom prst="rect">
            <a:avLst/>
          </a:prstGeom>
        </p:spPr>
      </p:pic>
      <p:sp>
        <p:nvSpPr>
          <p:cNvPr id="26" name="Razón título 5"/>
          <p:cNvSpPr txBox="1"/>
          <p:nvPr/>
        </p:nvSpPr>
        <p:spPr>
          <a:xfrm>
            <a:off x="1554480" y="36118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 en Colombia</a:t>
            </a:r>
            <a:endParaRPr lang="en-US" sz="1500" dirty="0"/>
          </a:p>
        </p:txBody>
      </p:sp>
      <p:sp>
        <p:nvSpPr>
          <p:cNvPr id="27" name="Razón texto 5"/>
          <p:cNvSpPr txBox="1"/>
          <p:nvPr/>
        </p:nvSpPr>
        <p:spPr>
          <a:xfrm>
            <a:off x="1554480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Entiende cómo hablamos y te atendemos por WhatsApp.</a:t>
            </a:r>
            <a:endParaRPr lang="en-US" sz="1150" dirty="0"/>
          </a:p>
        </p:txBody>
      </p:sp>
      <p:sp>
        <p:nvSpPr>
          <p:cNvPr id="28" name="Razón 6"/>
          <p:cNvSpPr/>
          <p:nvPr/>
        </p:nvSpPr>
        <p:spPr>
          <a:xfrm>
            <a:off x="4617720" y="3474720"/>
            <a:ext cx="3840480" cy="987552"/>
          </a:xfrm>
          <a:prstGeom prst="roundRect">
            <a:avLst>
              <a:gd name="adj" fmla="val 11111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9" name="Razón 6 círculo"/>
          <p:cNvSpPr/>
          <p:nvPr/>
        </p:nvSpPr>
        <p:spPr>
          <a:xfrm>
            <a:off x="4800600" y="3657600"/>
            <a:ext cx="621792" cy="6217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0" name="Razón 6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9830" y="3806830"/>
            <a:ext cx="323332" cy="323332"/>
          </a:xfrm>
          <a:prstGeom prst="rect">
            <a:avLst/>
          </a:prstGeom>
        </p:spPr>
      </p:pic>
      <p:sp>
        <p:nvSpPr>
          <p:cNvPr id="31" name="Razón título 6"/>
          <p:cNvSpPr txBox="1"/>
          <p:nvPr/>
        </p:nvSpPr>
        <p:spPr>
          <a:xfrm>
            <a:off x="5623560" y="36118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Pruébalo gratis</a:t>
            </a:r>
            <a:endParaRPr lang="en-US" sz="1500" dirty="0"/>
          </a:p>
        </p:txBody>
      </p:sp>
      <p:sp>
        <p:nvSpPr>
          <p:cNvPr id="32" name="Razón texto 6"/>
          <p:cNvSpPr txBox="1"/>
          <p:nvPr/>
        </p:nvSpPr>
        <p:spPr>
          <a:xfrm>
            <a:off x="5623560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Empieza hoy con todas las funciones, sin tarjeta.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Planes para cada negocio</a:t>
            </a:r>
            <a:endParaRPr lang="en-US" sz="3000" dirty="0"/>
          </a:p>
        </p:txBody>
      </p:sp>
      <p:sp>
        <p:nvSpPr>
          <p:cNvPr id="3" name="Plan Prueba gratis"/>
          <p:cNvSpPr/>
          <p:nvPr/>
        </p:nvSpPr>
        <p:spPr>
          <a:xfrm>
            <a:off x="548640" y="1188720"/>
            <a:ext cx="2542032" cy="3108960"/>
          </a:xfrm>
          <a:prstGeom prst="roundRect">
            <a:avLst>
              <a:gd name="adj" fmla="val 5036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4" name="Plan nombre 1"/>
          <p:cNvSpPr txBox="1"/>
          <p:nvPr/>
        </p:nvSpPr>
        <p:spPr>
          <a:xfrm>
            <a:off x="777240" y="1417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gratis</a:t>
            </a:r>
            <a:endParaRPr lang="en-US" sz="1800" dirty="0"/>
          </a:p>
        </p:txBody>
      </p:sp>
      <p:sp>
        <p:nvSpPr>
          <p:cNvPr id="5" name="Plan modo 1"/>
          <p:cNvSpPr txBox="1"/>
          <p:nvPr/>
        </p:nvSpPr>
        <p:spPr>
          <a:xfrm>
            <a:off x="77724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Para conocer Vento</a:t>
            </a:r>
            <a:endParaRPr lang="en-US" sz="1400" dirty="0"/>
          </a:p>
        </p:txBody>
      </p:sp>
      <p:sp>
        <p:nvSpPr>
          <p:cNvPr id="6" name="Plan incluye 1"/>
          <p:cNvSpPr txBox="1"/>
          <p:nvPr/>
        </p:nvSpPr>
        <p:spPr>
          <a:xfrm>
            <a:off x="777240" y="23317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Todas las funciones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Sin tarjeta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Tus datos se quedan</a:t>
            </a:r>
            <a:endParaRPr lang="en-US" sz="1400" dirty="0"/>
          </a:p>
        </p:txBody>
      </p:sp>
      <p:sp>
        <p:nvSpPr>
          <p:cNvPr id="7" name="Plan Suscripción"/>
          <p:cNvSpPr/>
          <p:nvPr/>
        </p:nvSpPr>
        <p:spPr>
          <a:xfrm>
            <a:off x="3264408" y="1188720"/>
            <a:ext cx="2542032" cy="3108960"/>
          </a:xfrm>
          <a:prstGeom prst="roundRect">
            <a:avLst>
              <a:gd name="adj" fmla="val 5036"/>
            </a:avLst>
          </a:prstGeom>
          <a:solidFill>
            <a:srgbClr val="2A1B55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Plan nombre 2"/>
          <p:cNvSpPr txBox="1"/>
          <p:nvPr/>
        </p:nvSpPr>
        <p:spPr>
          <a:xfrm>
            <a:off x="3493008" y="1417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Suscripción</a:t>
            </a:r>
            <a:endParaRPr lang="en-US" sz="1800" dirty="0"/>
          </a:p>
        </p:txBody>
      </p:sp>
      <p:sp>
        <p:nvSpPr>
          <p:cNvPr id="9" name="Plan modo 2"/>
          <p:cNvSpPr txBox="1"/>
          <p:nvPr/>
        </p:nvSpPr>
        <p:spPr>
          <a:xfrm>
            <a:off x="3493008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</a:rPr>
              <a:t>Pago mensual</a:t>
            </a:r>
            <a:endParaRPr lang="en-US" sz="1400" dirty="0"/>
          </a:p>
        </p:txBody>
      </p:sp>
      <p:sp>
        <p:nvSpPr>
          <p:cNvPr id="10" name="Plan incluye 2"/>
          <p:cNvSpPr txBox="1"/>
          <p:nvPr/>
        </p:nvSpPr>
        <p:spPr>
          <a:xfrm>
            <a:off x="3493008" y="23317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Actualizaciones incluidas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IA y nube incluidas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Soporte por WhatsApp</a:t>
            </a:r>
            <a:endParaRPr lang="en-US" sz="1400" dirty="0"/>
          </a:p>
        </p:txBody>
      </p:sp>
      <p:sp>
        <p:nvSpPr>
          <p:cNvPr id="11" name="Plan De por vida"/>
          <p:cNvSpPr/>
          <p:nvPr/>
        </p:nvSpPr>
        <p:spPr>
          <a:xfrm>
            <a:off x="5980176" y="1188720"/>
            <a:ext cx="2542032" cy="3108960"/>
          </a:xfrm>
          <a:prstGeom prst="roundRect">
            <a:avLst>
              <a:gd name="adj" fmla="val 5036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2" name="Plan nombre 3"/>
          <p:cNvSpPr txBox="1"/>
          <p:nvPr/>
        </p:nvSpPr>
        <p:spPr>
          <a:xfrm>
            <a:off x="6208776" y="1417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por vida</a:t>
            </a:r>
            <a:endParaRPr lang="en-US" sz="1800" dirty="0"/>
          </a:p>
        </p:txBody>
      </p:sp>
      <p:sp>
        <p:nvSpPr>
          <p:cNvPr id="13" name="Plan modo 3"/>
          <p:cNvSpPr txBox="1"/>
          <p:nvPr/>
        </p:nvSpPr>
        <p:spPr>
          <a:xfrm>
            <a:off x="6208776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Un solo pago</a:t>
            </a:r>
            <a:endParaRPr lang="en-US" sz="1400" dirty="0"/>
          </a:p>
        </p:txBody>
      </p:sp>
      <p:sp>
        <p:nvSpPr>
          <p:cNvPr id="14" name="Plan incluye 3"/>
          <p:cNvSpPr txBox="1"/>
          <p:nvPr/>
        </p:nvSpPr>
        <p:spPr>
          <a:xfrm>
            <a:off x="6208776" y="23317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Sin mensualidad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Todos tus celulares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1F7"/>
                </a:solidFill>
              </a:rPr>
              <a:t>Sedes adicionales</a:t>
            </a:r>
            <a:endParaRPr lang="en-US" sz="1400" dirty="0"/>
          </a:p>
        </p:txBody>
      </p:sp>
      <p:sp>
        <p:nvSpPr>
          <p:cNvPr id="15" name="Nota precios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Precios según el tamaño del negocio · consúltanos por WhatsApp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Hacia dónde va Vento</a:t>
            </a:r>
            <a:endParaRPr lang="en-US" sz="3000" dirty="0"/>
          </a:p>
        </p:txBody>
      </p:sp>
      <p:sp>
        <p:nvSpPr>
          <p:cNvPr id="3" name="Línea de tiempo 1"/>
          <p:cNvSpPr/>
          <p:nvPr/>
        </p:nvSpPr>
        <p:spPr>
          <a:xfrm>
            <a:off x="2377440" y="1481328"/>
            <a:ext cx="1024128" cy="0"/>
          </a:xfrm>
          <a:prstGeom prst="line">
            <a:avLst/>
          </a:prstGeom>
          <a:noFill/>
          <a:ln w="25400">
            <a:solidFill>
              <a:srgbClr val="4C3A8F"/>
            </a:solidFill>
            <a:prstDash val="solid"/>
          </a:ln>
        </p:spPr>
      </p:sp>
      <p:sp>
        <p:nvSpPr>
          <p:cNvPr id="4" name="Línea de tiempo 2"/>
          <p:cNvSpPr/>
          <p:nvPr/>
        </p:nvSpPr>
        <p:spPr>
          <a:xfrm>
            <a:off x="5093208" y="1481328"/>
            <a:ext cx="1024128" cy="0"/>
          </a:xfrm>
          <a:prstGeom prst="line">
            <a:avLst/>
          </a:prstGeom>
          <a:noFill/>
          <a:ln w="25400">
            <a:solidFill>
              <a:srgbClr val="4C3A8F"/>
            </a:solidFill>
            <a:prstDash val="solid"/>
          </a:ln>
        </p:spPr>
      </p:sp>
      <p:sp>
        <p:nvSpPr>
          <p:cNvPr id="5" name="Hito Próximo"/>
          <p:cNvSpPr/>
          <p:nvPr/>
        </p:nvSpPr>
        <p:spPr>
          <a:xfrm>
            <a:off x="685800" y="1325880"/>
            <a:ext cx="310896" cy="310896"/>
          </a:xfrm>
          <a:prstGeom prst="ellipse">
            <a:avLst/>
          </a:prstGeom>
          <a:solidFill>
            <a:srgbClr val="34D399"/>
          </a:solidFill>
          <a:ln w="25400">
            <a:solidFill>
              <a:srgbClr val="0F0F16"/>
            </a:solidFill>
            <a:prstDash val="solid"/>
          </a:ln>
        </p:spPr>
      </p:sp>
      <p:sp>
        <p:nvSpPr>
          <p:cNvPr id="6" name="Fase Próximo"/>
          <p:cNvSpPr txBox="1"/>
          <p:nvPr/>
        </p:nvSpPr>
        <p:spPr>
          <a:xfrm>
            <a:off x="1097280" y="1307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</a:t>
            </a:r>
            <a:endParaRPr lang="en-US" sz="1800" dirty="0"/>
          </a:p>
        </p:txBody>
      </p:sp>
      <p:sp>
        <p:nvSpPr>
          <p:cNvPr id="7" name="Fase Próximo 1"/>
          <p:cNvSpPr/>
          <p:nvPr/>
        </p:nvSpPr>
        <p:spPr>
          <a:xfrm>
            <a:off x="548640" y="1920240"/>
            <a:ext cx="2542032" cy="1143000"/>
          </a:xfrm>
          <a:prstGeom prst="roundRect">
            <a:avLst>
              <a:gd name="adj" fmla="val 9600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8" name="Meta 00"/>
          <p:cNvSpPr txBox="1"/>
          <p:nvPr/>
        </p:nvSpPr>
        <p:spPr>
          <a:xfrm>
            <a:off x="731520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 electrónica</a:t>
            </a:r>
            <a:endParaRPr lang="en-US" sz="1500" dirty="0"/>
          </a:p>
        </p:txBody>
      </p:sp>
      <p:sp>
        <p:nvSpPr>
          <p:cNvPr id="9" name="Meta texto 00"/>
          <p:cNvSpPr txBox="1"/>
          <p:nvPr/>
        </p:nvSpPr>
        <p:spPr>
          <a:xfrm>
            <a:off x="73152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Ante la DIAN, desde la cuenta de la mesa</a:t>
            </a:r>
            <a:endParaRPr lang="en-US" sz="1200" dirty="0"/>
          </a:p>
        </p:txBody>
      </p:sp>
      <p:sp>
        <p:nvSpPr>
          <p:cNvPr id="10" name="Fase Próximo 2"/>
          <p:cNvSpPr/>
          <p:nvPr/>
        </p:nvSpPr>
        <p:spPr>
          <a:xfrm>
            <a:off x="548640" y="3246120"/>
            <a:ext cx="2542032" cy="1143000"/>
          </a:xfrm>
          <a:prstGeom prst="roundRect">
            <a:avLst>
              <a:gd name="adj" fmla="val 9600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1" name="Meta 01"/>
          <p:cNvSpPr txBox="1"/>
          <p:nvPr/>
        </p:nvSpPr>
        <p:spPr>
          <a:xfrm>
            <a:off x="731520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en la mesa</a:t>
            </a:r>
            <a:endParaRPr lang="en-US" sz="1500" dirty="0"/>
          </a:p>
        </p:txBody>
      </p:sp>
      <p:sp>
        <p:nvSpPr>
          <p:cNvPr id="12" name="Meta texto 01"/>
          <p:cNvSpPr txBox="1"/>
          <p:nvPr/>
        </p:nvSpPr>
        <p:spPr>
          <a:xfrm>
            <a:off x="73152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El cliente paga con Nequi o tarjeta desde el QR</a:t>
            </a:r>
            <a:endParaRPr lang="en-US" sz="1200" dirty="0"/>
          </a:p>
        </p:txBody>
      </p:sp>
      <p:sp>
        <p:nvSpPr>
          <p:cNvPr id="13" name="Hito Luego"/>
          <p:cNvSpPr/>
          <p:nvPr/>
        </p:nvSpPr>
        <p:spPr>
          <a:xfrm>
            <a:off x="3401568" y="1325880"/>
            <a:ext cx="310896" cy="310896"/>
          </a:xfrm>
          <a:prstGeom prst="ellipse">
            <a:avLst/>
          </a:prstGeom>
          <a:solidFill>
            <a:srgbClr val="7C3AED"/>
          </a:solidFill>
          <a:ln w="25400">
            <a:solidFill>
              <a:srgbClr val="0F0F16"/>
            </a:solidFill>
            <a:prstDash val="solid"/>
          </a:ln>
        </p:spPr>
      </p:sp>
      <p:sp>
        <p:nvSpPr>
          <p:cNvPr id="14" name="Fase Luego"/>
          <p:cNvSpPr txBox="1"/>
          <p:nvPr/>
        </p:nvSpPr>
        <p:spPr>
          <a:xfrm>
            <a:off x="3813048" y="1307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Luego</a:t>
            </a:r>
            <a:endParaRPr lang="en-US" sz="1800" dirty="0"/>
          </a:p>
        </p:txBody>
      </p:sp>
      <p:sp>
        <p:nvSpPr>
          <p:cNvPr id="15" name="Fase Luego 1"/>
          <p:cNvSpPr/>
          <p:nvPr/>
        </p:nvSpPr>
        <p:spPr>
          <a:xfrm>
            <a:off x="3264408" y="1920240"/>
            <a:ext cx="2542032" cy="1143000"/>
          </a:xfrm>
          <a:prstGeom prst="roundRect">
            <a:avLst>
              <a:gd name="adj" fmla="val 9600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6" name="Meta 10"/>
          <p:cNvSpPr txBox="1"/>
          <p:nvPr/>
        </p:nvSpPr>
        <p:spPr>
          <a:xfrm>
            <a:off x="3447288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fieles</a:t>
            </a:r>
            <a:endParaRPr lang="en-US" sz="1500" dirty="0"/>
          </a:p>
        </p:txBody>
      </p:sp>
      <p:sp>
        <p:nvSpPr>
          <p:cNvPr id="17" name="Meta texto 10"/>
          <p:cNvSpPr txBox="1"/>
          <p:nvPr/>
        </p:nvSpPr>
        <p:spPr>
          <a:xfrm>
            <a:off x="3447288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Reservas, puntos, cumpleaños y promociones</a:t>
            </a:r>
            <a:endParaRPr lang="en-US" sz="1200" dirty="0"/>
          </a:p>
        </p:txBody>
      </p:sp>
      <p:sp>
        <p:nvSpPr>
          <p:cNvPr id="18" name="Fase Luego 2"/>
          <p:cNvSpPr/>
          <p:nvPr/>
        </p:nvSpPr>
        <p:spPr>
          <a:xfrm>
            <a:off x="3264408" y="3246120"/>
            <a:ext cx="2542032" cy="1143000"/>
          </a:xfrm>
          <a:prstGeom prst="roundRect">
            <a:avLst>
              <a:gd name="adj" fmla="val 9600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9" name="Meta 11"/>
          <p:cNvSpPr txBox="1"/>
          <p:nvPr/>
        </p:nvSpPr>
        <p:spPr>
          <a:xfrm>
            <a:off x="3447288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que predice</a:t>
            </a:r>
            <a:endParaRPr lang="en-US" sz="1500" dirty="0"/>
          </a:p>
        </p:txBody>
      </p:sp>
      <p:sp>
        <p:nvSpPr>
          <p:cNvPr id="20" name="Meta texto 11"/>
          <p:cNvSpPr txBox="1"/>
          <p:nvPr/>
        </p:nvSpPr>
        <p:spPr>
          <a:xfrm>
            <a:off x="3447288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Qué comprar y cuánto, antes de que se acabe</a:t>
            </a:r>
            <a:endParaRPr lang="en-US" sz="1200" dirty="0"/>
          </a:p>
        </p:txBody>
      </p:sp>
      <p:sp>
        <p:nvSpPr>
          <p:cNvPr id="21" name="Hito Visión"/>
          <p:cNvSpPr/>
          <p:nvPr/>
        </p:nvSpPr>
        <p:spPr>
          <a:xfrm>
            <a:off x="6117336" y="1325880"/>
            <a:ext cx="310896" cy="310896"/>
          </a:xfrm>
          <a:prstGeom prst="ellipse">
            <a:avLst/>
          </a:prstGeom>
          <a:solidFill>
            <a:srgbClr val="7C3AED"/>
          </a:solidFill>
          <a:ln w="25400">
            <a:solidFill>
              <a:srgbClr val="0F0F16"/>
            </a:solidFill>
            <a:prstDash val="solid"/>
          </a:ln>
        </p:spPr>
      </p:sp>
      <p:sp>
        <p:nvSpPr>
          <p:cNvPr id="22" name="Fase Visión"/>
          <p:cNvSpPr txBox="1"/>
          <p:nvPr/>
        </p:nvSpPr>
        <p:spPr>
          <a:xfrm>
            <a:off x="6528816" y="1307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</a:t>
            </a:r>
            <a:endParaRPr lang="en-US" sz="1800" dirty="0"/>
          </a:p>
        </p:txBody>
      </p:sp>
      <p:sp>
        <p:nvSpPr>
          <p:cNvPr id="23" name="Fase Visión 1"/>
          <p:cNvSpPr/>
          <p:nvPr/>
        </p:nvSpPr>
        <p:spPr>
          <a:xfrm>
            <a:off x="5980176" y="1920240"/>
            <a:ext cx="2542032" cy="1143000"/>
          </a:xfrm>
          <a:prstGeom prst="roundRect">
            <a:avLst>
              <a:gd name="adj" fmla="val 9600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4" name="Meta 20"/>
          <p:cNvSpPr txBox="1"/>
          <p:nvPr/>
        </p:nvSpPr>
        <p:spPr>
          <a:xfrm>
            <a:off x="6163056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a proveedores</a:t>
            </a:r>
            <a:endParaRPr lang="en-US" sz="1500" dirty="0"/>
          </a:p>
        </p:txBody>
      </p:sp>
      <p:sp>
        <p:nvSpPr>
          <p:cNvPr id="25" name="Meta texto 20"/>
          <p:cNvSpPr txBox="1"/>
          <p:nvPr/>
        </p:nvSpPr>
        <p:spPr>
          <a:xfrm>
            <a:off x="6163056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Reponer mercancía desde Vento</a:t>
            </a:r>
            <a:endParaRPr lang="en-US" sz="1200" dirty="0"/>
          </a:p>
        </p:txBody>
      </p:sp>
      <p:sp>
        <p:nvSpPr>
          <p:cNvPr id="26" name="Fase Visión 2"/>
          <p:cNvSpPr/>
          <p:nvPr/>
        </p:nvSpPr>
        <p:spPr>
          <a:xfrm>
            <a:off x="5980176" y="3246120"/>
            <a:ext cx="2542032" cy="1143000"/>
          </a:xfrm>
          <a:prstGeom prst="roundRect">
            <a:avLst>
              <a:gd name="adj" fmla="val 9600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7" name="Meta 21"/>
          <p:cNvSpPr txBox="1"/>
          <p:nvPr/>
        </p:nvSpPr>
        <p:spPr>
          <a:xfrm>
            <a:off x="6163056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países</a:t>
            </a:r>
            <a:endParaRPr lang="en-US" sz="1500" dirty="0"/>
          </a:p>
        </p:txBody>
      </p:sp>
      <p:sp>
        <p:nvSpPr>
          <p:cNvPr id="28" name="Meta texto 21"/>
          <p:cNvSpPr txBox="1"/>
          <p:nvPr/>
        </p:nvSpPr>
        <p:spPr>
          <a:xfrm>
            <a:off x="6163056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De Colombia a Latinoamérica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«Hola Vento»: manos libres</a:t>
            </a:r>
            <a:endParaRPr lang="en-US" sz="3000" dirty="0"/>
          </a:p>
        </p:txBody>
      </p:sp>
      <p:sp>
        <p:nvSpPr>
          <p:cNvPr id="3" name="Etiqueta disponible fondo"/>
          <p:cNvSpPr/>
          <p:nvPr/>
        </p:nvSpPr>
        <p:spPr>
          <a:xfrm>
            <a:off x="6263640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1326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Etiqueta disponible"/>
          <p:cNvSpPr txBox="1"/>
          <p:nvPr/>
        </p:nvSpPr>
        <p:spPr>
          <a:xfrm>
            <a:off x="6263640" y="4572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YA DISPONIBLE EN VENTO</a:t>
            </a:r>
            <a:endParaRPr lang="en-US" sz="900" dirty="0"/>
          </a:p>
        </p:txBody>
      </p:sp>
      <p:sp>
        <p:nvSpPr>
          <p:cNvPr id="5" name="Panel asistente"/>
          <p:cNvSpPr/>
          <p:nvPr/>
        </p:nvSpPr>
        <p:spPr>
          <a:xfrm>
            <a:off x="548640" y="1188720"/>
            <a:ext cx="3017520" cy="3429000"/>
          </a:xfrm>
          <a:prstGeom prst="roundRect">
            <a:avLst>
              <a:gd name="adj" fmla="val 3636"/>
            </a:avLst>
          </a:prstGeom>
          <a:solidFill>
            <a:srgbClr val="2A1F4A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6" name="Asistente círculo"/>
          <p:cNvSpPr/>
          <p:nvPr/>
        </p:nvSpPr>
        <p:spPr>
          <a:xfrm>
            <a:off x="822960" y="1463040"/>
            <a:ext cx="777240" cy="7772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Asistente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649578"/>
            <a:ext cx="404165" cy="404165"/>
          </a:xfrm>
          <a:prstGeom prst="rect">
            <a:avLst/>
          </a:prstGeom>
        </p:spPr>
      </p:pic>
      <p:sp>
        <p:nvSpPr>
          <p:cNvPr id="8" name="Frase usuario"/>
          <p:cNvSpPr txBox="1"/>
          <p:nvPr/>
        </p:nvSpPr>
        <p:spPr>
          <a:xfrm>
            <a:off x="822960" y="2377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“Oye Vento, ¿cuánto debe la mesa 4?”</a:t>
            </a:r>
            <a:endParaRPr lang="en-US" sz="1800" dirty="0"/>
          </a:p>
        </p:txBody>
      </p:sp>
      <p:sp>
        <p:nvSpPr>
          <p:cNvPr id="9" name="Respuesta Vento"/>
          <p:cNvSpPr txBox="1"/>
          <p:nvPr/>
        </p:nvSpPr>
        <p:spPr>
          <a:xfrm>
            <a:off x="82296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🔊 “La mesa 4 debe 86 mil pesos.”</a:t>
            </a:r>
            <a:endParaRPr lang="en-US" sz="1500" dirty="0"/>
          </a:p>
        </p:txBody>
      </p:sp>
      <p:sp>
        <p:nvSpPr>
          <p:cNvPr id="10" name="Comparación"/>
          <p:cNvSpPr txBox="1"/>
          <p:nvPr/>
        </p:nvSpPr>
        <p:spPr>
          <a:xfrm>
            <a:off x="822960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Como Alexa, pero hecho para tu negocio.</a:t>
            </a:r>
            <a:endParaRPr lang="en-US" sz="1200" dirty="0"/>
          </a:p>
        </p:txBody>
      </p:sp>
      <p:sp>
        <p:nvSpPr>
          <p:cNvPr id="11" name="Manos libres 1 círculo"/>
          <p:cNvSpPr/>
          <p:nvPr/>
        </p:nvSpPr>
        <p:spPr>
          <a:xfrm>
            <a:off x="3840480" y="123444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Manos libres 1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543" y="1370503"/>
            <a:ext cx="294803" cy="294803"/>
          </a:xfrm>
          <a:prstGeom prst="rect">
            <a:avLst/>
          </a:prstGeom>
        </p:spPr>
      </p:pic>
      <p:sp>
        <p:nvSpPr>
          <p:cNvPr id="13" name="Manos libres título 1"/>
          <p:cNvSpPr txBox="1"/>
          <p:nvPr/>
        </p:nvSpPr>
        <p:spPr>
          <a:xfrm>
            <a:off x="3840480" y="1920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Palabra de activación</a:t>
            </a:r>
            <a:endParaRPr lang="en-US" sz="1500" dirty="0"/>
          </a:p>
        </p:txBody>
      </p:sp>
      <p:sp>
        <p:nvSpPr>
          <p:cNvPr id="14" name="Manos libres texto 1"/>
          <p:cNvSpPr txBox="1"/>
          <p:nvPr/>
        </p:nvSpPr>
        <p:spPr>
          <a:xfrm>
            <a:off x="3840480" y="22219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Di «Hola Vento» u «Oye Vento» y te escucha, sin tocar nada.</a:t>
            </a:r>
            <a:endParaRPr lang="en-US" sz="1200" dirty="0"/>
          </a:p>
        </p:txBody>
      </p:sp>
      <p:sp>
        <p:nvSpPr>
          <p:cNvPr id="15" name="Manos libres 2 círculo"/>
          <p:cNvSpPr/>
          <p:nvPr/>
        </p:nvSpPr>
        <p:spPr>
          <a:xfrm>
            <a:off x="6263640" y="123444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Manos libres 2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703" y="1370503"/>
            <a:ext cx="294803" cy="294803"/>
          </a:xfrm>
          <a:prstGeom prst="rect">
            <a:avLst/>
          </a:prstGeom>
        </p:spPr>
      </p:pic>
      <p:sp>
        <p:nvSpPr>
          <p:cNvPr id="17" name="Manos libres título 2"/>
          <p:cNvSpPr txBox="1"/>
          <p:nvPr/>
        </p:nvSpPr>
        <p:spPr>
          <a:xfrm>
            <a:off x="6263640" y="1920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 la conversación</a:t>
            </a:r>
            <a:endParaRPr lang="en-US" sz="1500" dirty="0"/>
          </a:p>
        </p:txBody>
      </p:sp>
      <p:sp>
        <p:nvSpPr>
          <p:cNvPr id="18" name="Manos libres texto 2"/>
          <p:cNvSpPr txBox="1"/>
          <p:nvPr/>
        </p:nvSpPr>
        <p:spPr>
          <a:xfrm>
            <a:off x="6263640" y="22219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Tras cada orden queda atenta: no repites «Hola Vento».</a:t>
            </a:r>
            <a:endParaRPr lang="en-US" sz="1200" dirty="0"/>
          </a:p>
        </p:txBody>
      </p:sp>
      <p:sp>
        <p:nvSpPr>
          <p:cNvPr id="19" name="Manos libres 3 círculo"/>
          <p:cNvSpPr/>
          <p:nvPr/>
        </p:nvSpPr>
        <p:spPr>
          <a:xfrm>
            <a:off x="3840480" y="297180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Manos libres 3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543" y="3107863"/>
            <a:ext cx="294803" cy="294803"/>
          </a:xfrm>
          <a:prstGeom prst="rect">
            <a:avLst/>
          </a:prstGeom>
        </p:spPr>
      </p:pic>
      <p:sp>
        <p:nvSpPr>
          <p:cNvPr id="21" name="Manos libres título 3"/>
          <p:cNvSpPr txBox="1"/>
          <p:nvPr/>
        </p:nvSpPr>
        <p:spPr>
          <a:xfrm>
            <a:off x="3840480" y="36576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en voz alta</a:t>
            </a:r>
            <a:endParaRPr lang="en-US" sz="1500" dirty="0"/>
          </a:p>
        </p:txBody>
      </p:sp>
      <p:sp>
        <p:nvSpPr>
          <p:cNvPr id="22" name="Manos libres texto 3"/>
          <p:cNvSpPr txBox="1"/>
          <p:nvPr/>
        </p:nvSpPr>
        <p:spPr>
          <a:xfrm>
            <a:off x="3840480" y="39593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Totales, deudas, ventas del día y qué falta.</a:t>
            </a:r>
            <a:endParaRPr lang="en-US" sz="1200" dirty="0"/>
          </a:p>
        </p:txBody>
      </p:sp>
      <p:sp>
        <p:nvSpPr>
          <p:cNvPr id="23" name="Manos libres 4 círculo"/>
          <p:cNvSpPr/>
          <p:nvPr/>
        </p:nvSpPr>
        <p:spPr>
          <a:xfrm>
            <a:off x="6263640" y="297180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Manos libres 4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9703" y="3107863"/>
            <a:ext cx="294803" cy="294803"/>
          </a:xfrm>
          <a:prstGeom prst="rect">
            <a:avLst/>
          </a:prstGeom>
        </p:spPr>
      </p:pic>
      <p:sp>
        <p:nvSpPr>
          <p:cNvPr id="25" name="Manos libres título 4"/>
          <p:cNvSpPr txBox="1"/>
          <p:nvPr/>
        </p:nvSpPr>
        <p:spPr>
          <a:xfrm>
            <a:off x="6263640" y="36576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barra o la caja</a:t>
            </a:r>
            <a:endParaRPr lang="en-US" sz="1500" dirty="0"/>
          </a:p>
        </p:txBody>
      </p:sp>
      <p:sp>
        <p:nvSpPr>
          <p:cNvPr id="26" name="Manos libres texto 4"/>
          <p:cNvSpPr txBox="1"/>
          <p:nvPr/>
        </p:nvSpPr>
        <p:spPr>
          <a:xfrm>
            <a:off x="6263640" y="39593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Con Vento abierta en el celular o la tableta.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Vento con pantalla</a:t>
            </a:r>
            <a:endParaRPr lang="en-US" sz="3000" dirty="0"/>
          </a:p>
        </p:txBody>
      </p:sp>
      <p:sp>
        <p:nvSpPr>
          <p:cNvPr id="3" name="Etiqueta futuro fondo"/>
          <p:cNvSpPr/>
          <p:nvPr/>
        </p:nvSpPr>
        <p:spPr>
          <a:xfrm>
            <a:off x="6263640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A1F4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Etiqueta futuro"/>
          <p:cNvSpPr txBox="1"/>
          <p:nvPr/>
        </p:nvSpPr>
        <p:spPr>
          <a:xfrm>
            <a:off x="6263640" y="4572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B5FD"/>
                </a:solidFill>
              </a:rPr>
              <a:t>EN DESARROLLO · IDEA DE FUTURO</a:t>
            </a:r>
            <a:endParaRPr lang="en-US" sz="900" dirty="0"/>
          </a:p>
        </p:txBody>
      </p:sp>
      <p:sp>
        <p:nvSpPr>
          <p:cNvPr id="5" name="Equipo pantalla marco"/>
          <p:cNvSpPr/>
          <p:nvPr/>
        </p:nvSpPr>
        <p:spPr>
          <a:xfrm>
            <a:off x="685800" y="1234440"/>
            <a:ext cx="3840480" cy="2514600"/>
          </a:xfrm>
          <a:prstGeom prst="roundRect">
            <a:avLst>
              <a:gd name="adj" fmla="val 6545"/>
            </a:avLst>
          </a:prstGeom>
          <a:solidFill>
            <a:srgbClr val="05050A"/>
          </a:solidFill>
          <a:ln w="19050">
            <a:solidFill>
              <a:srgbClr val="4C3A8F"/>
            </a:solidFill>
            <a:prstDash val="solid"/>
          </a:ln>
          <a:effectLst>
            <a:outerShdw sx="100000" sy="100000" kx="0" ky="0" algn="bl" rotWithShape="0" blurRad="254000" dist="25400" dir="5400000">
              <a:srgbClr val="7C3AED">
                <a:alpha val="40000"/>
              </a:srgbClr>
            </a:outerShdw>
          </a:effectLst>
        </p:spPr>
      </p:sp>
      <p:pic>
        <p:nvPicPr>
          <p:cNvPr id="6" name="Equipo pantall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3566160" cy="2231136"/>
          </a:xfrm>
          <a:prstGeom prst="rect">
            <a:avLst/>
          </a:prstGeom>
        </p:spPr>
      </p:pic>
      <p:sp>
        <p:nvSpPr>
          <p:cNvPr id="7" name="Equipo parlante"/>
          <p:cNvSpPr/>
          <p:nvPr/>
        </p:nvSpPr>
        <p:spPr>
          <a:xfrm>
            <a:off x="502920" y="3657600"/>
            <a:ext cx="4206240" cy="868680"/>
          </a:xfrm>
          <a:prstGeom prst="roundRect">
            <a:avLst>
              <a:gd name="adj" fmla="val 31579"/>
            </a:avLst>
          </a:prstGeom>
          <a:solidFill>
            <a:srgbClr val="1C1A2B"/>
          </a:solidFill>
          <a:ln w="12700">
            <a:solidFill>
              <a:srgbClr val="4C3A8F"/>
            </a:solidFill>
            <a:prstDash val="solid"/>
          </a:ln>
        </p:spPr>
      </p:sp>
      <p:sp>
        <p:nvSpPr>
          <p:cNvPr id="8" name="Rejilla 1"/>
          <p:cNvSpPr/>
          <p:nvPr/>
        </p:nvSpPr>
        <p:spPr>
          <a:xfrm>
            <a:off x="868680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9" name="Rejilla 2"/>
          <p:cNvSpPr/>
          <p:nvPr/>
        </p:nvSpPr>
        <p:spPr>
          <a:xfrm>
            <a:off x="1124712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10" name="Rejilla 3"/>
          <p:cNvSpPr/>
          <p:nvPr/>
        </p:nvSpPr>
        <p:spPr>
          <a:xfrm>
            <a:off x="1380744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11" name="Rejilla 4"/>
          <p:cNvSpPr/>
          <p:nvPr/>
        </p:nvSpPr>
        <p:spPr>
          <a:xfrm>
            <a:off x="1636776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12" name="Rejilla 5"/>
          <p:cNvSpPr/>
          <p:nvPr/>
        </p:nvSpPr>
        <p:spPr>
          <a:xfrm>
            <a:off x="1892808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13" name="Rejilla 6"/>
          <p:cNvSpPr/>
          <p:nvPr/>
        </p:nvSpPr>
        <p:spPr>
          <a:xfrm>
            <a:off x="2148840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14" name="Rejilla 7"/>
          <p:cNvSpPr/>
          <p:nvPr/>
        </p:nvSpPr>
        <p:spPr>
          <a:xfrm>
            <a:off x="2404872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15" name="Rejilla 8"/>
          <p:cNvSpPr/>
          <p:nvPr/>
        </p:nvSpPr>
        <p:spPr>
          <a:xfrm>
            <a:off x="2660904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16" name="Rejilla 9"/>
          <p:cNvSpPr/>
          <p:nvPr/>
        </p:nvSpPr>
        <p:spPr>
          <a:xfrm>
            <a:off x="2916936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17" name="Rejilla 10"/>
          <p:cNvSpPr/>
          <p:nvPr/>
        </p:nvSpPr>
        <p:spPr>
          <a:xfrm>
            <a:off x="3172968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18" name="Rejilla 11"/>
          <p:cNvSpPr/>
          <p:nvPr/>
        </p:nvSpPr>
        <p:spPr>
          <a:xfrm>
            <a:off x="3429000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19" name="Rejilla 12"/>
          <p:cNvSpPr/>
          <p:nvPr/>
        </p:nvSpPr>
        <p:spPr>
          <a:xfrm>
            <a:off x="3685032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20" name="Rejilla 13"/>
          <p:cNvSpPr/>
          <p:nvPr/>
        </p:nvSpPr>
        <p:spPr>
          <a:xfrm>
            <a:off x="3941064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21" name="Rejilla 14"/>
          <p:cNvSpPr/>
          <p:nvPr/>
        </p:nvSpPr>
        <p:spPr>
          <a:xfrm>
            <a:off x="4197096" y="4005072"/>
            <a:ext cx="91440" cy="91440"/>
          </a:xfrm>
          <a:prstGeom prst="ellipse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22" name="Frase equipo"/>
          <p:cNvSpPr txBox="1"/>
          <p:nvPr/>
        </p:nvSpPr>
        <p:spPr>
          <a:xfrm>
            <a:off x="548640" y="4572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B5FD"/>
                </a:solidFill>
              </a:rPr>
              <a:t>“Hola Vento, ¿qué mesas faltan por pagar?”</a:t>
            </a:r>
            <a:endParaRPr lang="en-US" sz="1100" dirty="0"/>
          </a:p>
        </p:txBody>
      </p:sp>
      <p:sp>
        <p:nvSpPr>
          <p:cNvPr id="23" name="Equipo 1 círculo"/>
          <p:cNvSpPr/>
          <p:nvPr/>
        </p:nvSpPr>
        <p:spPr>
          <a:xfrm>
            <a:off x="4983480" y="123444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Equipo 1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543" y="1370503"/>
            <a:ext cx="294803" cy="294803"/>
          </a:xfrm>
          <a:prstGeom prst="rect">
            <a:avLst/>
          </a:prstGeom>
        </p:spPr>
      </p:pic>
      <p:sp>
        <p:nvSpPr>
          <p:cNvPr id="25" name="Equipo título 1"/>
          <p:cNvSpPr txBox="1"/>
          <p:nvPr/>
        </p:nvSpPr>
        <p:spPr>
          <a:xfrm>
            <a:off x="571500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encendida</a:t>
            </a:r>
            <a:endParaRPr lang="en-US" sz="1500" dirty="0"/>
          </a:p>
        </p:txBody>
      </p:sp>
      <p:sp>
        <p:nvSpPr>
          <p:cNvPr id="26" name="Equipo texto 1"/>
          <p:cNvSpPr txBox="1"/>
          <p:nvPr/>
        </p:nvSpPr>
        <p:spPr>
          <a:xfrm>
            <a:off x="5715000" y="14904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Un equipo Vento en la barra, sin depender de un celular.</a:t>
            </a:r>
            <a:endParaRPr lang="en-US" sz="1200" dirty="0"/>
          </a:p>
        </p:txBody>
      </p:sp>
      <p:sp>
        <p:nvSpPr>
          <p:cNvPr id="27" name="Equipo 2 círculo"/>
          <p:cNvSpPr/>
          <p:nvPr/>
        </p:nvSpPr>
        <p:spPr>
          <a:xfrm>
            <a:off x="4983480" y="210312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8" name="Equipo 2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543" y="2239183"/>
            <a:ext cx="294803" cy="294803"/>
          </a:xfrm>
          <a:prstGeom prst="rect">
            <a:avLst/>
          </a:prstGeom>
        </p:spPr>
      </p:pic>
      <p:sp>
        <p:nvSpPr>
          <p:cNvPr id="29" name="Equipo título 2"/>
          <p:cNvSpPr txBox="1"/>
          <p:nvPr/>
        </p:nvSpPr>
        <p:spPr>
          <a:xfrm>
            <a:off x="5715000" y="2057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hablas y te muestra</a:t>
            </a:r>
            <a:endParaRPr lang="en-US" sz="1500" dirty="0"/>
          </a:p>
        </p:txBody>
      </p:sp>
      <p:sp>
        <p:nvSpPr>
          <p:cNvPr id="30" name="Equipo texto 2"/>
          <p:cNvSpPr txBox="1"/>
          <p:nvPr/>
        </p:nvSpPr>
        <p:spPr>
          <a:xfrm>
            <a:off x="5715000" y="2359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Ves la cuenta, el pedido o el total mientras te responde.</a:t>
            </a:r>
            <a:endParaRPr lang="en-US" sz="1200" dirty="0"/>
          </a:p>
        </p:txBody>
      </p:sp>
      <p:sp>
        <p:nvSpPr>
          <p:cNvPr id="31" name="Equipo 3 círculo"/>
          <p:cNvSpPr/>
          <p:nvPr/>
        </p:nvSpPr>
        <p:spPr>
          <a:xfrm>
            <a:off x="4983480" y="297180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Equipo 3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543" y="3107863"/>
            <a:ext cx="294803" cy="294803"/>
          </a:xfrm>
          <a:prstGeom prst="rect">
            <a:avLst/>
          </a:prstGeom>
        </p:spPr>
      </p:pic>
      <p:sp>
        <p:nvSpPr>
          <p:cNvPr id="33" name="Equipo título 3"/>
          <p:cNvSpPr txBox="1"/>
          <p:nvPr/>
        </p:nvSpPr>
        <p:spPr>
          <a:xfrm>
            <a:off x="5715000" y="2926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Anuncia los pedidos</a:t>
            </a:r>
            <a:endParaRPr lang="en-US" sz="1500" dirty="0"/>
          </a:p>
        </p:txBody>
      </p:sp>
      <p:sp>
        <p:nvSpPr>
          <p:cNvPr id="34" name="Equipo texto 3"/>
          <p:cNvSpPr txBox="1"/>
          <p:nvPr/>
        </p:nvSpPr>
        <p:spPr>
          <a:xfrm>
            <a:off x="5715000" y="3227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«Nuevo pedido de la mesa 5», en voz alta.</a:t>
            </a:r>
            <a:endParaRPr lang="en-US" sz="1200" dirty="0"/>
          </a:p>
        </p:txBody>
      </p:sp>
      <p:sp>
        <p:nvSpPr>
          <p:cNvPr id="35" name="Equipo 4 círculo"/>
          <p:cNvSpPr/>
          <p:nvPr/>
        </p:nvSpPr>
        <p:spPr>
          <a:xfrm>
            <a:off x="4983480" y="384048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6" name="Equipo 4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543" y="3976543"/>
            <a:ext cx="294803" cy="294803"/>
          </a:xfrm>
          <a:prstGeom prst="rect">
            <a:avLst/>
          </a:prstGeom>
        </p:spPr>
      </p:pic>
      <p:sp>
        <p:nvSpPr>
          <p:cNvPr id="37" name="Equipo título 4"/>
          <p:cNvSpPr txBox="1"/>
          <p:nvPr/>
        </p:nvSpPr>
        <p:spPr>
          <a:xfrm>
            <a:off x="5715000" y="37947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 incorporada</a:t>
            </a:r>
            <a:endParaRPr lang="en-US" sz="1500" dirty="0"/>
          </a:p>
        </p:txBody>
      </p:sp>
      <p:sp>
        <p:nvSpPr>
          <p:cNvPr id="38" name="Equipo texto 4"/>
          <p:cNvSpPr txBox="1"/>
          <p:nvPr/>
        </p:nvSpPr>
        <p:spPr>
          <a:xfrm>
            <a:off x="5715000" y="40965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Lee facturas y códigos con solo mostrárselos.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Vento en todos los sectores</a:t>
            </a:r>
            <a:endParaRPr lang="en-US" sz="3000" dirty="0"/>
          </a:p>
        </p:txBody>
      </p:sp>
      <p:sp>
        <p:nvSpPr>
          <p:cNvPr id="3" name="Etiqueta futuro fondo"/>
          <p:cNvSpPr/>
          <p:nvPr/>
        </p:nvSpPr>
        <p:spPr>
          <a:xfrm>
            <a:off x="6263640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A1F4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Etiqueta futuro"/>
          <p:cNvSpPr txBox="1"/>
          <p:nvPr/>
        </p:nvSpPr>
        <p:spPr>
          <a:xfrm>
            <a:off x="6263640" y="4572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B5FD"/>
                </a:solidFill>
              </a:rPr>
              <a:t>HACIA DÓNDE CRECEMOS</a:t>
            </a:r>
            <a:endParaRPr lang="en-US" sz="900" dirty="0"/>
          </a:p>
        </p:txBody>
      </p:sp>
      <p:sp>
        <p:nvSpPr>
          <p:cNvPr id="5" name="Sector 1"/>
          <p:cNvSpPr/>
          <p:nvPr/>
        </p:nvSpPr>
        <p:spPr>
          <a:xfrm>
            <a:off x="548640" y="1188720"/>
            <a:ext cx="2542032" cy="1508760"/>
          </a:xfrm>
          <a:prstGeom prst="roundRect">
            <a:avLst>
              <a:gd name="adj" fmla="val 727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6" name="Sector 1 círculo"/>
          <p:cNvSpPr/>
          <p:nvPr/>
        </p:nvSpPr>
        <p:spPr>
          <a:xfrm>
            <a:off x="749808" y="138988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Sector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092" y="1517172"/>
            <a:ext cx="275783" cy="275783"/>
          </a:xfrm>
          <a:prstGeom prst="rect">
            <a:avLst/>
          </a:prstGeom>
        </p:spPr>
      </p:pic>
      <p:sp>
        <p:nvSpPr>
          <p:cNvPr id="8" name="Sector título 1"/>
          <p:cNvSpPr txBox="1"/>
          <p:nvPr/>
        </p:nvSpPr>
        <p:spPr>
          <a:xfrm>
            <a:off x="749808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Belleza y salud</a:t>
            </a:r>
            <a:endParaRPr lang="en-US" sz="1400" dirty="0"/>
          </a:p>
        </p:txBody>
      </p:sp>
      <p:sp>
        <p:nvSpPr>
          <p:cNvPr id="9" name="Sector texto 1"/>
          <p:cNvSpPr txBox="1"/>
          <p:nvPr/>
        </p:nvSpPr>
        <p:spPr>
          <a:xfrm>
            <a:off x="749808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Agenda de citas, turnos y recordatorios por WhatsApp.</a:t>
            </a:r>
            <a:endParaRPr lang="en-US" sz="1100" dirty="0"/>
          </a:p>
        </p:txBody>
      </p:sp>
      <p:sp>
        <p:nvSpPr>
          <p:cNvPr id="10" name="Sector 2"/>
          <p:cNvSpPr/>
          <p:nvPr/>
        </p:nvSpPr>
        <p:spPr>
          <a:xfrm>
            <a:off x="3264408" y="1188720"/>
            <a:ext cx="2542032" cy="1508760"/>
          </a:xfrm>
          <a:prstGeom prst="roundRect">
            <a:avLst>
              <a:gd name="adj" fmla="val 727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1" name="Sector 2 círculo"/>
          <p:cNvSpPr/>
          <p:nvPr/>
        </p:nvSpPr>
        <p:spPr>
          <a:xfrm>
            <a:off x="3465576" y="138988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Sector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860" y="1517172"/>
            <a:ext cx="275783" cy="275783"/>
          </a:xfrm>
          <a:prstGeom prst="rect">
            <a:avLst/>
          </a:prstGeom>
        </p:spPr>
      </p:pic>
      <p:sp>
        <p:nvSpPr>
          <p:cNvPr id="13" name="Sector título 2"/>
          <p:cNvSpPr txBox="1"/>
          <p:nvPr/>
        </p:nvSpPr>
        <p:spPr>
          <a:xfrm>
            <a:off x="3465576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Hospedaje</a:t>
            </a:r>
            <a:endParaRPr lang="en-US" sz="1400" dirty="0"/>
          </a:p>
        </p:txBody>
      </p:sp>
      <p:sp>
        <p:nvSpPr>
          <p:cNvPr id="14" name="Sector texto 2"/>
          <p:cNvSpPr txBox="1"/>
          <p:nvPr/>
        </p:nvSpPr>
        <p:spPr>
          <a:xfrm>
            <a:off x="3465576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Reservas, habitaciones y consumos del huésped.</a:t>
            </a:r>
            <a:endParaRPr lang="en-US" sz="1100" dirty="0"/>
          </a:p>
        </p:txBody>
      </p:sp>
      <p:sp>
        <p:nvSpPr>
          <p:cNvPr id="15" name="Sector 3"/>
          <p:cNvSpPr/>
          <p:nvPr/>
        </p:nvSpPr>
        <p:spPr>
          <a:xfrm>
            <a:off x="5980176" y="1188720"/>
            <a:ext cx="2542032" cy="1508760"/>
          </a:xfrm>
          <a:prstGeom prst="roundRect">
            <a:avLst>
              <a:gd name="adj" fmla="val 727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6" name="Sector 3 círculo"/>
          <p:cNvSpPr/>
          <p:nvPr/>
        </p:nvSpPr>
        <p:spPr>
          <a:xfrm>
            <a:off x="6181344" y="138988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Sector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628" y="1517172"/>
            <a:ext cx="275783" cy="275783"/>
          </a:xfrm>
          <a:prstGeom prst="rect">
            <a:avLst/>
          </a:prstGeom>
        </p:spPr>
      </p:pic>
      <p:sp>
        <p:nvSpPr>
          <p:cNvPr id="18" name="Sector título 3"/>
          <p:cNvSpPr txBox="1"/>
          <p:nvPr/>
        </p:nvSpPr>
        <p:spPr>
          <a:xfrm>
            <a:off x="6181344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Talleres y servicios</a:t>
            </a:r>
            <a:endParaRPr lang="en-US" sz="1400" dirty="0"/>
          </a:p>
        </p:txBody>
      </p:sp>
      <p:sp>
        <p:nvSpPr>
          <p:cNvPr id="19" name="Sector texto 3"/>
          <p:cNvSpPr txBox="1"/>
          <p:nvPr/>
        </p:nvSpPr>
        <p:spPr>
          <a:xfrm>
            <a:off x="6181344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Órdenes de trabajo con fotos, repuestos y entregas.</a:t>
            </a:r>
            <a:endParaRPr lang="en-US" sz="1100" dirty="0"/>
          </a:p>
        </p:txBody>
      </p:sp>
      <p:sp>
        <p:nvSpPr>
          <p:cNvPr id="20" name="Sector 4"/>
          <p:cNvSpPr/>
          <p:nvPr/>
        </p:nvSpPr>
        <p:spPr>
          <a:xfrm>
            <a:off x="548640" y="2880360"/>
            <a:ext cx="2542032" cy="1508760"/>
          </a:xfrm>
          <a:prstGeom prst="roundRect">
            <a:avLst>
              <a:gd name="adj" fmla="val 727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1" name="Sector 4 círculo"/>
          <p:cNvSpPr/>
          <p:nvPr/>
        </p:nvSpPr>
        <p:spPr>
          <a:xfrm>
            <a:off x="749808" y="308152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Sector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92" y="3208812"/>
            <a:ext cx="275783" cy="275783"/>
          </a:xfrm>
          <a:prstGeom prst="rect">
            <a:avLst/>
          </a:prstGeom>
        </p:spPr>
      </p:pic>
      <p:sp>
        <p:nvSpPr>
          <p:cNvPr id="23" name="Sector título 4"/>
          <p:cNvSpPr txBox="1"/>
          <p:nvPr/>
        </p:nvSpPr>
        <p:spPr>
          <a:xfrm>
            <a:off x="749808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Tiendas y comercio</a:t>
            </a:r>
            <a:endParaRPr lang="en-US" sz="1400" dirty="0"/>
          </a:p>
        </p:txBody>
      </p:sp>
      <p:sp>
        <p:nvSpPr>
          <p:cNvPr id="24" name="Sector texto 4"/>
          <p:cNvSpPr txBox="1"/>
          <p:nvPr/>
        </p:nvSpPr>
        <p:spPr>
          <a:xfrm>
            <a:off x="749808" y="3977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Tienda en línea con la misma carta del QR.</a:t>
            </a:r>
            <a:endParaRPr lang="en-US" sz="1100" dirty="0"/>
          </a:p>
        </p:txBody>
      </p:sp>
      <p:sp>
        <p:nvSpPr>
          <p:cNvPr id="25" name="Sector 5"/>
          <p:cNvSpPr/>
          <p:nvPr/>
        </p:nvSpPr>
        <p:spPr>
          <a:xfrm>
            <a:off x="3264408" y="2880360"/>
            <a:ext cx="2542032" cy="1508760"/>
          </a:xfrm>
          <a:prstGeom prst="roundRect">
            <a:avLst>
              <a:gd name="adj" fmla="val 727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6" name="Sector 5 círculo"/>
          <p:cNvSpPr/>
          <p:nvPr/>
        </p:nvSpPr>
        <p:spPr>
          <a:xfrm>
            <a:off x="3465576" y="308152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Sector 5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860" y="3208812"/>
            <a:ext cx="275783" cy="275783"/>
          </a:xfrm>
          <a:prstGeom prst="rect">
            <a:avLst/>
          </a:prstGeom>
        </p:spPr>
      </p:pic>
      <p:sp>
        <p:nvSpPr>
          <p:cNvPr id="28" name="Sector título 5"/>
          <p:cNvSpPr txBox="1"/>
          <p:nvPr/>
        </p:nvSpPr>
        <p:spPr>
          <a:xfrm>
            <a:off x="3465576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y discotecas</a:t>
            </a:r>
            <a:endParaRPr lang="en-US" sz="1400" dirty="0"/>
          </a:p>
        </p:txBody>
      </p:sp>
      <p:sp>
        <p:nvSpPr>
          <p:cNvPr id="29" name="Sector texto 5"/>
          <p:cNvSpPr txBox="1"/>
          <p:nvPr/>
        </p:nvSpPr>
        <p:spPr>
          <a:xfrm>
            <a:off x="3465576" y="3977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Entradas con QR, listas y consumos por manilla.</a:t>
            </a:r>
            <a:endParaRPr lang="en-US" sz="1100" dirty="0"/>
          </a:p>
        </p:txBody>
      </p:sp>
      <p:sp>
        <p:nvSpPr>
          <p:cNvPr id="30" name="Sector 6"/>
          <p:cNvSpPr/>
          <p:nvPr/>
        </p:nvSpPr>
        <p:spPr>
          <a:xfrm>
            <a:off x="5980176" y="2880360"/>
            <a:ext cx="2542032" cy="1508760"/>
          </a:xfrm>
          <a:prstGeom prst="roundRect">
            <a:avLst>
              <a:gd name="adj" fmla="val 727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31" name="Sector 6 círculo"/>
          <p:cNvSpPr/>
          <p:nvPr/>
        </p:nvSpPr>
        <p:spPr>
          <a:xfrm>
            <a:off x="6181344" y="308152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Sector 6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628" y="3208812"/>
            <a:ext cx="275783" cy="275783"/>
          </a:xfrm>
          <a:prstGeom prst="rect">
            <a:avLst/>
          </a:prstGeom>
        </p:spPr>
      </p:pic>
      <p:sp>
        <p:nvSpPr>
          <p:cNvPr id="33" name="Sector título 6"/>
          <p:cNvSpPr txBox="1"/>
          <p:nvPr/>
        </p:nvSpPr>
        <p:spPr>
          <a:xfrm>
            <a:off x="6181344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Cadenas y franquicias</a:t>
            </a:r>
            <a:endParaRPr lang="en-US" sz="1400" dirty="0"/>
          </a:p>
        </p:txBody>
      </p:sp>
      <p:sp>
        <p:nvSpPr>
          <p:cNvPr id="34" name="Sector texto 6"/>
          <p:cNvSpPr txBox="1"/>
          <p:nvPr/>
        </p:nvSpPr>
        <p:spPr>
          <a:xfrm>
            <a:off x="6181344" y="3977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Todas las sedes en un solo tablero.</a:t>
            </a:r>
            <a:endParaRPr lang="en-US" sz="1100" dirty="0"/>
          </a:p>
        </p:txBody>
      </p:sp>
      <p:sp>
        <p:nvSpPr>
          <p:cNvPr id="35" name="Nota sectores"/>
          <p:cNvSpPr txBox="1"/>
          <p:nvPr/>
        </p:nvSpPr>
        <p:spPr>
          <a:xfrm>
            <a:off x="548640" y="4572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Un solo Vento: la misma voz, la misma IA y el mismo celular, para cualquier negocio.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Modo fácil, para todos</a:t>
            </a:r>
            <a:endParaRPr lang="en-US" sz="3000" dirty="0"/>
          </a:p>
        </p:txBody>
      </p:sp>
      <p:sp>
        <p:nvSpPr>
          <p:cNvPr id="3" name="Etiqueta futuro fondo"/>
          <p:cNvSpPr/>
          <p:nvPr/>
        </p:nvSpPr>
        <p:spPr>
          <a:xfrm>
            <a:off x="6263640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A1F4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Etiqueta futuro"/>
          <p:cNvSpPr txBox="1"/>
          <p:nvPr/>
        </p:nvSpPr>
        <p:spPr>
          <a:xfrm>
            <a:off x="6263640" y="4572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B5FD"/>
                </a:solidFill>
              </a:rPr>
              <a:t>EN DESARROLLO · IDEA DE FUTURO</a:t>
            </a:r>
            <a:endParaRPr lang="en-US" sz="900" dirty="0"/>
          </a:p>
        </p:txBody>
      </p:sp>
      <p:sp>
        <p:nvSpPr>
          <p:cNvPr id="5" name="Modo fácil 1"/>
          <p:cNvSpPr/>
          <p:nvPr/>
        </p:nvSpPr>
        <p:spPr>
          <a:xfrm>
            <a:off x="548640" y="1188720"/>
            <a:ext cx="2542032" cy="1508760"/>
          </a:xfrm>
          <a:prstGeom prst="roundRect">
            <a:avLst>
              <a:gd name="adj" fmla="val 727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6" name="Modo fácil 1 círculo"/>
          <p:cNvSpPr/>
          <p:nvPr/>
        </p:nvSpPr>
        <p:spPr>
          <a:xfrm>
            <a:off x="749808" y="1389888"/>
            <a:ext cx="530352" cy="5303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7" name="Modo fácil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092" y="1517172"/>
            <a:ext cx="275783" cy="275783"/>
          </a:xfrm>
          <a:prstGeom prst="rect">
            <a:avLst/>
          </a:prstGeom>
        </p:spPr>
      </p:pic>
      <p:sp>
        <p:nvSpPr>
          <p:cNvPr id="8" name="Modo fácil título 1"/>
          <p:cNvSpPr txBox="1"/>
          <p:nvPr/>
        </p:nvSpPr>
        <p:spPr>
          <a:xfrm>
            <a:off x="749808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Letras y botones grandes</a:t>
            </a:r>
            <a:endParaRPr lang="en-US" sz="1400" dirty="0"/>
          </a:p>
        </p:txBody>
      </p:sp>
      <p:sp>
        <p:nvSpPr>
          <p:cNvPr id="9" name="Modo fácil texto 1"/>
          <p:cNvSpPr txBox="1"/>
          <p:nvPr/>
        </p:nvSpPr>
        <p:spPr>
          <a:xfrm>
            <a:off x="749808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Pocas opciones en pantalla, fáciles de ver y de tocar.</a:t>
            </a:r>
            <a:endParaRPr lang="en-US" sz="1100" dirty="0"/>
          </a:p>
        </p:txBody>
      </p:sp>
      <p:sp>
        <p:nvSpPr>
          <p:cNvPr id="10" name="Modo fácil 2"/>
          <p:cNvSpPr/>
          <p:nvPr/>
        </p:nvSpPr>
        <p:spPr>
          <a:xfrm>
            <a:off x="3264408" y="1188720"/>
            <a:ext cx="2542032" cy="1508760"/>
          </a:xfrm>
          <a:prstGeom prst="roundRect">
            <a:avLst>
              <a:gd name="adj" fmla="val 727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1" name="Modo fácil 2 círculo"/>
          <p:cNvSpPr/>
          <p:nvPr/>
        </p:nvSpPr>
        <p:spPr>
          <a:xfrm>
            <a:off x="3465576" y="1389888"/>
            <a:ext cx="530352" cy="5303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2" name="Modo fácil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860" y="1517172"/>
            <a:ext cx="275783" cy="275783"/>
          </a:xfrm>
          <a:prstGeom prst="rect">
            <a:avLst/>
          </a:prstGeom>
        </p:spPr>
      </p:pic>
      <p:sp>
        <p:nvSpPr>
          <p:cNvPr id="13" name="Modo fácil título 2"/>
          <p:cNvSpPr txBox="1"/>
          <p:nvPr/>
        </p:nvSpPr>
        <p:spPr>
          <a:xfrm>
            <a:off x="3465576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hablando</a:t>
            </a:r>
            <a:endParaRPr lang="en-US" sz="1400" dirty="0"/>
          </a:p>
        </p:txBody>
      </p:sp>
      <p:sp>
        <p:nvSpPr>
          <p:cNvPr id="14" name="Modo fácil texto 2"/>
          <p:cNvSpPr txBox="1"/>
          <p:nvPr/>
        </p:nvSpPr>
        <p:spPr>
          <a:xfrm>
            <a:off x="3465576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Sin menús: se pide, se cobra y se pregunta con la voz.</a:t>
            </a:r>
            <a:endParaRPr lang="en-US" sz="1100" dirty="0"/>
          </a:p>
        </p:txBody>
      </p:sp>
      <p:sp>
        <p:nvSpPr>
          <p:cNvPr id="15" name="Modo fácil 3"/>
          <p:cNvSpPr/>
          <p:nvPr/>
        </p:nvSpPr>
        <p:spPr>
          <a:xfrm>
            <a:off x="5980176" y="1188720"/>
            <a:ext cx="2542032" cy="1508760"/>
          </a:xfrm>
          <a:prstGeom prst="roundRect">
            <a:avLst>
              <a:gd name="adj" fmla="val 727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6" name="Modo fácil 3 círculo"/>
          <p:cNvSpPr/>
          <p:nvPr/>
        </p:nvSpPr>
        <p:spPr>
          <a:xfrm>
            <a:off x="6181344" y="1389888"/>
            <a:ext cx="530352" cy="5303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7" name="Modo fácil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628" y="1517172"/>
            <a:ext cx="275783" cy="275783"/>
          </a:xfrm>
          <a:prstGeom prst="rect">
            <a:avLst/>
          </a:prstGeom>
        </p:spPr>
      </p:pic>
      <p:sp>
        <p:nvSpPr>
          <p:cNvPr id="18" name="Modo fácil título 3"/>
          <p:cNvSpPr txBox="1"/>
          <p:nvPr/>
        </p:nvSpPr>
        <p:spPr>
          <a:xfrm>
            <a:off x="6181344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Vento lee en voz alta</a:t>
            </a:r>
            <a:endParaRPr lang="en-US" sz="1400" dirty="0"/>
          </a:p>
        </p:txBody>
      </p:sp>
      <p:sp>
        <p:nvSpPr>
          <p:cNvPr id="19" name="Modo fácil texto 3"/>
          <p:cNvSpPr txBox="1"/>
          <p:nvPr/>
        </p:nvSpPr>
        <p:spPr>
          <a:xfrm>
            <a:off x="6181344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Repite el pedido y el total antes de cobrar.</a:t>
            </a:r>
            <a:endParaRPr lang="en-US" sz="1100" dirty="0"/>
          </a:p>
        </p:txBody>
      </p:sp>
      <p:sp>
        <p:nvSpPr>
          <p:cNvPr id="20" name="Modo fácil 4"/>
          <p:cNvSpPr/>
          <p:nvPr/>
        </p:nvSpPr>
        <p:spPr>
          <a:xfrm>
            <a:off x="548640" y="2880360"/>
            <a:ext cx="2542032" cy="1508760"/>
          </a:xfrm>
          <a:prstGeom prst="roundRect">
            <a:avLst>
              <a:gd name="adj" fmla="val 727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1" name="Modo fácil 4 círculo"/>
          <p:cNvSpPr/>
          <p:nvPr/>
        </p:nvSpPr>
        <p:spPr>
          <a:xfrm>
            <a:off x="749808" y="3081528"/>
            <a:ext cx="530352" cy="5303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2" name="Modo fácil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92" y="3208812"/>
            <a:ext cx="275783" cy="275783"/>
          </a:xfrm>
          <a:prstGeom prst="rect">
            <a:avLst/>
          </a:prstGeom>
        </p:spPr>
      </p:pic>
      <p:sp>
        <p:nvSpPr>
          <p:cNvPr id="23" name="Modo fácil título 4"/>
          <p:cNvSpPr txBox="1"/>
          <p:nvPr/>
        </p:nvSpPr>
        <p:spPr>
          <a:xfrm>
            <a:off x="749808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a paso</a:t>
            </a:r>
            <a:endParaRPr lang="en-US" sz="1400" dirty="0"/>
          </a:p>
        </p:txBody>
      </p:sp>
      <p:sp>
        <p:nvSpPr>
          <p:cNvPr id="24" name="Modo fácil texto 4"/>
          <p:cNvSpPr txBox="1"/>
          <p:nvPr/>
        </p:nvSpPr>
        <p:spPr>
          <a:xfrm>
            <a:off x="749808" y="3977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Una sola pregunta a la vez, sin palabras técnicas.</a:t>
            </a:r>
            <a:endParaRPr lang="en-US" sz="1100" dirty="0"/>
          </a:p>
        </p:txBody>
      </p:sp>
      <p:sp>
        <p:nvSpPr>
          <p:cNvPr id="25" name="Modo fácil 5"/>
          <p:cNvSpPr/>
          <p:nvPr/>
        </p:nvSpPr>
        <p:spPr>
          <a:xfrm>
            <a:off x="3264408" y="2880360"/>
            <a:ext cx="2542032" cy="1508760"/>
          </a:xfrm>
          <a:prstGeom prst="roundRect">
            <a:avLst>
              <a:gd name="adj" fmla="val 727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6" name="Modo fácil 5 círculo"/>
          <p:cNvSpPr/>
          <p:nvPr/>
        </p:nvSpPr>
        <p:spPr>
          <a:xfrm>
            <a:off x="3465576" y="3081528"/>
            <a:ext cx="530352" cy="5303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7" name="Modo fácil 5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860" y="3208812"/>
            <a:ext cx="275783" cy="275783"/>
          </a:xfrm>
          <a:prstGeom prst="rect">
            <a:avLst/>
          </a:prstGeom>
        </p:spPr>
      </p:pic>
      <p:sp>
        <p:nvSpPr>
          <p:cNvPr id="28" name="Modo fácil título 5"/>
          <p:cNvSpPr txBox="1"/>
          <p:nvPr/>
        </p:nvSpPr>
        <p:spPr>
          <a:xfrm>
            <a:off x="3465576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familiar ayuda</a:t>
            </a:r>
            <a:endParaRPr lang="en-US" sz="1400" dirty="0"/>
          </a:p>
        </p:txBody>
      </p:sp>
      <p:sp>
        <p:nvSpPr>
          <p:cNvPr id="29" name="Modo fácil texto 5"/>
          <p:cNvSpPr txBox="1"/>
          <p:nvPr/>
        </p:nvSpPr>
        <p:spPr>
          <a:xfrm>
            <a:off x="3465576" y="3977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Hijos o nietos pueden apoyar a distancia desde su celular.</a:t>
            </a:r>
            <a:endParaRPr lang="en-US" sz="1100" dirty="0"/>
          </a:p>
        </p:txBody>
      </p:sp>
      <p:sp>
        <p:nvSpPr>
          <p:cNvPr id="30" name="Modo fácil 6"/>
          <p:cNvSpPr/>
          <p:nvPr/>
        </p:nvSpPr>
        <p:spPr>
          <a:xfrm>
            <a:off x="5980176" y="2880360"/>
            <a:ext cx="2542032" cy="1508760"/>
          </a:xfrm>
          <a:prstGeom prst="roundRect">
            <a:avLst>
              <a:gd name="adj" fmla="val 7273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31" name="Modo fácil 6 círculo"/>
          <p:cNvSpPr/>
          <p:nvPr/>
        </p:nvSpPr>
        <p:spPr>
          <a:xfrm>
            <a:off x="6181344" y="3081528"/>
            <a:ext cx="530352" cy="5303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2" name="Modo fácil 6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628" y="3208812"/>
            <a:ext cx="275783" cy="275783"/>
          </a:xfrm>
          <a:prstGeom prst="rect">
            <a:avLst/>
          </a:prstGeom>
        </p:spPr>
      </p:pic>
      <p:sp>
        <p:nvSpPr>
          <p:cNvPr id="33" name="Modo fácil título 6"/>
          <p:cNvSpPr txBox="1"/>
          <p:nvPr/>
        </p:nvSpPr>
        <p:spPr>
          <a:xfrm>
            <a:off x="6181344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miedo a dañarlo</a:t>
            </a:r>
            <a:endParaRPr lang="en-US" sz="1400" dirty="0"/>
          </a:p>
        </p:txBody>
      </p:sp>
      <p:sp>
        <p:nvSpPr>
          <p:cNvPr id="34" name="Modo fácil texto 6"/>
          <p:cNvSpPr txBox="1"/>
          <p:nvPr/>
        </p:nvSpPr>
        <p:spPr>
          <a:xfrm>
            <a:off x="6181344" y="3977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Todo se puede deshacer y nada se borra por error.</a:t>
            </a:r>
            <a:endParaRPr lang="en-US" sz="1100" dirty="0"/>
          </a:p>
        </p:txBody>
      </p:sp>
      <p:sp>
        <p:nvSpPr>
          <p:cNvPr id="35" name="Nota modo fácil"/>
          <p:cNvSpPr txBox="1"/>
          <p:nvPr/>
        </p:nvSpPr>
        <p:spPr>
          <a:xfrm>
            <a:off x="548640" y="4572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Pensado para dueños mayores, personas con poca experiencia en tecnología o con la vista cansada.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Más innovaciones en camino</a:t>
            </a:r>
            <a:endParaRPr lang="en-US" sz="3000" dirty="0"/>
          </a:p>
        </p:txBody>
      </p:sp>
      <p:sp>
        <p:nvSpPr>
          <p:cNvPr id="3" name="Etiqueta futuro fondo"/>
          <p:cNvSpPr/>
          <p:nvPr/>
        </p:nvSpPr>
        <p:spPr>
          <a:xfrm>
            <a:off x="6263640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A1F4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Etiqueta futuro"/>
          <p:cNvSpPr txBox="1"/>
          <p:nvPr/>
        </p:nvSpPr>
        <p:spPr>
          <a:xfrm>
            <a:off x="6263640" y="4572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B5FD"/>
                </a:solidFill>
              </a:rPr>
              <a:t>IDEAS DE FUTURO</a:t>
            </a:r>
            <a:endParaRPr lang="en-US" sz="900" dirty="0"/>
          </a:p>
        </p:txBody>
      </p:sp>
      <p:sp>
        <p:nvSpPr>
          <p:cNvPr id="5" name="Idea 1"/>
          <p:cNvSpPr/>
          <p:nvPr/>
        </p:nvSpPr>
        <p:spPr>
          <a:xfrm>
            <a:off x="548640" y="1188720"/>
            <a:ext cx="3840480" cy="987552"/>
          </a:xfrm>
          <a:prstGeom prst="roundRect">
            <a:avLst>
              <a:gd name="adj" fmla="val 11111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6" name="Idea 1 círculo"/>
          <p:cNvSpPr/>
          <p:nvPr/>
        </p:nvSpPr>
        <p:spPr>
          <a:xfrm>
            <a:off x="731520" y="1371600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dea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750" y="1520830"/>
            <a:ext cx="323332" cy="323332"/>
          </a:xfrm>
          <a:prstGeom prst="rect">
            <a:avLst/>
          </a:prstGeom>
        </p:spPr>
      </p:pic>
      <p:sp>
        <p:nvSpPr>
          <p:cNvPr id="8" name="Idea título 1"/>
          <p:cNvSpPr txBox="1"/>
          <p:nvPr/>
        </p:nvSpPr>
        <p:spPr>
          <a:xfrm>
            <a:off x="1554480" y="13441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Vento atiende WhatsApp</a:t>
            </a:r>
            <a:endParaRPr lang="en-US" sz="1500" dirty="0"/>
          </a:p>
        </p:txBody>
      </p:sp>
      <p:sp>
        <p:nvSpPr>
          <p:cNvPr id="9" name="Idea texto 1"/>
          <p:cNvSpPr txBox="1"/>
          <p:nvPr/>
        </p:nvSpPr>
        <p:spPr>
          <a:xfrm>
            <a:off x="1554480" y="16642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Toma domicilios y responde a los clientes sola.</a:t>
            </a:r>
            <a:endParaRPr lang="en-US" sz="1200" dirty="0"/>
          </a:p>
        </p:txBody>
      </p:sp>
      <p:sp>
        <p:nvSpPr>
          <p:cNvPr id="10" name="Idea 2"/>
          <p:cNvSpPr/>
          <p:nvPr/>
        </p:nvSpPr>
        <p:spPr>
          <a:xfrm>
            <a:off x="4617720" y="1188720"/>
            <a:ext cx="3840480" cy="987552"/>
          </a:xfrm>
          <a:prstGeom prst="roundRect">
            <a:avLst>
              <a:gd name="adj" fmla="val 11111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1" name="Idea 2 círculo"/>
          <p:cNvSpPr/>
          <p:nvPr/>
        </p:nvSpPr>
        <p:spPr>
          <a:xfrm>
            <a:off x="4800600" y="1371600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dea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830" y="1520830"/>
            <a:ext cx="323332" cy="323332"/>
          </a:xfrm>
          <a:prstGeom prst="rect">
            <a:avLst/>
          </a:prstGeom>
        </p:spPr>
      </p:pic>
      <p:sp>
        <p:nvSpPr>
          <p:cNvPr id="13" name="Idea título 2"/>
          <p:cNvSpPr txBox="1"/>
          <p:nvPr/>
        </p:nvSpPr>
        <p:spPr>
          <a:xfrm>
            <a:off x="5623560" y="13441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 que cuenta</a:t>
            </a:r>
            <a:endParaRPr lang="en-US" sz="1500" dirty="0"/>
          </a:p>
        </p:txBody>
      </p:sp>
      <p:sp>
        <p:nvSpPr>
          <p:cNvPr id="14" name="Idea texto 2"/>
          <p:cNvSpPr txBox="1"/>
          <p:nvPr/>
        </p:nvSpPr>
        <p:spPr>
          <a:xfrm>
            <a:off x="5623560" y="16642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Una foto a la nevera y sabe cuántas botellas quedan.</a:t>
            </a:r>
            <a:endParaRPr lang="en-US" sz="1200" dirty="0"/>
          </a:p>
        </p:txBody>
      </p:sp>
      <p:sp>
        <p:nvSpPr>
          <p:cNvPr id="15" name="Idea 3"/>
          <p:cNvSpPr/>
          <p:nvPr/>
        </p:nvSpPr>
        <p:spPr>
          <a:xfrm>
            <a:off x="548640" y="2331720"/>
            <a:ext cx="3840480" cy="987552"/>
          </a:xfrm>
          <a:prstGeom prst="roundRect">
            <a:avLst>
              <a:gd name="adj" fmla="val 11111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16" name="Idea 3 círculo"/>
          <p:cNvSpPr/>
          <p:nvPr/>
        </p:nvSpPr>
        <p:spPr>
          <a:xfrm>
            <a:off x="731520" y="2514600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dea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50" y="2663830"/>
            <a:ext cx="323332" cy="323332"/>
          </a:xfrm>
          <a:prstGeom prst="rect">
            <a:avLst/>
          </a:prstGeom>
        </p:spPr>
      </p:pic>
      <p:sp>
        <p:nvSpPr>
          <p:cNvPr id="18" name="Idea título 3"/>
          <p:cNvSpPr txBox="1"/>
          <p:nvPr/>
        </p:nvSpPr>
        <p:spPr>
          <a:xfrm>
            <a:off x="1554480" y="24871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TV como vitrina</a:t>
            </a:r>
            <a:endParaRPr lang="en-US" sz="1500" dirty="0"/>
          </a:p>
        </p:txBody>
      </p:sp>
      <p:sp>
        <p:nvSpPr>
          <p:cNvPr id="19" name="Idea texto 3"/>
          <p:cNvSpPr txBox="1"/>
          <p:nvPr/>
        </p:nvSpPr>
        <p:spPr>
          <a:xfrm>
            <a:off x="1554480" y="28072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Muestra la carta, promociones y la cola de canciones.</a:t>
            </a:r>
            <a:endParaRPr lang="en-US" sz="1200" dirty="0"/>
          </a:p>
        </p:txBody>
      </p:sp>
      <p:sp>
        <p:nvSpPr>
          <p:cNvPr id="20" name="Idea 4"/>
          <p:cNvSpPr/>
          <p:nvPr/>
        </p:nvSpPr>
        <p:spPr>
          <a:xfrm>
            <a:off x="4617720" y="2331720"/>
            <a:ext cx="3840480" cy="987552"/>
          </a:xfrm>
          <a:prstGeom prst="roundRect">
            <a:avLst>
              <a:gd name="adj" fmla="val 11111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1" name="Idea 4 círculo"/>
          <p:cNvSpPr/>
          <p:nvPr/>
        </p:nvSpPr>
        <p:spPr>
          <a:xfrm>
            <a:off x="4800600" y="2514600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dea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830" y="2663830"/>
            <a:ext cx="323332" cy="323332"/>
          </a:xfrm>
          <a:prstGeom prst="rect">
            <a:avLst/>
          </a:prstGeom>
        </p:spPr>
      </p:pic>
      <p:sp>
        <p:nvSpPr>
          <p:cNvPr id="23" name="Idea título 4"/>
          <p:cNvSpPr txBox="1"/>
          <p:nvPr/>
        </p:nvSpPr>
        <p:spPr>
          <a:xfrm>
            <a:off x="5623560" y="24871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Habla con turistas</a:t>
            </a:r>
            <a:endParaRPr lang="en-US" sz="1500" dirty="0"/>
          </a:p>
        </p:txBody>
      </p:sp>
      <p:sp>
        <p:nvSpPr>
          <p:cNvPr id="24" name="Idea texto 4"/>
          <p:cNvSpPr txBox="1"/>
          <p:nvPr/>
        </p:nvSpPr>
        <p:spPr>
          <a:xfrm>
            <a:off x="5623560" y="28072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Carta y pedidos por QR en inglés y otros idiomas.</a:t>
            </a:r>
            <a:endParaRPr lang="en-US" sz="1200" dirty="0"/>
          </a:p>
        </p:txBody>
      </p:sp>
      <p:sp>
        <p:nvSpPr>
          <p:cNvPr id="25" name="Idea 5"/>
          <p:cNvSpPr/>
          <p:nvPr/>
        </p:nvSpPr>
        <p:spPr>
          <a:xfrm>
            <a:off x="548640" y="3474720"/>
            <a:ext cx="3840480" cy="987552"/>
          </a:xfrm>
          <a:prstGeom prst="roundRect">
            <a:avLst>
              <a:gd name="adj" fmla="val 11111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26" name="Idea 5 círculo"/>
          <p:cNvSpPr/>
          <p:nvPr/>
        </p:nvSpPr>
        <p:spPr>
          <a:xfrm>
            <a:off x="731520" y="3657600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dea 5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750" y="3806830"/>
            <a:ext cx="323332" cy="323332"/>
          </a:xfrm>
          <a:prstGeom prst="rect">
            <a:avLst/>
          </a:prstGeom>
        </p:spPr>
      </p:pic>
      <p:sp>
        <p:nvSpPr>
          <p:cNvPr id="28" name="Idea título 5"/>
          <p:cNvSpPr txBox="1"/>
          <p:nvPr/>
        </p:nvSpPr>
        <p:spPr>
          <a:xfrm>
            <a:off x="1554480" y="36301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de cada noche</a:t>
            </a:r>
            <a:endParaRPr lang="en-US" sz="1500" dirty="0"/>
          </a:p>
        </p:txBody>
      </p:sp>
      <p:sp>
        <p:nvSpPr>
          <p:cNvPr id="29" name="Idea texto 5"/>
          <p:cNvSpPr txBox="1"/>
          <p:nvPr/>
        </p:nvSpPr>
        <p:spPr>
          <a:xfrm>
            <a:off x="1554480" y="39502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Al cerrar, Vento le cuenta al dueño cómo le fue, por voz.</a:t>
            </a:r>
            <a:endParaRPr lang="en-US" sz="1200" dirty="0"/>
          </a:p>
        </p:txBody>
      </p:sp>
      <p:sp>
        <p:nvSpPr>
          <p:cNvPr id="30" name="Idea 6"/>
          <p:cNvSpPr/>
          <p:nvPr/>
        </p:nvSpPr>
        <p:spPr>
          <a:xfrm>
            <a:off x="4617720" y="3474720"/>
            <a:ext cx="3840480" cy="987552"/>
          </a:xfrm>
          <a:prstGeom prst="roundRect">
            <a:avLst>
              <a:gd name="adj" fmla="val 11111"/>
            </a:avLst>
          </a:prstGeom>
          <a:solidFill>
            <a:srgbClr val="1C1A2B"/>
          </a:solidFill>
          <a:ln w="9525">
            <a:solidFill>
              <a:srgbClr val="2E2A44"/>
            </a:solidFill>
            <a:prstDash val="solid"/>
          </a:ln>
        </p:spPr>
      </p:sp>
      <p:sp>
        <p:nvSpPr>
          <p:cNvPr id="31" name="Idea 6 círculo"/>
          <p:cNvSpPr/>
          <p:nvPr/>
        </p:nvSpPr>
        <p:spPr>
          <a:xfrm>
            <a:off x="4800600" y="3657600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dea 6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9830" y="3806830"/>
            <a:ext cx="323332" cy="323332"/>
          </a:xfrm>
          <a:prstGeom prst="rect">
            <a:avLst/>
          </a:prstGeom>
        </p:spPr>
      </p:pic>
      <p:sp>
        <p:nvSpPr>
          <p:cNvPr id="33" name="Idea título 6"/>
          <p:cNvSpPr txBox="1"/>
          <p:nvPr/>
        </p:nvSpPr>
        <p:spPr>
          <a:xfrm>
            <a:off x="5623560" y="36301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por voz</a:t>
            </a:r>
            <a:endParaRPr lang="en-US" sz="1500" dirty="0"/>
          </a:p>
        </p:txBody>
      </p:sp>
      <p:sp>
        <p:nvSpPr>
          <p:cNvPr id="34" name="Idea texto 6"/>
          <p:cNvSpPr txBox="1"/>
          <p:nvPr/>
        </p:nvSpPr>
        <p:spPr>
          <a:xfrm>
            <a:off x="5623560" y="39502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6BD"/>
                </a:solidFill>
              </a:rPr>
              <a:t>«Vento, ¿cómo hago…?» y te guía en ese momento.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Vento cier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2344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Vento trabaja por ti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5146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Pruébalo gratis hoy en tu negocio.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D399"/>
                </a:solidFill>
              </a:rPr>
              <a:t>WhatsApp: +57 313 895 0277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A9A6BD"/>
                </a:solidFill>
              </a:rPr>
              <a:t>cristhianlujan45-blip.github.io/cuentas</a:t>
            </a:r>
            <a:endParaRPr lang="en-US" sz="1800" dirty="0"/>
          </a:p>
        </p:txBody>
      </p:sp>
      <p:sp>
        <p:nvSpPr>
          <p:cNvPr id="5" name="Pantalla de cuenta marco"/>
          <p:cNvSpPr/>
          <p:nvPr/>
        </p:nvSpPr>
        <p:spPr>
          <a:xfrm>
            <a:off x="5925312" y="347472"/>
            <a:ext cx="2135037" cy="4471416"/>
          </a:xfrm>
          <a:prstGeom prst="roundRect">
            <a:avLst>
              <a:gd name="adj" fmla="val 9422"/>
            </a:avLst>
          </a:prstGeom>
          <a:solidFill>
            <a:srgbClr val="05050A"/>
          </a:solidFill>
          <a:ln w="19050">
            <a:solidFill>
              <a:srgbClr val="4C3A8F"/>
            </a:solidFill>
            <a:prstDash val="solid"/>
          </a:ln>
          <a:effectLst>
            <a:outerShdw sx="100000" sy="100000" kx="0" ky="0" algn="bl" rotWithShape="0" blurRad="228600" dist="25400" dir="5400000">
              <a:srgbClr val="7C3AED">
                <a:alpha val="35000"/>
              </a:srgbClr>
            </a:outerShdw>
          </a:effectLst>
        </p:spPr>
      </p:sp>
      <p:pic>
        <p:nvPicPr>
          <p:cNvPr id="6" name="Pantalla de cuent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411480"/>
            <a:ext cx="2007021" cy="434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ento">
  <a:themeElements>
    <a:clrScheme name="Vento">
      <a:dk1>
        <a:srgbClr val="0F0F16"/>
      </a:dk1>
      <a:lt1>
        <a:srgbClr val="FFFFFF"/>
      </a:lt1>
      <a:dk2>
        <a:srgbClr val="1C1A2B"/>
      </a:dk2>
      <a:lt2>
        <a:srgbClr val="F2F1F7"/>
      </a:lt2>
      <a:accent1>
        <a:srgbClr val="7C3AED"/>
      </a:accent1>
      <a:accent2>
        <a:srgbClr val="C4B5FD"/>
      </a:accent2>
      <a:accent3>
        <a:srgbClr val="34D399"/>
      </a:accent3>
      <a:accent4>
        <a:srgbClr val="A78BFA"/>
      </a:accent4>
      <a:accent5>
        <a:srgbClr val="FB7185"/>
      </a:accent5>
      <a:accent6>
        <a:srgbClr val="9A97AD"/>
      </a:accent6>
      <a:hlink>
        <a:srgbClr val="C4B5FD"/>
      </a:hlink>
      <a:folHlink>
        <a:srgbClr val="A78BFA"/>
      </a:folHlink>
    </a:clrScheme>
    <a:fontScheme name="Vent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Vento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Vento — presentación comercial</dc:title>
  <dc:subject>PptxGenJS Presentation</dc:subject>
  <dc:creator>Vento</dc:creator>
  <cp:lastModifiedBy>Vento</cp:lastModifiedBy>
  <cp:revision>1</cp:revision>
  <dcterms:created xsi:type="dcterms:W3CDTF">2026-10-04T02:38:56Z</dcterms:created>
  <dcterms:modified xsi:type="dcterms:W3CDTF">2026-10-04T02:38:56Z</dcterms:modified>
</cp:coreProperties>
</file>