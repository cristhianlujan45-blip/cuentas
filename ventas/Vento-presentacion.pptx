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b0e82469-7467-4a88-f857-4ba2bf1d37e2}">
          <p14:sldIdLst>
            <p14:sldId id="256"/>
          </p14:sldIdLst>
        </p14:section>
        <p14:section name="Problema y solución" id="{a58d42bd-4636-2f4f-8cdb-c0213a3b3808}">
          <p14:sldIdLst>
            <p14:sldId id="257"/>
            <p14:sldId id="258"/>
          </p14:sldIdLst>
        </p14:section>
        <p14:section name="Producto" id="{e838b384-0523-b916-3500-0e752b0d3c49}">
          <p14:sldIdLst>
            <p14:sldId id="259"/>
            <p14:sldId id="260"/>
            <p14:sldId id="261"/>
            <p14:sldId id="262"/>
            <p14:sldId id="263"/>
          </p14:sldIdLst>
        </p14:section>
        <p14:section name="Administración" id="{92d9518b-79ed-476e-9d91-42e18dce0f3f}">
          <p14:sldIdLst>
            <p14:sldId id="264"/>
            <p14:sldId id="265"/>
            <p14:sldId id="266"/>
          </p14:sldIdLst>
        </p14:section>
        <p14:section name="Operación" id="{96d9fdf2-e265-af42-d1f5-55b827129262}">
          <p14:sldIdLst>
            <p14:sldId id="267"/>
            <p14:sldId id="268"/>
            <p14:sldId id="269"/>
            <p14:sldId id="270"/>
          </p14:sldIdLst>
        </p14:section>
        <p14:section name="Negocio" id="{e6ab01a7-7be6-349d-7e1f-58b4f9368a11}">
          <p14:sldIdLst>
            <p14:sldId id="271"/>
            <p14:sldId id="272"/>
          </p14:sldIdLst>
        </p14:section>
        <p14:section name="Futuro y cierre" id="{84cb3c33-2421-69c2-1b65-c85befbe643c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convierte el celular del negocio en caja, mesero, inventario, asistente con IA y DJ.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TITUL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CONTENID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Vento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El sistema que atiende, cobra y pone la música por ti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Punto de venta con voz e inteligencia artificial para bares, restaurantes, cafeterías y tiendas.</a:t>
            </a:r>
            <a:endParaRPr lang="en-US" sz="1800" dirty="0"/>
          </a:p>
        </p:txBody>
      </p:sp>
      <p:sp>
        <p:nvSpPr>
          <p:cNvPr id="5" name="Origen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</a:rPr>
              <a:t>Hecho en Colombia · funciona en el celular, con o sin internet</a:t>
            </a:r>
            <a:endParaRPr lang="en-US" sz="1200" dirty="0"/>
          </a:p>
        </p:txBody>
      </p:sp>
      <p:sp>
        <p:nvSpPr>
          <p:cNvPr id="6" name="Pantalla de mesas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7" name="Pantalla de mes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Así se pierde plata todos los días</a:t>
            </a:r>
            <a:endParaRPr lang="en-US" sz="3000" dirty="0"/>
          </a:p>
        </p:txBody>
      </p:sp>
      <p:sp>
        <p:nvSpPr>
          <p:cNvPr id="3" name="Dolor 1"/>
          <p:cNvSpPr/>
          <p:nvPr/>
        </p:nvSpPr>
        <p:spPr>
          <a:xfrm>
            <a:off x="54864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olor 1 círculo"/>
          <p:cNvSpPr/>
          <p:nvPr/>
        </p:nvSpPr>
        <p:spPr>
          <a:xfrm>
            <a:off x="82296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5" name="Dol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19072"/>
            <a:ext cx="356616" cy="356616"/>
          </a:xfrm>
          <a:prstGeom prst="rect">
            <a:avLst/>
          </a:prstGeom>
        </p:spPr>
      </p:pic>
      <p:sp>
        <p:nvSpPr>
          <p:cNvPr id="6" name="Dolor título 1"/>
          <p:cNvSpPr txBox="1"/>
          <p:nvPr/>
        </p:nvSpPr>
        <p:spPr>
          <a:xfrm>
            <a:off x="1737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en papel</a:t>
            </a:r>
            <a:endParaRPr lang="en-US" sz="1800" dirty="0"/>
          </a:p>
        </p:txBody>
      </p:sp>
      <p:sp>
        <p:nvSpPr>
          <p:cNvPr id="7" name="Dolor texto 1"/>
          <p:cNvSpPr txBox="1"/>
          <p:nvPr/>
        </p:nvSpPr>
        <p:spPr>
          <a:xfrm>
            <a:off x="173736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pierden, se borran o se cobran mal cuando el local se llena.</a:t>
            </a:r>
            <a:endParaRPr lang="en-US" sz="1400" dirty="0"/>
          </a:p>
        </p:txBody>
      </p:sp>
      <p:sp>
        <p:nvSpPr>
          <p:cNvPr id="8" name="Dolor 2"/>
          <p:cNvSpPr/>
          <p:nvPr/>
        </p:nvSpPr>
        <p:spPr>
          <a:xfrm>
            <a:off x="461772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olor 2 círculo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0" name="Dol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19072"/>
            <a:ext cx="356616" cy="356616"/>
          </a:xfrm>
          <a:prstGeom prst="rect">
            <a:avLst/>
          </a:prstGeom>
        </p:spPr>
      </p:pic>
      <p:sp>
        <p:nvSpPr>
          <p:cNvPr id="11" name="Dolor título 2"/>
          <p:cNvSpPr txBox="1"/>
          <p:nvPr/>
        </p:nvSpPr>
        <p:spPr>
          <a:xfrm>
            <a:off x="580644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Fiados sin control</a:t>
            </a:r>
            <a:endParaRPr lang="en-US" sz="1800" dirty="0"/>
          </a:p>
        </p:txBody>
      </p:sp>
      <p:sp>
        <p:nvSpPr>
          <p:cNvPr id="12" name="Dolor texto 2"/>
          <p:cNvSpPr txBox="1"/>
          <p:nvPr/>
        </p:nvSpPr>
        <p:spPr>
          <a:xfrm>
            <a:off x="580644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Nadie recuerda quién debe cuánto ni desde cuándo.</a:t>
            </a:r>
            <a:endParaRPr lang="en-US" sz="1400" dirty="0"/>
          </a:p>
        </p:txBody>
      </p:sp>
      <p:sp>
        <p:nvSpPr>
          <p:cNvPr id="13" name="Dolor 3"/>
          <p:cNvSpPr/>
          <p:nvPr/>
        </p:nvSpPr>
        <p:spPr>
          <a:xfrm>
            <a:off x="54864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Dolor 3 círculo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5" name="Dol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02152"/>
            <a:ext cx="356616" cy="356616"/>
          </a:xfrm>
          <a:prstGeom prst="rect">
            <a:avLst/>
          </a:prstGeom>
        </p:spPr>
      </p:pic>
      <p:sp>
        <p:nvSpPr>
          <p:cNvPr id="16" name="Dolor título 3"/>
          <p:cNvSpPr txBox="1"/>
          <p:nvPr/>
        </p:nvSpPr>
        <p:spPr>
          <a:xfrm>
            <a:off x="173736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 ojo</a:t>
            </a:r>
            <a:endParaRPr lang="en-US" sz="1800" dirty="0"/>
          </a:p>
        </p:txBody>
      </p:sp>
      <p:sp>
        <p:nvSpPr>
          <p:cNvPr id="17" name="Dolor texto 3"/>
          <p:cNvSpPr txBox="1"/>
          <p:nvPr/>
        </p:nvSpPr>
        <p:spPr>
          <a:xfrm>
            <a:off x="173736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acaba la cerveza en plena noche y nadie avisó.</a:t>
            </a:r>
            <a:endParaRPr lang="en-US" sz="1400" dirty="0"/>
          </a:p>
        </p:txBody>
      </p:sp>
      <p:sp>
        <p:nvSpPr>
          <p:cNvPr id="18" name="Dolor 4"/>
          <p:cNvSpPr/>
          <p:nvPr/>
        </p:nvSpPr>
        <p:spPr>
          <a:xfrm>
            <a:off x="461772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Dolor 4 círculo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20" name="Dol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02152"/>
            <a:ext cx="356616" cy="356616"/>
          </a:xfrm>
          <a:prstGeom prst="rect">
            <a:avLst/>
          </a:prstGeom>
        </p:spPr>
      </p:pic>
      <p:sp>
        <p:nvSpPr>
          <p:cNvPr id="21" name="Dolor título 4"/>
          <p:cNvSpPr txBox="1"/>
          <p:nvPr/>
        </p:nvSpPr>
        <p:spPr>
          <a:xfrm>
            <a:off x="580644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sin control</a:t>
            </a:r>
            <a:endParaRPr lang="en-US" sz="1800" dirty="0"/>
          </a:p>
        </p:txBody>
      </p:sp>
      <p:sp>
        <p:nvSpPr>
          <p:cNvPr id="22" name="Dolor texto 4"/>
          <p:cNvSpPr txBox="1"/>
          <p:nvPr/>
        </p:nvSpPr>
        <p:spPr>
          <a:xfrm>
            <a:off x="580644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La pone quien tenga el celular; los clientes no pueden pedir.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negocio en un solo celular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548640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ilar 1 círculo"/>
          <p:cNvSpPr/>
          <p:nvPr/>
        </p:nvSpPr>
        <p:spPr>
          <a:xfrm>
            <a:off x="777240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ila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553383"/>
            <a:ext cx="294803" cy="294803"/>
          </a:xfrm>
          <a:prstGeom prst="rect">
            <a:avLst/>
          </a:prstGeom>
        </p:spPr>
      </p:pic>
      <p:sp>
        <p:nvSpPr>
          <p:cNvPr id="6" name="Pilar título 1"/>
          <p:cNvSpPr txBox="1"/>
          <p:nvPr/>
        </p:nvSpPr>
        <p:spPr>
          <a:xfrm>
            <a:off x="777240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Mesas y cuentas</a:t>
            </a:r>
            <a:endParaRPr lang="en-US" sz="1600" dirty="0"/>
          </a:p>
        </p:txBody>
      </p:sp>
      <p:sp>
        <p:nvSpPr>
          <p:cNvPr id="7" name="Pilar texto 1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Personas, abonos y cobro con un toque</a:t>
            </a:r>
            <a:endParaRPr lang="en-US" sz="1200" dirty="0"/>
          </a:p>
        </p:txBody>
      </p:sp>
      <p:sp>
        <p:nvSpPr>
          <p:cNvPr id="8" name="Pilar 2"/>
          <p:cNvSpPr/>
          <p:nvPr/>
        </p:nvSpPr>
        <p:spPr>
          <a:xfrm>
            <a:off x="3264408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Pilar 2 círculo"/>
          <p:cNvSpPr/>
          <p:nvPr/>
        </p:nvSpPr>
        <p:spPr>
          <a:xfrm>
            <a:off x="3493008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ila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71" y="1553383"/>
            <a:ext cx="294803" cy="294803"/>
          </a:xfrm>
          <a:prstGeom prst="rect">
            <a:avLst/>
          </a:prstGeom>
        </p:spPr>
      </p:pic>
      <p:sp>
        <p:nvSpPr>
          <p:cNvPr id="11" name="Pilar título 2"/>
          <p:cNvSpPr txBox="1"/>
          <p:nvPr/>
        </p:nvSpPr>
        <p:spPr>
          <a:xfrm>
            <a:off x="3493008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voz</a:t>
            </a:r>
            <a:endParaRPr lang="en-US" sz="1600" dirty="0"/>
          </a:p>
        </p:txBody>
      </p:sp>
      <p:sp>
        <p:nvSpPr>
          <p:cNvPr id="12" name="Pilar texto 2"/>
          <p:cNvSpPr txBox="1"/>
          <p:nvPr/>
        </p:nvSpPr>
        <p:spPr>
          <a:xfrm>
            <a:off x="3493008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«Mesa 3, dos Póker» y queda anotado</a:t>
            </a:r>
            <a:endParaRPr lang="en-US" sz="1200" dirty="0"/>
          </a:p>
        </p:txBody>
      </p:sp>
      <p:sp>
        <p:nvSpPr>
          <p:cNvPr id="13" name="Pilar 3"/>
          <p:cNvSpPr/>
          <p:nvPr/>
        </p:nvSpPr>
        <p:spPr>
          <a:xfrm>
            <a:off x="5980176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Pilar 3 círculo"/>
          <p:cNvSpPr/>
          <p:nvPr/>
        </p:nvSpPr>
        <p:spPr>
          <a:xfrm>
            <a:off x="6208776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Pila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839" y="1553383"/>
            <a:ext cx="294803" cy="294803"/>
          </a:xfrm>
          <a:prstGeom prst="rect">
            <a:avLst/>
          </a:prstGeom>
        </p:spPr>
      </p:pic>
      <p:sp>
        <p:nvSpPr>
          <p:cNvPr id="16" name="Pilar título 3"/>
          <p:cNvSpPr txBox="1"/>
          <p:nvPr/>
        </p:nvSpPr>
        <p:spPr>
          <a:xfrm>
            <a:off x="6208776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Laya, la IA</a:t>
            </a:r>
            <a:endParaRPr lang="en-US" sz="1600" dirty="0"/>
          </a:p>
        </p:txBody>
      </p:sp>
      <p:sp>
        <p:nvSpPr>
          <p:cNvPr id="17" name="Pilar texto 3"/>
          <p:cNvSpPr txBox="1"/>
          <p:nvPr/>
        </p:nvSpPr>
        <p:spPr>
          <a:xfrm>
            <a:off x="6208776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responde con tus datos</a:t>
            </a:r>
            <a:endParaRPr lang="en-US" sz="1200" dirty="0"/>
          </a:p>
        </p:txBody>
      </p:sp>
      <p:sp>
        <p:nvSpPr>
          <p:cNvPr id="18" name="Pilar 4"/>
          <p:cNvSpPr/>
          <p:nvPr/>
        </p:nvSpPr>
        <p:spPr>
          <a:xfrm>
            <a:off x="548640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Pilar 4 círculo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Pila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303" y="3336463"/>
            <a:ext cx="294803" cy="294803"/>
          </a:xfrm>
          <a:prstGeom prst="rect">
            <a:avLst/>
          </a:prstGeom>
        </p:spPr>
      </p:pic>
      <p:sp>
        <p:nvSpPr>
          <p:cNvPr id="21" name="Pilar título 4"/>
          <p:cNvSpPr txBox="1"/>
          <p:nvPr/>
        </p:nvSpPr>
        <p:spPr>
          <a:xfrm>
            <a:off x="777240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1600" dirty="0"/>
          </a:p>
        </p:txBody>
      </p:sp>
      <p:sp>
        <p:nvSpPr>
          <p:cNvPr id="22" name="Pilar texto 4"/>
          <p:cNvSpPr txBox="1"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pide desde su mesa</a:t>
            </a:r>
            <a:endParaRPr lang="en-US" sz="1200" dirty="0"/>
          </a:p>
        </p:txBody>
      </p:sp>
      <p:sp>
        <p:nvSpPr>
          <p:cNvPr id="23" name="Pilar 5"/>
          <p:cNvSpPr/>
          <p:nvPr/>
        </p:nvSpPr>
        <p:spPr>
          <a:xfrm>
            <a:off x="3264408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Pilar 5 círculo"/>
          <p:cNvSpPr/>
          <p:nvPr/>
        </p:nvSpPr>
        <p:spPr>
          <a:xfrm>
            <a:off x="3493008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Pila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71" y="3336463"/>
            <a:ext cx="294803" cy="294803"/>
          </a:xfrm>
          <a:prstGeom prst="rect">
            <a:avLst/>
          </a:prstGeom>
        </p:spPr>
      </p:pic>
      <p:sp>
        <p:nvSpPr>
          <p:cNvPr id="26" name="Pilar título 5"/>
          <p:cNvSpPr txBox="1"/>
          <p:nvPr/>
        </p:nvSpPr>
        <p:spPr>
          <a:xfrm>
            <a:off x="349300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1600" dirty="0"/>
          </a:p>
        </p:txBody>
      </p:sp>
      <p:sp>
        <p:nvSpPr>
          <p:cNvPr id="27" name="Pilar texto 5"/>
          <p:cNvSpPr txBox="1"/>
          <p:nvPr/>
        </p:nvSpPr>
        <p:spPr>
          <a:xfrm>
            <a:off x="3493008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Los clientes eligen; suena sola en YouTube</a:t>
            </a:r>
            <a:endParaRPr lang="en-US" sz="1200" dirty="0"/>
          </a:p>
        </p:txBody>
      </p:sp>
      <p:sp>
        <p:nvSpPr>
          <p:cNvPr id="28" name="Pilar 6"/>
          <p:cNvSpPr/>
          <p:nvPr/>
        </p:nvSpPr>
        <p:spPr>
          <a:xfrm>
            <a:off x="5980176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Pilar 6 círculo"/>
          <p:cNvSpPr/>
          <p:nvPr/>
        </p:nvSpPr>
        <p:spPr>
          <a:xfrm>
            <a:off x="6208776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Pila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39" y="3336463"/>
            <a:ext cx="294803" cy="294803"/>
          </a:xfrm>
          <a:prstGeom prst="rect">
            <a:avLst/>
          </a:prstGeom>
        </p:spPr>
      </p:pic>
      <p:sp>
        <p:nvSpPr>
          <p:cNvPr id="31" name="Pilar título 6"/>
          <p:cNvSpPr txBox="1"/>
          <p:nvPr/>
        </p:nvSpPr>
        <p:spPr>
          <a:xfrm>
            <a:off x="6208776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32" name="Pilar texto 6"/>
          <p:cNvSpPr txBox="1"/>
          <p:nvPr/>
        </p:nvSpPr>
        <p:spPr>
          <a:xfrm>
            <a:off x="62087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Stock al día y avisos de agotados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Cobrar nunca fue tan fácil</a:t>
            </a:r>
            <a:endParaRPr lang="en-US" sz="3000" dirty="0"/>
          </a:p>
        </p:txBody>
      </p:sp>
      <p:sp>
        <p:nvSpPr>
          <p:cNvPr id="3" name="Tarjeta de pago marco"/>
          <p:cNvSpPr/>
          <p:nvPr/>
        </p:nvSpPr>
        <p:spPr>
          <a:xfrm>
            <a:off x="621792" y="107899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Tarjeta de pa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690123" cy="3657600"/>
          </a:xfrm>
          <a:prstGeom prst="rect">
            <a:avLst/>
          </a:prstGeom>
        </p:spPr>
      </p:pic>
      <p:sp>
        <p:nvSpPr>
          <p:cNvPr id="5" name="Cobro 1 círculo"/>
          <p:cNvSpPr/>
          <p:nvPr/>
        </p:nvSpPr>
        <p:spPr>
          <a:xfrm>
            <a:off x="2971800" y="11430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Cobr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274674"/>
            <a:ext cx="285293" cy="285293"/>
          </a:xfrm>
          <a:prstGeom prst="rect">
            <a:avLst/>
          </a:prstGeom>
        </p:spPr>
      </p:pic>
      <p:sp>
        <p:nvSpPr>
          <p:cNvPr id="7" name="Cobro título 1"/>
          <p:cNvSpPr txBox="1"/>
          <p:nvPr/>
        </p:nvSpPr>
        <p:spPr>
          <a:xfrm>
            <a:off x="3703320" y="11247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con su cuenta</a:t>
            </a:r>
            <a:endParaRPr lang="en-US" sz="1600" dirty="0"/>
          </a:p>
        </p:txBody>
      </p:sp>
      <p:sp>
        <p:nvSpPr>
          <p:cNvPr id="8" name="Cobro texto 1"/>
          <p:cNvSpPr txBox="1"/>
          <p:nvPr/>
        </p:nvSpPr>
        <p:spPr>
          <a:xfrm>
            <a:off x="3703320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Agrega a Ana o a Luis y cada uno paga lo suyo.</a:t>
            </a:r>
            <a:endParaRPr lang="en-US" sz="1300" dirty="0"/>
          </a:p>
        </p:txBody>
      </p:sp>
      <p:sp>
        <p:nvSpPr>
          <p:cNvPr id="9" name="Cobro 2 círculo"/>
          <p:cNvSpPr/>
          <p:nvPr/>
        </p:nvSpPr>
        <p:spPr>
          <a:xfrm>
            <a:off x="2971800" y="20574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74" y="2189074"/>
            <a:ext cx="285293" cy="285293"/>
          </a:xfrm>
          <a:prstGeom prst="rect">
            <a:avLst/>
          </a:prstGeom>
        </p:spPr>
      </p:pic>
      <p:sp>
        <p:nvSpPr>
          <p:cNvPr id="11" name="Cobro título 2"/>
          <p:cNvSpPr txBox="1"/>
          <p:nvPr/>
        </p:nvSpPr>
        <p:spPr>
          <a:xfrm>
            <a:off x="3703320" y="2039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Abonos y cuenta dividida</a:t>
            </a:r>
            <a:endParaRPr lang="en-US" sz="1600" dirty="0"/>
          </a:p>
        </p:txBody>
      </p:sp>
      <p:sp>
        <p:nvSpPr>
          <p:cNvPr id="12" name="Cobro texto 2"/>
          <p:cNvSpPr txBox="1"/>
          <p:nvPr/>
        </p:nvSpPr>
        <p:spPr>
          <a:xfrm>
            <a:off x="370332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Elige entre cuántos se divide y Vento dice cuánto le toca a cada uno.</a:t>
            </a:r>
            <a:endParaRPr lang="en-US" sz="1300" dirty="0"/>
          </a:p>
        </p:txBody>
      </p:sp>
      <p:sp>
        <p:nvSpPr>
          <p:cNvPr id="13" name="Cobro 3 círculo"/>
          <p:cNvSpPr/>
          <p:nvPr/>
        </p:nvSpPr>
        <p:spPr>
          <a:xfrm>
            <a:off x="2971800" y="29718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obr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3103474"/>
            <a:ext cx="285293" cy="285293"/>
          </a:xfrm>
          <a:prstGeom prst="rect">
            <a:avLst/>
          </a:prstGeom>
        </p:spPr>
      </p:pic>
      <p:sp>
        <p:nvSpPr>
          <p:cNvPr id="15" name="Cobro título 3"/>
          <p:cNvSpPr txBox="1"/>
          <p:nvPr/>
        </p:nvSpPr>
        <p:spPr>
          <a:xfrm>
            <a:off x="3703320" y="29535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Efectivo, Nequi o fiado</a:t>
            </a:r>
            <a:endParaRPr lang="en-US" sz="1600" dirty="0"/>
          </a:p>
        </p:txBody>
      </p:sp>
      <p:sp>
        <p:nvSpPr>
          <p:cNvPr id="16" name="Cobro texto 3"/>
          <p:cNvSpPr txBox="1"/>
          <p:nvPr/>
        </p:nvSpPr>
        <p:spPr>
          <a:xfrm>
            <a:off x="370332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Comprobantes de transferencia verificados y fiados en la libreta.</a:t>
            </a:r>
            <a:endParaRPr lang="en-US" sz="1300" dirty="0"/>
          </a:p>
        </p:txBody>
      </p:sp>
      <p:sp>
        <p:nvSpPr>
          <p:cNvPr id="17" name="Cobro 4 círculo"/>
          <p:cNvSpPr/>
          <p:nvPr/>
        </p:nvSpPr>
        <p:spPr>
          <a:xfrm>
            <a:off x="2971800" y="3886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obr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474" y="4017874"/>
            <a:ext cx="285293" cy="285293"/>
          </a:xfrm>
          <a:prstGeom prst="rect">
            <a:avLst/>
          </a:prstGeom>
        </p:spPr>
      </p:pic>
      <p:sp>
        <p:nvSpPr>
          <p:cNvPr id="19" name="Cobro título 4"/>
          <p:cNvSpPr txBox="1"/>
          <p:nvPr/>
        </p:nvSpPr>
        <p:spPr>
          <a:xfrm>
            <a:off x="3703320" y="3867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y libera con un toque</a:t>
            </a:r>
            <a:endParaRPr lang="en-US" sz="1600" dirty="0"/>
          </a:p>
        </p:txBody>
      </p:sp>
      <p:sp>
        <p:nvSpPr>
          <p:cNvPr id="20" name="Cobro texto 4"/>
          <p:cNvSpPr txBox="1"/>
          <p:nvPr/>
        </p:nvSpPr>
        <p:spPr>
          <a:xfrm>
            <a:off x="37033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Cierre de caja automático y recibo por WhatsApp o impreso.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Habla y Vento anota</a:t>
            </a:r>
            <a:endParaRPr lang="en-US" sz="3000" dirty="0"/>
          </a:p>
        </p:txBody>
      </p:sp>
      <p:sp>
        <p:nvSpPr>
          <p:cNvPr id="3" name="Ejemplo de voz"/>
          <p:cNvSpPr/>
          <p:nvPr/>
        </p:nvSpPr>
        <p:spPr>
          <a:xfrm>
            <a:off x="548640" y="118872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Micrófono círculo"/>
          <p:cNvSpPr/>
          <p:nvPr/>
        </p:nvSpPr>
        <p:spPr>
          <a:xfrm>
            <a:off x="868680" y="150876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Micrófon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695298"/>
            <a:ext cx="404165" cy="404165"/>
          </a:xfrm>
          <a:prstGeom prst="rect">
            <a:avLst/>
          </a:prstGeom>
        </p:spPr>
      </p:pic>
      <p:sp>
        <p:nvSpPr>
          <p:cNvPr id="6" name="Frase de voz"/>
          <p:cNvSpPr txBox="1"/>
          <p:nvPr/>
        </p:nvSpPr>
        <p:spPr>
          <a:xfrm>
            <a:off x="868680" y="2468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“Mesa 3, dos Póker”</a:t>
            </a:r>
            <a:endParaRPr lang="en-US" sz="2600" dirty="0"/>
          </a:p>
        </p:txBody>
      </p:sp>
      <p:sp>
        <p:nvSpPr>
          <p:cNvPr id="7" name="Resultado de voz"/>
          <p:cNvSpPr txBox="1"/>
          <p:nvPr/>
        </p:nvSpPr>
        <p:spPr>
          <a:xfrm>
            <a:off x="86868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✓ 2 Póker anotadas en la Mesa 3</a:t>
            </a:r>
            <a:endParaRPr lang="en-US" sz="1600" dirty="0"/>
          </a:p>
        </p:txBody>
      </p:sp>
      <p:sp>
        <p:nvSpPr>
          <p:cNvPr id="8" name="Sub voz"/>
          <p:cNvSpPr txBox="1"/>
          <p:nvPr/>
        </p:nvSpPr>
        <p:spPr>
          <a:xfrm>
            <a:off x="8686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Sin escribir, sin soltar la bandeja.</a:t>
            </a:r>
            <a:endParaRPr lang="en-US" sz="1400" dirty="0"/>
          </a:p>
        </p:txBody>
      </p:sp>
      <p:sp>
        <p:nvSpPr>
          <p:cNvPr id="9" name="Comando 1"/>
          <p:cNvSpPr/>
          <p:nvPr/>
        </p:nvSpPr>
        <p:spPr>
          <a:xfrm>
            <a:off x="4709160" y="1188720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Comando 1 frase"/>
          <p:cNvSpPr txBox="1"/>
          <p:nvPr/>
        </p:nvSpPr>
        <p:spPr>
          <a:xfrm>
            <a:off x="4937760" y="1280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«Borra el pedido anterior»</a:t>
            </a:r>
            <a:endParaRPr lang="en-US" sz="1400" dirty="0"/>
          </a:p>
        </p:txBody>
      </p:sp>
      <p:sp>
        <p:nvSpPr>
          <p:cNvPr id="11" name="Comando 1 efecto"/>
          <p:cNvSpPr txBox="1"/>
          <p:nvPr/>
        </p:nvSpPr>
        <p:spPr>
          <a:xfrm>
            <a:off x="4937760" y="1581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Deshace al instante.</a:t>
            </a:r>
            <a:endParaRPr lang="en-US" sz="1200" dirty="0"/>
          </a:p>
        </p:txBody>
      </p:sp>
      <p:sp>
        <p:nvSpPr>
          <p:cNvPr id="12" name="Comando 2"/>
          <p:cNvSpPr/>
          <p:nvPr/>
        </p:nvSpPr>
        <p:spPr>
          <a:xfrm>
            <a:off x="4709160" y="2039112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Comando 2 frase"/>
          <p:cNvSpPr txBox="1"/>
          <p:nvPr/>
        </p:nvSpPr>
        <p:spPr>
          <a:xfrm>
            <a:off x="4937760" y="2130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«La mesa 3 abona 20 mil»</a:t>
            </a:r>
            <a:endParaRPr lang="en-US" sz="1400" dirty="0"/>
          </a:p>
        </p:txBody>
      </p:sp>
      <p:sp>
        <p:nvSpPr>
          <p:cNvPr id="14" name="Comando 2 efecto"/>
          <p:cNvSpPr txBox="1"/>
          <p:nvPr/>
        </p:nvSpPr>
        <p:spPr>
          <a:xfrm>
            <a:off x="4937760" y="2432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Registra el abono y dice cuánto queda.</a:t>
            </a:r>
            <a:endParaRPr lang="en-US" sz="1200" dirty="0"/>
          </a:p>
        </p:txBody>
      </p:sp>
      <p:sp>
        <p:nvSpPr>
          <p:cNvPr id="15" name="Comando 3"/>
          <p:cNvSpPr/>
          <p:nvPr/>
        </p:nvSpPr>
        <p:spPr>
          <a:xfrm>
            <a:off x="4709160" y="2889504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Comando 3 frase"/>
          <p:cNvSpPr txBox="1"/>
          <p:nvPr/>
        </p:nvSpPr>
        <p:spPr>
          <a:xfrm>
            <a:off x="493776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«¿Cuántas Póker quedan?»</a:t>
            </a:r>
            <a:endParaRPr lang="en-US" sz="1400" dirty="0"/>
          </a:p>
        </p:txBody>
      </p:sp>
      <p:sp>
        <p:nvSpPr>
          <p:cNvPr id="17" name="Comando 3 efecto"/>
          <p:cNvSpPr txBox="1"/>
          <p:nvPr/>
        </p:nvSpPr>
        <p:spPr>
          <a:xfrm>
            <a:off x="4937760" y="3282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Responde con el inventario real.</a:t>
            </a:r>
            <a:endParaRPr lang="en-US" sz="1200" dirty="0"/>
          </a:p>
        </p:txBody>
      </p:sp>
      <p:sp>
        <p:nvSpPr>
          <p:cNvPr id="18" name="Comando 4"/>
          <p:cNvSpPr/>
          <p:nvPr/>
        </p:nvSpPr>
        <p:spPr>
          <a:xfrm>
            <a:off x="4709160" y="3739896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Comando 4 frase"/>
          <p:cNvSpPr txBox="1"/>
          <p:nvPr/>
        </p:nvSpPr>
        <p:spPr>
          <a:xfrm>
            <a:off x="4937760" y="3831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«Cobra la mesa 3» · «Siguiente canción»</a:t>
            </a:r>
            <a:endParaRPr lang="en-US" sz="1400" dirty="0"/>
          </a:p>
        </p:txBody>
      </p:sp>
      <p:sp>
        <p:nvSpPr>
          <p:cNvPr id="20" name="Comando 4 efecto"/>
          <p:cNvSpPr txBox="1"/>
          <p:nvPr/>
        </p:nvSpPr>
        <p:spPr>
          <a:xfrm>
            <a:off x="49377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Cobra, abre mesas y maneja la música.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Laya: la inteligencia artificial del negocio</a:t>
            </a:r>
            <a:endParaRPr lang="en-US" sz="3000" dirty="0"/>
          </a:p>
        </p:txBody>
      </p:sp>
      <p:sp>
        <p:nvSpPr>
          <p:cNvPr id="3" name="Chat con Laya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hat con Lay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Dato facturas"/>
          <p:cNvSpPr/>
          <p:nvPr/>
        </p:nvSpPr>
        <p:spPr>
          <a:xfrm>
            <a:off x="54864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Dato tiempo"/>
          <p:cNvSpPr txBox="1"/>
          <p:nvPr/>
        </p:nvSpPr>
        <p:spPr>
          <a:xfrm>
            <a:off x="77724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s</a:t>
            </a:r>
            <a:endParaRPr lang="en-US" sz="4400" dirty="0"/>
          </a:p>
        </p:txBody>
      </p:sp>
      <p:sp>
        <p:nvSpPr>
          <p:cNvPr id="7" name="Dato tiempo texto"/>
          <p:cNvSpPr txBox="1"/>
          <p:nvPr/>
        </p:nvSpPr>
        <p:spPr>
          <a:xfrm>
            <a:off x="77724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para leer una factura de proveedor sin internet (prueba interna)</a:t>
            </a:r>
            <a:endParaRPr lang="en-US" sz="1200" dirty="0"/>
          </a:p>
        </p:txBody>
      </p:sp>
      <p:sp>
        <p:nvSpPr>
          <p:cNvPr id="8" name="Dato carrera"/>
          <p:cNvSpPr/>
          <p:nvPr/>
        </p:nvSpPr>
        <p:spPr>
          <a:xfrm>
            <a:off x="342900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ato carrera título"/>
          <p:cNvSpPr txBox="1"/>
          <p:nvPr/>
        </p:nvSpPr>
        <p:spPr>
          <a:xfrm>
            <a:off x="3657600" y="1325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 ⚡ Gemini</a:t>
            </a:r>
            <a:endParaRPr lang="en-US" sz="2200" dirty="0"/>
          </a:p>
        </p:txBody>
      </p:sp>
      <p:sp>
        <p:nvSpPr>
          <p:cNvPr id="10" name="Dato carrera texto"/>
          <p:cNvSpPr txBox="1"/>
          <p:nvPr/>
        </p:nvSpPr>
        <p:spPr>
          <a:xfrm>
            <a:off x="365760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las dos leen a la vez y gana la que termine primero</a:t>
            </a:r>
            <a:endParaRPr lang="en-US" sz="1200" dirty="0"/>
          </a:p>
        </p:txBody>
      </p:sp>
      <p:sp>
        <p:nvSpPr>
          <p:cNvPr id="11" name="Beneficios Laya"/>
          <p:cNvSpPr txBox="1"/>
          <p:nvPr/>
        </p:nvSpPr>
        <p:spPr>
          <a:xfrm>
            <a:off x="548640" y="29718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facturas y suma el inventario con IVA y costo por unidad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Responde «¿cuánto vendí hoy?» con los datos reales del negocio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Avisa agotados, precios que subieron y pedidos demorados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Ya viene configurada: el negocio no pone ninguna clave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cliente pide desde su mesa</a:t>
            </a:r>
            <a:endParaRPr lang="en-US" sz="3000" dirty="0"/>
          </a:p>
        </p:txBody>
      </p:sp>
      <p:sp>
        <p:nvSpPr>
          <p:cNvPr id="3" name="Columna Pedidos por QR"/>
          <p:cNvSpPr/>
          <p:nvPr/>
        </p:nvSpPr>
        <p:spPr>
          <a:xfrm>
            <a:off x="5486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edidos por QR círculo"/>
          <p:cNvSpPr/>
          <p:nvPr/>
        </p:nvSpPr>
        <p:spPr>
          <a:xfrm>
            <a:off x="8229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edidos por QR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638605"/>
            <a:ext cx="380390" cy="380390"/>
          </a:xfrm>
          <a:prstGeom prst="rect">
            <a:avLst/>
          </a:prstGeom>
        </p:spPr>
      </p:pic>
      <p:sp>
        <p:nvSpPr>
          <p:cNvPr id="6" name="Pedidos por QR título"/>
          <p:cNvSpPr txBox="1"/>
          <p:nvPr/>
        </p:nvSpPr>
        <p:spPr>
          <a:xfrm>
            <a:off x="17373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2000" dirty="0"/>
          </a:p>
        </p:txBody>
      </p:sp>
      <p:sp>
        <p:nvSpPr>
          <p:cNvPr id="7" name="Pedidos por QR puntos"/>
          <p:cNvSpPr txBox="1"/>
          <p:nvPr/>
        </p:nvSpPr>
        <p:spPr>
          <a:xfrm>
            <a:off x="8229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el QR de su mesa y pide desde el celular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pedido llega a Vento y a la pantalla de cocina o barra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 suma solo a la cuenta de la mesa</a:t>
            </a:r>
            <a:endParaRPr lang="en-US" sz="1400" dirty="0"/>
          </a:p>
        </p:txBody>
      </p:sp>
      <p:sp>
        <p:nvSpPr>
          <p:cNvPr id="8" name="Columna Música en el TV"/>
          <p:cNvSpPr/>
          <p:nvPr/>
        </p:nvSpPr>
        <p:spPr>
          <a:xfrm>
            <a:off x="46634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Música en el TV círculo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úsica en el TV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25" y="1638605"/>
            <a:ext cx="380390" cy="380390"/>
          </a:xfrm>
          <a:prstGeom prst="rect">
            <a:avLst/>
          </a:prstGeom>
        </p:spPr>
      </p:pic>
      <p:sp>
        <p:nvSpPr>
          <p:cNvPr id="11" name="Música en el TV título"/>
          <p:cNvSpPr txBox="1"/>
          <p:nvPr/>
        </p:nvSpPr>
        <p:spPr>
          <a:xfrm>
            <a:off x="58521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2000" dirty="0"/>
          </a:p>
        </p:txBody>
      </p:sp>
      <p:sp>
        <p:nvSpPr>
          <p:cNvPr id="12" name="Música en el TV puntos"/>
          <p:cNvSpPr txBox="1"/>
          <p:nvPr/>
        </p:nvSpPr>
        <p:spPr>
          <a:xfrm>
            <a:off x="49377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cliente pide la canción con el mismo QR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Suena sola en el YouTube del TV, una tras otra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Cola justa entre mesas; se une aunque otro celular ya esté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Funciona donde está tu negocio</a:t>
            </a:r>
            <a:endParaRPr lang="en-US" sz="3000" dirty="0"/>
          </a:p>
        </p:txBody>
      </p:sp>
      <p:sp>
        <p:nvSpPr>
          <p:cNvPr id="3" name="Con o sin internet círculo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Con o sin internet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342339"/>
            <a:ext cx="332842" cy="332842"/>
          </a:xfrm>
          <a:prstGeom prst="rect">
            <a:avLst/>
          </a:prstGeom>
        </p:spPr>
      </p:pic>
      <p:sp>
        <p:nvSpPr>
          <p:cNvPr id="5" name="Con o sin internet título"/>
          <p:cNvSpPr txBox="1"/>
          <p:nvPr/>
        </p:nvSpPr>
        <p:spPr>
          <a:xfrm>
            <a:off x="137160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 sin internet</a:t>
            </a:r>
            <a:endParaRPr lang="en-US" sz="1600" dirty="0"/>
          </a:p>
        </p:txBody>
      </p:sp>
      <p:sp>
        <p:nvSpPr>
          <p:cNvPr id="6" name="Con o sin internet texto"/>
          <p:cNvSpPr txBox="1"/>
          <p:nvPr/>
        </p:nvSpPr>
        <p:spPr>
          <a:xfrm>
            <a:off x="137160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300" dirty="0"/>
          </a:p>
        </p:txBody>
      </p:sp>
      <p:sp>
        <p:nvSpPr>
          <p:cNvPr id="7" name="App para Android círculo"/>
          <p:cNvSpPr/>
          <p:nvPr/>
        </p:nvSpPr>
        <p:spPr>
          <a:xfrm>
            <a:off x="461772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8" name="App para Android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339" y="1342339"/>
            <a:ext cx="332842" cy="332842"/>
          </a:xfrm>
          <a:prstGeom prst="rect">
            <a:avLst/>
          </a:prstGeom>
        </p:spPr>
      </p:pic>
      <p:sp>
        <p:nvSpPr>
          <p:cNvPr id="9" name="App para Android título"/>
          <p:cNvSpPr txBox="1"/>
          <p:nvPr/>
        </p:nvSpPr>
        <p:spPr>
          <a:xfrm>
            <a:off x="544068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Android</a:t>
            </a:r>
            <a:endParaRPr lang="en-US" sz="1600" dirty="0"/>
          </a:p>
        </p:txBody>
      </p:sp>
      <p:sp>
        <p:nvSpPr>
          <p:cNvPr id="10" name="App para Android texto"/>
          <p:cNvSpPr txBox="1"/>
          <p:nvPr/>
        </p:nvSpPr>
        <p:spPr>
          <a:xfrm>
            <a:off x="544068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También abre en cualquier navegador.</a:t>
            </a:r>
            <a:endParaRPr lang="en-US" sz="1300" dirty="0"/>
          </a:p>
        </p:txBody>
      </p:sp>
      <p:sp>
        <p:nvSpPr>
          <p:cNvPr id="11" name="Varios celulares círculo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Varios celulare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3" name="Varios celulares título"/>
          <p:cNvSpPr txBox="1"/>
          <p:nvPr/>
        </p:nvSpPr>
        <p:spPr>
          <a:xfrm>
            <a:off x="137160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celulares</a:t>
            </a:r>
            <a:endParaRPr lang="en-US" sz="1600" dirty="0"/>
          </a:p>
        </p:txBody>
      </p:sp>
      <p:sp>
        <p:nvSpPr>
          <p:cNvPr id="14" name="Varios celulares texto"/>
          <p:cNvSpPr txBox="1"/>
          <p:nvPr/>
        </p:nvSpPr>
        <p:spPr>
          <a:xfrm>
            <a:off x="137160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Dueño, cajero y meseros con su propio usuario.</a:t>
            </a:r>
            <a:endParaRPr lang="en-US" sz="1300" dirty="0"/>
          </a:p>
        </p:txBody>
      </p:sp>
      <p:sp>
        <p:nvSpPr>
          <p:cNvPr id="15" name="Entra con Google círculo"/>
          <p:cNvSpPr/>
          <p:nvPr/>
        </p:nvSpPr>
        <p:spPr>
          <a:xfrm>
            <a:off x="461772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Entra con Googl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2485339"/>
            <a:ext cx="332842" cy="332842"/>
          </a:xfrm>
          <a:prstGeom prst="rect">
            <a:avLst/>
          </a:prstGeom>
        </p:spPr>
      </p:pic>
      <p:sp>
        <p:nvSpPr>
          <p:cNvPr id="17" name="Entra con Google título"/>
          <p:cNvSpPr txBox="1"/>
          <p:nvPr/>
        </p:nvSpPr>
        <p:spPr>
          <a:xfrm>
            <a:off x="544068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con Google</a:t>
            </a:r>
            <a:endParaRPr lang="en-US" sz="1600" dirty="0"/>
          </a:p>
        </p:txBody>
      </p:sp>
      <p:sp>
        <p:nvSpPr>
          <p:cNvPr id="18" name="Entra con Google texto"/>
          <p:cNvSpPr txBox="1"/>
          <p:nvPr/>
        </p:nvSpPr>
        <p:spPr>
          <a:xfrm>
            <a:off x="544068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O con correo y contraseña. Respaldos en la nube.</a:t>
            </a:r>
            <a:endParaRPr lang="en-US" sz="1300" dirty="0"/>
          </a:p>
        </p:txBody>
      </p:sp>
      <p:sp>
        <p:nvSpPr>
          <p:cNvPr id="19" name="Cualquier negocio círculo"/>
          <p:cNvSpPr/>
          <p:nvPr/>
        </p:nvSpPr>
        <p:spPr>
          <a:xfrm>
            <a:off x="54864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Cualquier negocio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3628339"/>
            <a:ext cx="332842" cy="332842"/>
          </a:xfrm>
          <a:prstGeom prst="rect">
            <a:avLst/>
          </a:prstGeom>
        </p:spPr>
      </p:pic>
      <p:sp>
        <p:nvSpPr>
          <p:cNvPr id="21" name="Cualquier negocio título"/>
          <p:cNvSpPr txBox="1"/>
          <p:nvPr/>
        </p:nvSpPr>
        <p:spPr>
          <a:xfrm>
            <a:off x="137160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negocio</a:t>
            </a:r>
            <a:endParaRPr lang="en-US" sz="1600" dirty="0"/>
          </a:p>
        </p:txBody>
      </p:sp>
      <p:sp>
        <p:nvSpPr>
          <p:cNvPr id="22" name="Cualquier negocio texto"/>
          <p:cNvSpPr txBox="1"/>
          <p:nvPr/>
        </p:nvSpPr>
        <p:spPr>
          <a:xfrm>
            <a:off x="137160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Bar, restaurante, cafetería, tienda y más.</a:t>
            </a:r>
            <a:endParaRPr lang="en-US" sz="1300" dirty="0"/>
          </a:p>
        </p:txBody>
      </p:sp>
      <p:sp>
        <p:nvSpPr>
          <p:cNvPr id="23" name="Datos protegidos círculo"/>
          <p:cNvSpPr/>
          <p:nvPr/>
        </p:nvSpPr>
        <p:spPr>
          <a:xfrm>
            <a:off x="461772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Datos protegido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628339"/>
            <a:ext cx="332842" cy="332842"/>
          </a:xfrm>
          <a:prstGeom prst="rect">
            <a:avLst/>
          </a:prstGeom>
        </p:spPr>
      </p:pic>
      <p:sp>
        <p:nvSpPr>
          <p:cNvPr id="25" name="Datos protegidos título"/>
          <p:cNvSpPr txBox="1"/>
          <p:nvPr/>
        </p:nvSpPr>
        <p:spPr>
          <a:xfrm>
            <a:off x="544068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protegidos</a:t>
            </a:r>
            <a:endParaRPr lang="en-US" sz="1600" dirty="0"/>
          </a:p>
        </p:txBody>
      </p:sp>
      <p:sp>
        <p:nvSpPr>
          <p:cNvPr id="26" name="Datos protegidos texto"/>
          <p:cNvSpPr txBox="1"/>
          <p:nvPr/>
        </p:nvSpPr>
        <p:spPr>
          <a:xfrm>
            <a:off x="544068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Cada negocio ve solo lo suyo.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Tu contador de bolsillo</a:t>
            </a:r>
            <a:endParaRPr lang="en-US" sz="3000" dirty="0"/>
          </a:p>
        </p:txBody>
      </p:sp>
      <p:sp>
        <p:nvSpPr>
          <p:cNvPr id="3" name="Pantalla de contabilidad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contabilid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Entradas y gastos círculo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Entradas y gast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320394"/>
            <a:ext cx="285293" cy="285293"/>
          </a:xfrm>
          <a:prstGeom prst="rect">
            <a:avLst/>
          </a:prstGeom>
        </p:spPr>
      </p:pic>
      <p:sp>
        <p:nvSpPr>
          <p:cNvPr id="7" name="Conta título 1"/>
          <p:cNvSpPr txBox="1"/>
          <p:nvPr/>
        </p:nvSpPr>
        <p:spPr>
          <a:xfrm>
            <a:off x="12344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y gastos</a:t>
            </a:r>
            <a:endParaRPr lang="en-US" sz="1400" dirty="0"/>
          </a:p>
        </p:txBody>
      </p:sp>
      <p:sp>
        <p:nvSpPr>
          <p:cNvPr id="8" name="Conta texto 1"/>
          <p:cNvSpPr txBox="1"/>
          <p:nvPr/>
        </p:nvSpPr>
        <p:spPr>
          <a:xfrm>
            <a:off x="12344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medio de pago: efectivo, transferencia, Nequi, tarjeta.</a:t>
            </a:r>
            <a:endParaRPr lang="en-US" sz="1200" dirty="0"/>
          </a:p>
        </p:txBody>
      </p:sp>
      <p:sp>
        <p:nvSpPr>
          <p:cNvPr id="9" name="Gastos con su recibo círculo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Gastos con su recib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114" y="1320394"/>
            <a:ext cx="285293" cy="285293"/>
          </a:xfrm>
          <a:prstGeom prst="rect">
            <a:avLst/>
          </a:prstGeom>
        </p:spPr>
      </p:pic>
      <p:sp>
        <p:nvSpPr>
          <p:cNvPr id="11" name="Conta título 2"/>
          <p:cNvSpPr txBox="1"/>
          <p:nvPr/>
        </p:nvSpPr>
        <p:spPr>
          <a:xfrm>
            <a:off x="42062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Gastos con su recibo</a:t>
            </a:r>
            <a:endParaRPr lang="en-US" sz="1400" dirty="0"/>
          </a:p>
        </p:txBody>
      </p:sp>
      <p:sp>
        <p:nvSpPr>
          <p:cNvPr id="12" name="Conta texto 2"/>
          <p:cNvSpPr txBox="1"/>
          <p:nvPr/>
        </p:nvSpPr>
        <p:spPr>
          <a:xfrm>
            <a:off x="42062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categoría según tu negocio, con la foto del recibo.</a:t>
            </a:r>
            <a:endParaRPr lang="en-US" sz="1200" dirty="0"/>
          </a:p>
        </p:txBody>
      </p:sp>
      <p:sp>
        <p:nvSpPr>
          <p:cNvPr id="13" name="Ganancia real círculo"/>
          <p:cNvSpPr/>
          <p:nvPr/>
        </p:nvSpPr>
        <p:spPr>
          <a:xfrm>
            <a:off x="5486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Ganancia real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2481682"/>
            <a:ext cx="285293" cy="285293"/>
          </a:xfrm>
          <a:prstGeom prst="rect">
            <a:avLst/>
          </a:prstGeom>
        </p:spPr>
      </p:pic>
      <p:sp>
        <p:nvSpPr>
          <p:cNvPr id="15" name="Conta título 3"/>
          <p:cNvSpPr txBox="1"/>
          <p:nvPr/>
        </p:nvSpPr>
        <p:spPr>
          <a:xfrm>
            <a:off x="12344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 real</a:t>
            </a:r>
            <a:endParaRPr lang="en-US" sz="1400" dirty="0"/>
          </a:p>
        </p:txBody>
      </p:sp>
      <p:sp>
        <p:nvSpPr>
          <p:cNvPr id="16" name="Conta texto 3"/>
          <p:cNvSpPr txBox="1"/>
          <p:nvPr/>
        </p:nvSpPr>
        <p:spPr>
          <a:xfrm>
            <a:off x="12344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«Te quedó»: lo vendido menos el costo de cada producto.</a:t>
            </a:r>
            <a:endParaRPr lang="en-US" sz="1200" dirty="0"/>
          </a:p>
        </p:txBody>
      </p:sp>
      <p:sp>
        <p:nvSpPr>
          <p:cNvPr id="17" name="IVA y costo por unidad círculo"/>
          <p:cNvSpPr/>
          <p:nvPr/>
        </p:nvSpPr>
        <p:spPr>
          <a:xfrm>
            <a:off x="35204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VA y costo por unidad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2114" y="2481682"/>
            <a:ext cx="285293" cy="285293"/>
          </a:xfrm>
          <a:prstGeom prst="rect">
            <a:avLst/>
          </a:prstGeom>
        </p:spPr>
      </p:pic>
      <p:sp>
        <p:nvSpPr>
          <p:cNvPr id="19" name="Conta título 4"/>
          <p:cNvSpPr txBox="1"/>
          <p:nvPr/>
        </p:nvSpPr>
        <p:spPr>
          <a:xfrm>
            <a:off x="42062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y costo por unidad</a:t>
            </a:r>
            <a:endParaRPr lang="en-US" sz="1400" dirty="0"/>
          </a:p>
        </p:txBody>
      </p:sp>
      <p:sp>
        <p:nvSpPr>
          <p:cNvPr id="20" name="Conta texto 4"/>
          <p:cNvSpPr txBox="1"/>
          <p:nvPr/>
        </p:nvSpPr>
        <p:spPr>
          <a:xfrm>
            <a:off x="42062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Laya calcula el IVA pagado en cada factura de compra.</a:t>
            </a:r>
            <a:endParaRPr lang="en-US" sz="1200" dirty="0"/>
          </a:p>
        </p:txBody>
      </p:sp>
      <p:sp>
        <p:nvSpPr>
          <p:cNvPr id="21" name="Cierre de caja automático círculo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Cierre de caja automático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23" name="Conta título 5"/>
          <p:cNvSpPr txBox="1"/>
          <p:nvPr/>
        </p:nvSpPr>
        <p:spPr>
          <a:xfrm>
            <a:off x="12344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 caja automático</a:t>
            </a:r>
            <a:endParaRPr lang="en-US" sz="1400" dirty="0"/>
          </a:p>
        </p:txBody>
      </p:sp>
      <p:sp>
        <p:nvSpPr>
          <p:cNvPr id="24" name="Conta texto 5"/>
          <p:cNvSpPr txBox="1"/>
          <p:nvPr/>
        </p:nvSpPr>
        <p:spPr>
          <a:xfrm>
            <a:off x="12344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 la hora que elijas, con resumen del día por horas.</a:t>
            </a:r>
            <a:endParaRPr lang="en-US" sz="1200" dirty="0"/>
          </a:p>
        </p:txBody>
      </p:sp>
      <p:sp>
        <p:nvSpPr>
          <p:cNvPr id="25" name="Listo para tu contador círculo"/>
          <p:cNvSpPr/>
          <p:nvPr/>
        </p:nvSpPr>
        <p:spPr>
          <a:xfrm>
            <a:off x="35204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Listo para tu contador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2114" y="3642970"/>
            <a:ext cx="285293" cy="285293"/>
          </a:xfrm>
          <a:prstGeom prst="rect">
            <a:avLst/>
          </a:prstGeom>
        </p:spPr>
      </p:pic>
      <p:sp>
        <p:nvSpPr>
          <p:cNvPr id="27" name="Conta título 6"/>
          <p:cNvSpPr txBox="1"/>
          <p:nvPr/>
        </p:nvSpPr>
        <p:spPr>
          <a:xfrm>
            <a:off x="42062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tu contador</a:t>
            </a:r>
            <a:endParaRPr lang="en-US" sz="1400" dirty="0"/>
          </a:p>
        </p:txBody>
      </p:sp>
      <p:sp>
        <p:nvSpPr>
          <p:cNvPr id="28" name="Conta texto 6"/>
          <p:cNvSpPr txBox="1"/>
          <p:nvPr/>
        </p:nvSpPr>
        <p:spPr>
          <a:xfrm>
            <a:off x="42062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Movimientos y ventas en Excel con un toque.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libreta de fiados, ahora por voz</a:t>
            </a:r>
            <a:endParaRPr lang="en-US" sz="3000" dirty="0"/>
          </a:p>
        </p:txBody>
      </p:sp>
      <p:sp>
        <p:nvSpPr>
          <p:cNvPr id="3" name="Libreta 1"/>
          <p:cNvSpPr/>
          <p:nvPr/>
        </p:nvSpPr>
        <p:spPr>
          <a:xfrm>
            <a:off x="54864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Libreta frase 1"/>
          <p:cNvSpPr txBox="1"/>
          <p:nvPr/>
        </p:nvSpPr>
        <p:spPr>
          <a:xfrm>
            <a:off x="77724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me debe 20 mil»</a:t>
            </a:r>
            <a:endParaRPr lang="en-US" sz="1500" dirty="0"/>
          </a:p>
        </p:txBody>
      </p:sp>
      <p:sp>
        <p:nvSpPr>
          <p:cNvPr id="5" name="Libreta efecto 1"/>
          <p:cNvSpPr txBox="1"/>
          <p:nvPr/>
        </p:nvSpPr>
        <p:spPr>
          <a:xfrm>
            <a:off x="77724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Queda anotado en la libreta, con fecha.</a:t>
            </a:r>
            <a:endParaRPr lang="en-US" sz="1300" dirty="0"/>
          </a:p>
        </p:txBody>
      </p:sp>
      <p:sp>
        <p:nvSpPr>
          <p:cNvPr id="6" name="Libreta 2"/>
          <p:cNvSpPr/>
          <p:nvPr/>
        </p:nvSpPr>
        <p:spPr>
          <a:xfrm>
            <a:off x="461772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7" name="Libreta frase 2"/>
          <p:cNvSpPr txBox="1"/>
          <p:nvPr/>
        </p:nvSpPr>
        <p:spPr>
          <a:xfrm>
            <a:off x="484632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pagó 10 mil»</a:t>
            </a:r>
            <a:endParaRPr lang="en-US" sz="1500" dirty="0"/>
          </a:p>
        </p:txBody>
      </p:sp>
      <p:sp>
        <p:nvSpPr>
          <p:cNvPr id="8" name="Libreta efecto 2"/>
          <p:cNvSpPr txBox="1"/>
          <p:nvPr/>
        </p:nvSpPr>
        <p:spPr>
          <a:xfrm>
            <a:off x="484632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Descuenta el abono y dice cuánto le falta.</a:t>
            </a:r>
            <a:endParaRPr lang="en-US" sz="1300" dirty="0"/>
          </a:p>
        </p:txBody>
      </p:sp>
      <p:sp>
        <p:nvSpPr>
          <p:cNvPr id="9" name="Libreta 3"/>
          <p:cNvSpPr/>
          <p:nvPr/>
        </p:nvSpPr>
        <p:spPr>
          <a:xfrm>
            <a:off x="54864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Libreta frase 3"/>
          <p:cNvSpPr txBox="1"/>
          <p:nvPr/>
        </p:nvSpPr>
        <p:spPr>
          <a:xfrm>
            <a:off x="77724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«¿Quién me debe?»</a:t>
            </a:r>
            <a:endParaRPr lang="en-US" sz="1500" dirty="0"/>
          </a:p>
        </p:txBody>
      </p:sp>
      <p:sp>
        <p:nvSpPr>
          <p:cNvPr id="11" name="Libreta efecto 3"/>
          <p:cNvSpPr txBox="1"/>
          <p:nvPr/>
        </p:nvSpPr>
        <p:spPr>
          <a:xfrm>
            <a:off x="7772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Lista de deudores y el total por cobrar.</a:t>
            </a:r>
            <a:endParaRPr lang="en-US" sz="1300" dirty="0"/>
          </a:p>
        </p:txBody>
      </p:sp>
      <p:sp>
        <p:nvSpPr>
          <p:cNvPr id="12" name="Libreta 4"/>
          <p:cNvSpPr/>
          <p:nvPr/>
        </p:nvSpPr>
        <p:spPr>
          <a:xfrm>
            <a:off x="461772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Libreta frase 4"/>
          <p:cNvSpPr txBox="1"/>
          <p:nvPr/>
        </p:nvSpPr>
        <p:spPr>
          <a:xfrm>
            <a:off x="484632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«Le pagué a Pedro 50 mil»</a:t>
            </a:r>
            <a:endParaRPr lang="en-US" sz="1500" dirty="0"/>
          </a:p>
        </p:txBody>
      </p:sp>
      <p:sp>
        <p:nvSpPr>
          <p:cNvPr id="14" name="Libreta efecto 4"/>
          <p:cNvSpPr txBox="1"/>
          <p:nvPr/>
        </p:nvSpPr>
        <p:spPr>
          <a:xfrm>
            <a:off x="484632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Pagos a empleados, sumados por mes.</a:t>
            </a:r>
            <a:endParaRPr lang="en-US" sz="1300" dirty="0"/>
          </a:p>
        </p:txBody>
      </p:sp>
      <p:sp>
        <p:nvSpPr>
          <p:cNvPr id="15" name="Libreta 5"/>
          <p:cNvSpPr/>
          <p:nvPr/>
        </p:nvSpPr>
        <p:spPr>
          <a:xfrm>
            <a:off x="54864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Libreta frase 5"/>
          <p:cNvSpPr txBox="1"/>
          <p:nvPr/>
        </p:nvSpPr>
        <p:spPr>
          <a:xfrm>
            <a:off x="77724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«Súmame 13.400»</a:t>
            </a:r>
            <a:endParaRPr lang="en-US" sz="1500" dirty="0"/>
          </a:p>
        </p:txBody>
      </p:sp>
      <p:sp>
        <p:nvSpPr>
          <p:cNvPr id="17" name="Libreta efecto 5"/>
          <p:cNvSpPr txBox="1"/>
          <p:nvPr/>
        </p:nvSpPr>
        <p:spPr>
          <a:xfrm>
            <a:off x="77724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Calculadora de cuenta corrida: «¿cuánto llevo?»</a:t>
            </a:r>
            <a:endParaRPr lang="en-US" sz="1300" dirty="0"/>
          </a:p>
        </p:txBody>
      </p:sp>
      <p:sp>
        <p:nvSpPr>
          <p:cNvPr id="18" name="Libreta 6"/>
          <p:cNvSpPr/>
          <p:nvPr/>
        </p:nvSpPr>
        <p:spPr>
          <a:xfrm>
            <a:off x="461772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Libreta frase 6"/>
          <p:cNvSpPr txBox="1"/>
          <p:nvPr/>
        </p:nvSpPr>
        <p:spPr>
          <a:xfrm>
            <a:off x="484632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Mesa que queda debiendo</a:t>
            </a:r>
            <a:endParaRPr lang="en-US" sz="1500" dirty="0"/>
          </a:p>
        </p:txBody>
      </p:sp>
      <p:sp>
        <p:nvSpPr>
          <p:cNvPr id="20" name="Libreta efecto 6"/>
          <p:cNvSpPr txBox="1"/>
          <p:nvPr/>
        </p:nvSpPr>
        <p:spPr>
          <a:xfrm>
            <a:off x="484632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Pasa sola a la libreta con el nombre de quien debe.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Inventario que casi se maneja solo</a:t>
            </a:r>
            <a:endParaRPr lang="en-US" sz="3000" dirty="0"/>
          </a:p>
        </p:txBody>
      </p:sp>
      <p:sp>
        <p:nvSpPr>
          <p:cNvPr id="3" name="Pantalla de productos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oduc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Factura del proveedor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Factura del provee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Inv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del proveedor</a:t>
            </a:r>
            <a:endParaRPr lang="en-US" sz="1400" dirty="0"/>
          </a:p>
        </p:txBody>
      </p:sp>
      <p:sp>
        <p:nvSpPr>
          <p:cNvPr id="8" name="Inv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o PDF: anota cantidades, IVA y costo real.</a:t>
            </a:r>
            <a:endParaRPr lang="en-US" sz="1200" dirty="0"/>
          </a:p>
        </p:txBody>
      </p:sp>
      <p:sp>
        <p:nvSpPr>
          <p:cNvPr id="9" name="Margen con foto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argen con fot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Inv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con foto</a:t>
            </a:r>
            <a:endParaRPr lang="en-US" sz="1400" dirty="0"/>
          </a:p>
        </p:txBody>
      </p:sp>
      <p:sp>
        <p:nvSpPr>
          <p:cNvPr id="12" name="Inv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de la etiqueta: dice el costo y a cuánto venderlo.</a:t>
            </a:r>
            <a:endParaRPr lang="en-US" sz="1200" dirty="0"/>
          </a:p>
        </p:txBody>
      </p:sp>
      <p:sp>
        <p:nvSpPr>
          <p:cNvPr id="13" name="Código de barras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ódigo de barra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Inv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barras</a:t>
            </a:r>
            <a:endParaRPr lang="en-US" sz="1400" dirty="0"/>
          </a:p>
        </p:txBody>
      </p:sp>
      <p:sp>
        <p:nvSpPr>
          <p:cNvPr id="16" name="Inv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Vende escaneando, como en un supermercado.</a:t>
            </a:r>
            <a:endParaRPr lang="en-US" sz="1200" dirty="0"/>
          </a:p>
        </p:txBody>
      </p:sp>
      <p:sp>
        <p:nvSpPr>
          <p:cNvPr id="17" name="Unir repetido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Unir repetido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Inv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Unir repetidos</a:t>
            </a:r>
            <a:endParaRPr lang="en-US" sz="1400" dirty="0"/>
          </a:p>
        </p:txBody>
      </p:sp>
      <p:sp>
        <p:nvSpPr>
          <p:cNvPr id="20" name="Inv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Encuentra productos duplicados y los junta.</a:t>
            </a:r>
            <a:endParaRPr lang="en-US" sz="1200" dirty="0"/>
          </a:p>
        </p:txBody>
      </p:sp>
      <p:sp>
        <p:nvSpPr>
          <p:cNvPr id="21" name="Avisos y predicción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y predicción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Inv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predicción</a:t>
            </a:r>
            <a:endParaRPr lang="en-US" sz="1400" dirty="0"/>
          </a:p>
        </p:txBody>
      </p:sp>
      <p:sp>
        <p:nvSpPr>
          <p:cNvPr id="24" name="Inv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«¿Cuánto me dura?»: estima según lo vendido.</a:t>
            </a:r>
            <a:endParaRPr lang="en-US" sz="1200" dirty="0"/>
          </a:p>
        </p:txBody>
      </p:sp>
      <p:sp>
        <p:nvSpPr>
          <p:cNvPr id="25" name="Movimientos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Movimientos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Inv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8" name="Inv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Historial de cada entrada y salida, con su fecha.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equipo, sincronizado</a:t>
            </a:r>
            <a:endParaRPr lang="en-US" sz="3000" dirty="0"/>
          </a:p>
        </p:txBody>
      </p:sp>
      <p:sp>
        <p:nvSpPr>
          <p:cNvPr id="3" name="Pantalla de preparación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eparació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App de meseros círculo"/>
          <p:cNvSpPr/>
          <p:nvPr/>
        </p:nvSpPr>
        <p:spPr>
          <a:xfrm>
            <a:off x="548640" y="1143000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App de meser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" y="1270284"/>
            <a:ext cx="275783" cy="275783"/>
          </a:xfrm>
          <a:prstGeom prst="rect">
            <a:avLst/>
          </a:prstGeom>
        </p:spPr>
      </p:pic>
      <p:sp>
        <p:nvSpPr>
          <p:cNvPr id="7" name="Equipo título 1"/>
          <p:cNvSpPr txBox="1"/>
          <p:nvPr/>
        </p:nvSpPr>
        <p:spPr>
          <a:xfrm>
            <a:off x="1234440" y="1124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de meseros</a:t>
            </a:r>
            <a:endParaRPr lang="en-US" sz="1500" dirty="0"/>
          </a:p>
        </p:txBody>
      </p:sp>
      <p:sp>
        <p:nvSpPr>
          <p:cNvPr id="8" name="Equipo texto 1"/>
          <p:cNvSpPr txBox="1"/>
          <p:nvPr/>
        </p:nvSpPr>
        <p:spPr>
          <a:xfrm>
            <a:off x="123444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Cada mesero pide desde su celular, tocando o por voz; llega directo a la caja.</a:t>
            </a:r>
            <a:endParaRPr lang="en-US" sz="1200" dirty="0"/>
          </a:p>
        </p:txBody>
      </p:sp>
      <p:sp>
        <p:nvSpPr>
          <p:cNvPr id="9" name="Pantalla de cocina o barra círculo"/>
          <p:cNvSpPr/>
          <p:nvPr/>
        </p:nvSpPr>
        <p:spPr>
          <a:xfrm>
            <a:off x="548640" y="18562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antalla de cocina o barr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24" y="1983516"/>
            <a:ext cx="275783" cy="275783"/>
          </a:xfrm>
          <a:prstGeom prst="rect">
            <a:avLst/>
          </a:prstGeom>
        </p:spPr>
      </p:pic>
      <p:sp>
        <p:nvSpPr>
          <p:cNvPr id="11" name="Equipo título 2"/>
          <p:cNvSpPr txBox="1"/>
          <p:nvPr/>
        </p:nvSpPr>
        <p:spPr>
          <a:xfrm>
            <a:off x="1234440" y="1837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cocina o barra</a:t>
            </a:r>
            <a:endParaRPr lang="en-US" sz="1500" dirty="0"/>
          </a:p>
        </p:txBody>
      </p:sp>
      <p:sp>
        <p:nvSpPr>
          <p:cNvPr id="12" name="Equipo texto 2"/>
          <p:cNvSpPr txBox="1"/>
          <p:nvPr/>
        </p:nvSpPr>
        <p:spPr>
          <a:xfrm>
            <a:off x="1234440" y="21122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Recibido → En preparación → Listo → Entregado.</a:t>
            </a:r>
            <a:endParaRPr lang="en-US" sz="1200" dirty="0"/>
          </a:p>
        </p:txBody>
      </p:sp>
      <p:sp>
        <p:nvSpPr>
          <p:cNvPr id="13" name="Roles y permisos círculo"/>
          <p:cNvSpPr/>
          <p:nvPr/>
        </p:nvSpPr>
        <p:spPr>
          <a:xfrm>
            <a:off x="548640" y="2569464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Roles y permis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" y="2696748"/>
            <a:ext cx="275783" cy="275783"/>
          </a:xfrm>
          <a:prstGeom prst="rect">
            <a:avLst/>
          </a:prstGeom>
        </p:spPr>
      </p:pic>
      <p:sp>
        <p:nvSpPr>
          <p:cNvPr id="15" name="Equipo título 3"/>
          <p:cNvSpPr txBox="1"/>
          <p:nvPr/>
        </p:nvSpPr>
        <p:spPr>
          <a:xfrm>
            <a:off x="1234440" y="25511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y permisos</a:t>
            </a:r>
            <a:endParaRPr lang="en-US" sz="1500" dirty="0"/>
          </a:p>
        </p:txBody>
      </p:sp>
      <p:sp>
        <p:nvSpPr>
          <p:cNvPr id="16" name="Equipo texto 3"/>
          <p:cNvSpPr txBox="1"/>
          <p:nvPr/>
        </p:nvSpPr>
        <p:spPr>
          <a:xfrm>
            <a:off x="1234440" y="28254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Dueño, administrador, cajero y mesero, cada uno con lo suyo.</a:t>
            </a:r>
            <a:endParaRPr lang="en-US" sz="1200" dirty="0"/>
          </a:p>
        </p:txBody>
      </p:sp>
      <p:sp>
        <p:nvSpPr>
          <p:cNvPr id="17" name="Mapa del local círculo"/>
          <p:cNvSpPr/>
          <p:nvPr/>
        </p:nvSpPr>
        <p:spPr>
          <a:xfrm>
            <a:off x="548640" y="3282696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Mapa del local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24" y="3409980"/>
            <a:ext cx="275783" cy="275783"/>
          </a:xfrm>
          <a:prstGeom prst="rect">
            <a:avLst/>
          </a:prstGeom>
        </p:spPr>
      </p:pic>
      <p:sp>
        <p:nvSpPr>
          <p:cNvPr id="19" name="Equipo título 4"/>
          <p:cNvSpPr txBox="1"/>
          <p:nvPr/>
        </p:nvSpPr>
        <p:spPr>
          <a:xfrm>
            <a:off x="1234440" y="3264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del local</a:t>
            </a:r>
            <a:endParaRPr lang="en-US" sz="1500" dirty="0"/>
          </a:p>
        </p:txBody>
      </p:sp>
      <p:sp>
        <p:nvSpPr>
          <p:cNvPr id="20" name="Equipo texto 4"/>
          <p:cNvSpPr txBox="1"/>
          <p:nvPr/>
        </p:nvSpPr>
        <p:spPr>
          <a:xfrm>
            <a:off x="1234440" y="3538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Mesas en su lugar; pásalas, júntalas o sepáralas.</a:t>
            </a:r>
            <a:endParaRPr lang="en-US" sz="1200" dirty="0"/>
          </a:p>
        </p:txBody>
      </p:sp>
      <p:sp>
        <p:nvSpPr>
          <p:cNvPr id="21" name="Avisos aunque esté cerrada círculo"/>
          <p:cNvSpPr/>
          <p:nvPr/>
        </p:nvSpPr>
        <p:spPr>
          <a:xfrm>
            <a:off x="548640" y="39959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aunque esté cerrada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24" y="4123212"/>
            <a:ext cx="275783" cy="275783"/>
          </a:xfrm>
          <a:prstGeom prst="rect">
            <a:avLst/>
          </a:prstGeom>
        </p:spPr>
      </p:pic>
      <p:sp>
        <p:nvSpPr>
          <p:cNvPr id="23" name="Equipo título 5"/>
          <p:cNvSpPr txBox="1"/>
          <p:nvPr/>
        </p:nvSpPr>
        <p:spPr>
          <a:xfrm>
            <a:off x="123444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aunque esté cerrada</a:t>
            </a:r>
            <a:endParaRPr lang="en-US" sz="1500" dirty="0"/>
          </a:p>
        </p:txBody>
      </p:sp>
      <p:sp>
        <p:nvSpPr>
          <p:cNvPr id="24" name="Equipo texto 5"/>
          <p:cNvSpPr txBox="1"/>
          <p:nvPr/>
        </p:nvSpPr>
        <p:spPr>
          <a:xfrm>
            <a:off x="1234440" y="4251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Pedidos nuevos en la pantalla del celular bloqueado.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formas de vender</a:t>
            </a:r>
            <a:endParaRPr lang="en-US" sz="3000" dirty="0"/>
          </a:p>
        </p:txBody>
      </p:sp>
      <p:sp>
        <p:nvSpPr>
          <p:cNvPr id="3" name="Carta digital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arta digi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Venta rápida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Venta rápida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Vender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rápida</a:t>
            </a:r>
            <a:endParaRPr lang="en-US" sz="1400" dirty="0"/>
          </a:p>
        </p:txBody>
      </p:sp>
      <p:sp>
        <p:nvSpPr>
          <p:cNvPr id="8" name="Vender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Mostrador sin abrir mesa, en segundos.</a:t>
            </a:r>
            <a:endParaRPr lang="en-US" sz="1200" dirty="0"/>
          </a:p>
        </p:txBody>
      </p:sp>
      <p:sp>
        <p:nvSpPr>
          <p:cNvPr id="9" name="Domicilios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Domicilio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Vender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Domicilios</a:t>
            </a:r>
            <a:endParaRPr lang="en-US" sz="1400" dirty="0"/>
          </a:p>
        </p:txBody>
      </p:sp>
      <p:sp>
        <p:nvSpPr>
          <p:cNvPr id="12" name="Vender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Cliente, dirección y valor del envío.</a:t>
            </a:r>
            <a:endParaRPr lang="en-US" sz="1200" dirty="0"/>
          </a:p>
        </p:txBody>
      </p:sp>
      <p:sp>
        <p:nvSpPr>
          <p:cNvPr id="13" name="Carta digital en QR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arta digital en Q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Vender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digital en QR</a:t>
            </a:r>
            <a:endParaRPr lang="en-US" sz="1400" dirty="0"/>
          </a:p>
        </p:txBody>
      </p:sp>
      <p:sp>
        <p:nvSpPr>
          <p:cNvPr id="16" name="Vender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combos y promociones, siempre al día.</a:t>
            </a:r>
            <a:endParaRPr lang="en-US" sz="1200" dirty="0"/>
          </a:p>
        </p:txBody>
      </p:sp>
      <p:sp>
        <p:nvSpPr>
          <p:cNvPr id="17" name="Clientes frecuente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lientes frecuente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Vender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frecuentes</a:t>
            </a:r>
            <a:endParaRPr lang="en-US" sz="1400" dirty="0"/>
          </a:p>
        </p:txBody>
      </p:sp>
      <p:sp>
        <p:nvSpPr>
          <p:cNvPr id="20" name="Vender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Visitas y gasto de cada cliente por WhatsApp.</a:t>
            </a:r>
            <a:endParaRPr lang="en-US" sz="1200" dirty="0"/>
          </a:p>
        </p:txBody>
      </p:sp>
      <p:sp>
        <p:nvSpPr>
          <p:cNvPr id="21" name="Propinas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Propina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Vender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Propinas</a:t>
            </a:r>
            <a:endParaRPr lang="en-US" sz="1400" dirty="0"/>
          </a:p>
        </p:txBody>
      </p:sp>
      <p:sp>
        <p:nvSpPr>
          <p:cNvPr id="24" name="Vender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Se suman al cobrar, sin cuentas aparte.</a:t>
            </a:r>
            <a:endParaRPr lang="en-US" sz="1200" dirty="0"/>
          </a:p>
        </p:txBody>
      </p:sp>
      <p:sp>
        <p:nvSpPr>
          <p:cNvPr id="25" name="Recibo con tu NIT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Recibo con tu NIT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Vender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Recibo con tu NIT</a:t>
            </a:r>
            <a:endParaRPr lang="en-US" sz="1400" dirty="0"/>
          </a:p>
        </p:txBody>
      </p:sp>
      <p:sp>
        <p:nvSpPr>
          <p:cNvPr id="28" name="Vender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Impreso o por WhatsApp, con desglose de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Vento para cada negocio</a:t>
            </a:r>
            <a:endParaRPr lang="en-US" sz="3000" dirty="0"/>
          </a:p>
        </p:txBody>
      </p:sp>
      <p:sp>
        <p:nvSpPr>
          <p:cNvPr id="3" name="Dato tipos de negocio"/>
          <p:cNvSpPr/>
          <p:nvPr/>
        </p:nvSpPr>
        <p:spPr>
          <a:xfrm>
            <a:off x="548640" y="118872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2A1B55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ato 75"/>
          <p:cNvSpPr txBox="1"/>
          <p:nvPr/>
        </p:nvSpPr>
        <p:spPr>
          <a:xfrm>
            <a:off x="7772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</a:t>
            </a:r>
            <a:endParaRPr lang="en-US" sz="6600" dirty="0"/>
          </a:p>
        </p:txBody>
      </p:sp>
      <p:sp>
        <p:nvSpPr>
          <p:cNvPr id="5" name="Dato 75 texto"/>
          <p:cNvSpPr txBox="1"/>
          <p:nvPr/>
        </p:nvSpPr>
        <p:spPr>
          <a:xfrm>
            <a:off x="777240" y="2514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tipos de negocio listos para usar</a:t>
            </a:r>
            <a:endParaRPr lang="en-US" sz="1600" dirty="0"/>
          </a:p>
        </p:txBody>
      </p:sp>
      <p:sp>
        <p:nvSpPr>
          <p:cNvPr id="6" name="Dato 75 nota"/>
          <p:cNvSpPr txBox="1"/>
          <p:nvPr/>
        </p:nvSpPr>
        <p:spPr>
          <a:xfrm>
            <a:off x="77724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 app usa las palabras de tu negocio: mesas, sillas, habitaciones, citas u órdenes.</a:t>
            </a:r>
            <a:endParaRPr lang="en-US" sz="1200" dirty="0"/>
          </a:p>
        </p:txBody>
      </p:sp>
      <p:sp>
        <p:nvSpPr>
          <p:cNvPr id="7" name="Tipo Bar / Cervecería"/>
          <p:cNvSpPr/>
          <p:nvPr/>
        </p:nvSpPr>
        <p:spPr>
          <a:xfrm>
            <a:off x="370332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8" name="Tipo texto 1"/>
          <p:cNvSpPr txBox="1"/>
          <p:nvPr/>
        </p:nvSpPr>
        <p:spPr>
          <a:xfrm>
            <a:off x="370332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 / Cervecería</a:t>
            </a:r>
            <a:endParaRPr lang="en-US" sz="1100" dirty="0"/>
          </a:p>
        </p:txBody>
      </p:sp>
      <p:sp>
        <p:nvSpPr>
          <p:cNvPr id="9" name="Tipo Restaurante"/>
          <p:cNvSpPr/>
          <p:nvPr/>
        </p:nvSpPr>
        <p:spPr>
          <a:xfrm>
            <a:off x="534924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0" name="Tipo texto 2"/>
          <p:cNvSpPr txBox="1"/>
          <p:nvPr/>
        </p:nvSpPr>
        <p:spPr>
          <a:xfrm>
            <a:off x="534924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Restaurante</a:t>
            </a:r>
            <a:endParaRPr lang="en-US" sz="1100" dirty="0"/>
          </a:p>
        </p:txBody>
      </p:sp>
      <p:sp>
        <p:nvSpPr>
          <p:cNvPr id="11" name="Tipo Cafetería"/>
          <p:cNvSpPr/>
          <p:nvPr/>
        </p:nvSpPr>
        <p:spPr>
          <a:xfrm>
            <a:off x="699516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2" name="Tipo texto 3"/>
          <p:cNvSpPr txBox="1"/>
          <p:nvPr/>
        </p:nvSpPr>
        <p:spPr>
          <a:xfrm>
            <a:off x="699516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Cafetería</a:t>
            </a:r>
            <a:endParaRPr lang="en-US" sz="1100" dirty="0"/>
          </a:p>
        </p:txBody>
      </p:sp>
      <p:sp>
        <p:nvSpPr>
          <p:cNvPr id="13" name="Tipo Tienda de barrio"/>
          <p:cNvSpPr/>
          <p:nvPr/>
        </p:nvSpPr>
        <p:spPr>
          <a:xfrm>
            <a:off x="370332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4" name="Tipo texto 4"/>
          <p:cNvSpPr txBox="1"/>
          <p:nvPr/>
        </p:nvSpPr>
        <p:spPr>
          <a:xfrm>
            <a:off x="370332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Tienda de barrio</a:t>
            </a:r>
            <a:endParaRPr lang="en-US" sz="1100" dirty="0"/>
          </a:p>
        </p:txBody>
      </p:sp>
      <p:sp>
        <p:nvSpPr>
          <p:cNvPr id="15" name="Tipo Discoteca"/>
          <p:cNvSpPr/>
          <p:nvPr/>
        </p:nvSpPr>
        <p:spPr>
          <a:xfrm>
            <a:off x="534924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6" name="Tipo texto 5"/>
          <p:cNvSpPr txBox="1"/>
          <p:nvPr/>
        </p:nvSpPr>
        <p:spPr>
          <a:xfrm>
            <a:off x="534924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Discoteca</a:t>
            </a:r>
            <a:endParaRPr lang="en-US" sz="1100" dirty="0"/>
          </a:p>
        </p:txBody>
      </p:sp>
      <p:sp>
        <p:nvSpPr>
          <p:cNvPr id="17" name="Tipo Billar"/>
          <p:cNvSpPr/>
          <p:nvPr/>
        </p:nvSpPr>
        <p:spPr>
          <a:xfrm>
            <a:off x="699516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8" name="Tipo texto 6"/>
          <p:cNvSpPr txBox="1"/>
          <p:nvPr/>
        </p:nvSpPr>
        <p:spPr>
          <a:xfrm>
            <a:off x="699516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Billar</a:t>
            </a:r>
            <a:endParaRPr lang="en-US" sz="1100" dirty="0"/>
          </a:p>
        </p:txBody>
      </p:sp>
      <p:sp>
        <p:nvSpPr>
          <p:cNvPr id="19" name="Tipo Pizzería"/>
          <p:cNvSpPr/>
          <p:nvPr/>
        </p:nvSpPr>
        <p:spPr>
          <a:xfrm>
            <a:off x="370332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0" name="Tipo texto 7"/>
          <p:cNvSpPr txBox="1"/>
          <p:nvPr/>
        </p:nvSpPr>
        <p:spPr>
          <a:xfrm>
            <a:off x="370332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Pizzería</a:t>
            </a:r>
            <a:endParaRPr lang="en-US" sz="1100" dirty="0"/>
          </a:p>
        </p:txBody>
      </p:sp>
      <p:sp>
        <p:nvSpPr>
          <p:cNvPr id="21" name="Tipo Panadería"/>
          <p:cNvSpPr/>
          <p:nvPr/>
        </p:nvSpPr>
        <p:spPr>
          <a:xfrm>
            <a:off x="534924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2" name="Tipo texto 8"/>
          <p:cNvSpPr txBox="1"/>
          <p:nvPr/>
        </p:nvSpPr>
        <p:spPr>
          <a:xfrm>
            <a:off x="534924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Panadería</a:t>
            </a:r>
            <a:endParaRPr lang="en-US" sz="1100" dirty="0"/>
          </a:p>
        </p:txBody>
      </p:sp>
      <p:sp>
        <p:nvSpPr>
          <p:cNvPr id="23" name="Tipo Farmacia"/>
          <p:cNvSpPr/>
          <p:nvPr/>
        </p:nvSpPr>
        <p:spPr>
          <a:xfrm>
            <a:off x="699516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4" name="Tipo texto 9"/>
          <p:cNvSpPr txBox="1"/>
          <p:nvPr/>
        </p:nvSpPr>
        <p:spPr>
          <a:xfrm>
            <a:off x="699516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Farmacia</a:t>
            </a:r>
            <a:endParaRPr lang="en-US" sz="1100" dirty="0"/>
          </a:p>
        </p:txBody>
      </p:sp>
      <p:sp>
        <p:nvSpPr>
          <p:cNvPr id="25" name="Tipo Licorera"/>
          <p:cNvSpPr/>
          <p:nvPr/>
        </p:nvSpPr>
        <p:spPr>
          <a:xfrm>
            <a:off x="370332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6" name="Tipo texto 10"/>
          <p:cNvSpPr txBox="1"/>
          <p:nvPr/>
        </p:nvSpPr>
        <p:spPr>
          <a:xfrm>
            <a:off x="370332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Licorera</a:t>
            </a:r>
            <a:endParaRPr lang="en-US" sz="1100" dirty="0"/>
          </a:p>
        </p:txBody>
      </p:sp>
      <p:sp>
        <p:nvSpPr>
          <p:cNvPr id="27" name="Tipo Ferretería"/>
          <p:cNvSpPr/>
          <p:nvPr/>
        </p:nvSpPr>
        <p:spPr>
          <a:xfrm>
            <a:off x="534924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8" name="Tipo texto 11"/>
          <p:cNvSpPr txBox="1"/>
          <p:nvPr/>
        </p:nvSpPr>
        <p:spPr>
          <a:xfrm>
            <a:off x="534924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Ferretería</a:t>
            </a:r>
            <a:endParaRPr lang="en-US" sz="1100" dirty="0"/>
          </a:p>
        </p:txBody>
      </p:sp>
      <p:sp>
        <p:nvSpPr>
          <p:cNvPr id="29" name="Tipo Barbería"/>
          <p:cNvSpPr/>
          <p:nvPr/>
        </p:nvSpPr>
        <p:spPr>
          <a:xfrm>
            <a:off x="699516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0" name="Tipo texto 12"/>
          <p:cNvSpPr txBox="1"/>
          <p:nvPr/>
        </p:nvSpPr>
        <p:spPr>
          <a:xfrm>
            <a:off x="699516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Barbería</a:t>
            </a:r>
            <a:endParaRPr lang="en-US" sz="1100" dirty="0"/>
          </a:p>
        </p:txBody>
      </p:sp>
      <p:sp>
        <p:nvSpPr>
          <p:cNvPr id="31" name="Tipo Salón de belleza"/>
          <p:cNvSpPr/>
          <p:nvPr/>
        </p:nvSpPr>
        <p:spPr>
          <a:xfrm>
            <a:off x="370332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2" name="Tipo texto 13"/>
          <p:cNvSpPr txBox="1"/>
          <p:nvPr/>
        </p:nvSpPr>
        <p:spPr>
          <a:xfrm>
            <a:off x="370332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Salón de belleza</a:t>
            </a:r>
            <a:endParaRPr lang="en-US" sz="1100" dirty="0"/>
          </a:p>
        </p:txBody>
      </p:sp>
      <p:sp>
        <p:nvSpPr>
          <p:cNvPr id="33" name="Tipo Hotel / Hostal"/>
          <p:cNvSpPr/>
          <p:nvPr/>
        </p:nvSpPr>
        <p:spPr>
          <a:xfrm>
            <a:off x="534924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4" name="Tipo texto 14"/>
          <p:cNvSpPr txBox="1"/>
          <p:nvPr/>
        </p:nvSpPr>
        <p:spPr>
          <a:xfrm>
            <a:off x="534924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Hotel / Hostal</a:t>
            </a:r>
            <a:endParaRPr lang="en-US" sz="1100" dirty="0"/>
          </a:p>
        </p:txBody>
      </p:sp>
      <p:sp>
        <p:nvSpPr>
          <p:cNvPr id="35" name="Tipo Lavadero"/>
          <p:cNvSpPr/>
          <p:nvPr/>
        </p:nvSpPr>
        <p:spPr>
          <a:xfrm>
            <a:off x="699516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6" name="Tipo texto 15"/>
          <p:cNvSpPr txBox="1"/>
          <p:nvPr/>
        </p:nvSpPr>
        <p:spPr>
          <a:xfrm>
            <a:off x="699516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Lavadero</a:t>
            </a:r>
            <a:endParaRPr lang="en-US" sz="1100" dirty="0"/>
          </a:p>
        </p:txBody>
      </p:sp>
      <p:sp>
        <p:nvSpPr>
          <p:cNvPr id="37" name="Tipo Gimnasio"/>
          <p:cNvSpPr/>
          <p:nvPr/>
        </p:nvSpPr>
        <p:spPr>
          <a:xfrm>
            <a:off x="370332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8" name="Tipo texto 16"/>
          <p:cNvSpPr txBox="1"/>
          <p:nvPr/>
        </p:nvSpPr>
        <p:spPr>
          <a:xfrm>
            <a:off x="370332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Gimnasio</a:t>
            </a:r>
            <a:endParaRPr lang="en-US" sz="1100" dirty="0"/>
          </a:p>
        </p:txBody>
      </p:sp>
      <p:sp>
        <p:nvSpPr>
          <p:cNvPr id="39" name="Tipo Veterinaria"/>
          <p:cNvSpPr/>
          <p:nvPr/>
        </p:nvSpPr>
        <p:spPr>
          <a:xfrm>
            <a:off x="534924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0" name="Tipo texto 17"/>
          <p:cNvSpPr txBox="1"/>
          <p:nvPr/>
        </p:nvSpPr>
        <p:spPr>
          <a:xfrm>
            <a:off x="534924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Veterinaria</a:t>
            </a:r>
            <a:endParaRPr lang="en-US" sz="1100" dirty="0"/>
          </a:p>
        </p:txBody>
      </p:sp>
      <p:sp>
        <p:nvSpPr>
          <p:cNvPr id="41" name="Tipo Taller mecánico"/>
          <p:cNvSpPr/>
          <p:nvPr/>
        </p:nvSpPr>
        <p:spPr>
          <a:xfrm>
            <a:off x="699516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2" name="Tipo texto 18"/>
          <p:cNvSpPr txBox="1"/>
          <p:nvPr/>
        </p:nvSpPr>
        <p:spPr>
          <a:xfrm>
            <a:off x="699516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Taller mecánico</a:t>
            </a:r>
            <a:endParaRPr lang="en-US" sz="1100" dirty="0"/>
          </a:p>
        </p:txBody>
      </p:sp>
      <p:sp>
        <p:nvSpPr>
          <p:cNvPr id="43" name="Tipo Minimercado"/>
          <p:cNvSpPr/>
          <p:nvPr/>
        </p:nvSpPr>
        <p:spPr>
          <a:xfrm>
            <a:off x="370332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4" name="Tipo texto 19"/>
          <p:cNvSpPr txBox="1"/>
          <p:nvPr/>
        </p:nvSpPr>
        <p:spPr>
          <a:xfrm>
            <a:off x="370332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Minimercado</a:t>
            </a:r>
            <a:endParaRPr lang="en-US" sz="1100" dirty="0"/>
          </a:p>
        </p:txBody>
      </p:sp>
      <p:sp>
        <p:nvSpPr>
          <p:cNvPr id="45" name="Tipo Heladería"/>
          <p:cNvSpPr/>
          <p:nvPr/>
        </p:nvSpPr>
        <p:spPr>
          <a:xfrm>
            <a:off x="534924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6" name="Tipo texto 20"/>
          <p:cNvSpPr txBox="1"/>
          <p:nvPr/>
        </p:nvSpPr>
        <p:spPr>
          <a:xfrm>
            <a:off x="534924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Heladería</a:t>
            </a:r>
            <a:endParaRPr lang="en-US" sz="1100" dirty="0"/>
          </a:p>
        </p:txBody>
      </p:sp>
      <p:sp>
        <p:nvSpPr>
          <p:cNvPr id="47" name="Tipo Comidas rápidas"/>
          <p:cNvSpPr/>
          <p:nvPr/>
        </p:nvSpPr>
        <p:spPr>
          <a:xfrm>
            <a:off x="699516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8" name="Tipo texto 21"/>
          <p:cNvSpPr txBox="1"/>
          <p:nvPr/>
        </p:nvSpPr>
        <p:spPr>
          <a:xfrm>
            <a:off x="699516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Comidas rápidas</a:t>
            </a:r>
            <a:endParaRPr lang="en-US" sz="1100" dirty="0"/>
          </a:p>
        </p:txBody>
      </p:sp>
      <p:sp>
        <p:nvSpPr>
          <p:cNvPr id="49" name="Sedes"/>
          <p:cNvSpPr txBox="1"/>
          <p:nvPr/>
        </p:nvSpPr>
        <p:spPr>
          <a:xfrm>
            <a:off x="3703320" y="45262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Y varias sedes en una sola cuenta: cada local con sus mesas, productos e inventario.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incluido en una sola app</a:t>
            </a:r>
            <a:endParaRPr lang="en-US" sz="3000" dirty="0"/>
          </a:p>
        </p:txBody>
      </p:sp>
      <p:sp>
        <p:nvSpPr>
          <p:cNvPr id="3" name="Incluido 1"/>
          <p:cNvSpPr/>
          <p:nvPr/>
        </p:nvSpPr>
        <p:spPr>
          <a:xfrm>
            <a:off x="548640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4" name="Vist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35608"/>
            <a:ext cx="310896" cy="310896"/>
          </a:xfrm>
          <a:prstGeom prst="rect">
            <a:avLst/>
          </a:prstGeom>
        </p:spPr>
      </p:pic>
      <p:sp>
        <p:nvSpPr>
          <p:cNvPr id="5" name="Incluido texto 1"/>
          <p:cNvSpPr txBox="1"/>
          <p:nvPr/>
        </p:nvSpPr>
        <p:spPr>
          <a:xfrm>
            <a:off x="1143000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voz en español colombiano</a:t>
            </a:r>
            <a:endParaRPr lang="en-US" sz="1200" dirty="0"/>
          </a:p>
        </p:txBody>
      </p:sp>
      <p:sp>
        <p:nvSpPr>
          <p:cNvPr id="6" name="Incluido 2"/>
          <p:cNvSpPr/>
          <p:nvPr/>
        </p:nvSpPr>
        <p:spPr>
          <a:xfrm>
            <a:off x="3264408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7" name="Vist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435608"/>
            <a:ext cx="310896" cy="310896"/>
          </a:xfrm>
          <a:prstGeom prst="rect">
            <a:avLst/>
          </a:prstGeom>
        </p:spPr>
      </p:pic>
      <p:sp>
        <p:nvSpPr>
          <p:cNvPr id="8" name="Incluido texto 2"/>
          <p:cNvSpPr txBox="1"/>
          <p:nvPr/>
        </p:nvSpPr>
        <p:spPr>
          <a:xfrm>
            <a:off x="3858768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 que lee facturas, incluso sin internet</a:t>
            </a:r>
            <a:endParaRPr lang="en-US" sz="1200" dirty="0"/>
          </a:p>
        </p:txBody>
      </p:sp>
      <p:sp>
        <p:nvSpPr>
          <p:cNvPr id="9" name="Incluido 3"/>
          <p:cNvSpPr/>
          <p:nvPr/>
        </p:nvSpPr>
        <p:spPr>
          <a:xfrm>
            <a:off x="5980176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0" name="Vist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435608"/>
            <a:ext cx="310896" cy="310896"/>
          </a:xfrm>
          <a:prstGeom prst="rect">
            <a:avLst/>
          </a:prstGeom>
        </p:spPr>
      </p:pic>
      <p:sp>
        <p:nvSpPr>
          <p:cNvPr id="11" name="Incluido texto 3"/>
          <p:cNvSpPr txBox="1"/>
          <p:nvPr/>
        </p:nvSpPr>
        <p:spPr>
          <a:xfrm>
            <a:off x="6574536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Música de los clientes en el TV</a:t>
            </a:r>
            <a:endParaRPr lang="en-US" sz="1200" dirty="0"/>
          </a:p>
        </p:txBody>
      </p:sp>
      <p:sp>
        <p:nvSpPr>
          <p:cNvPr id="12" name="Incluido 4"/>
          <p:cNvSpPr/>
          <p:nvPr/>
        </p:nvSpPr>
        <p:spPr>
          <a:xfrm>
            <a:off x="548640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3" name="Vist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276856"/>
            <a:ext cx="310896" cy="310896"/>
          </a:xfrm>
          <a:prstGeom prst="rect">
            <a:avLst/>
          </a:prstGeom>
        </p:spPr>
      </p:pic>
      <p:sp>
        <p:nvSpPr>
          <p:cNvPr id="14" name="Incluido texto 4"/>
          <p:cNvSpPr txBox="1"/>
          <p:nvPr/>
        </p:nvSpPr>
        <p:spPr>
          <a:xfrm>
            <a:off x="1143000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QR desde la mesa</a:t>
            </a:r>
            <a:endParaRPr lang="en-US" sz="1200" dirty="0"/>
          </a:p>
        </p:txBody>
      </p:sp>
      <p:sp>
        <p:nvSpPr>
          <p:cNvPr id="15" name="Incluido 5"/>
          <p:cNvSpPr/>
          <p:nvPr/>
        </p:nvSpPr>
        <p:spPr>
          <a:xfrm>
            <a:off x="3264408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6" name="Vist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276856"/>
            <a:ext cx="310896" cy="310896"/>
          </a:xfrm>
          <a:prstGeom prst="rect">
            <a:avLst/>
          </a:prstGeom>
        </p:spPr>
      </p:pic>
      <p:sp>
        <p:nvSpPr>
          <p:cNvPr id="17" name="Incluido texto 5"/>
          <p:cNvSpPr txBox="1"/>
          <p:nvPr/>
        </p:nvSpPr>
        <p:spPr>
          <a:xfrm>
            <a:off x="3858768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Cuenta dividida, abonos y fiados</a:t>
            </a:r>
            <a:endParaRPr lang="en-US" sz="1200" dirty="0"/>
          </a:p>
        </p:txBody>
      </p:sp>
      <p:sp>
        <p:nvSpPr>
          <p:cNvPr id="18" name="Incluido 6"/>
          <p:cNvSpPr/>
          <p:nvPr/>
        </p:nvSpPr>
        <p:spPr>
          <a:xfrm>
            <a:off x="5980176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9" name="Visto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276856"/>
            <a:ext cx="310896" cy="310896"/>
          </a:xfrm>
          <a:prstGeom prst="rect">
            <a:avLst/>
          </a:prstGeom>
        </p:spPr>
      </p:pic>
      <p:sp>
        <p:nvSpPr>
          <p:cNvPr id="20" name="Incluido texto 6"/>
          <p:cNvSpPr txBox="1"/>
          <p:nvPr/>
        </p:nvSpPr>
        <p:spPr>
          <a:xfrm>
            <a:off x="6574536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Contabilidad y cierre de caja</a:t>
            </a:r>
            <a:endParaRPr lang="en-US" sz="1200" dirty="0"/>
          </a:p>
        </p:txBody>
      </p:sp>
      <p:sp>
        <p:nvSpPr>
          <p:cNvPr id="21" name="Incluido 7"/>
          <p:cNvSpPr/>
          <p:nvPr/>
        </p:nvSpPr>
        <p:spPr>
          <a:xfrm>
            <a:off x="548640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2" name="Visto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118104"/>
            <a:ext cx="310896" cy="310896"/>
          </a:xfrm>
          <a:prstGeom prst="rect">
            <a:avLst/>
          </a:prstGeom>
        </p:spPr>
      </p:pic>
      <p:sp>
        <p:nvSpPr>
          <p:cNvPr id="23" name="Incluido texto 7"/>
          <p:cNvSpPr txBox="1"/>
          <p:nvPr/>
        </p:nvSpPr>
        <p:spPr>
          <a:xfrm>
            <a:off x="1143000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Inventario con avisos y predicción</a:t>
            </a:r>
            <a:endParaRPr lang="en-US" sz="1200" dirty="0"/>
          </a:p>
        </p:txBody>
      </p:sp>
      <p:sp>
        <p:nvSpPr>
          <p:cNvPr id="24" name="Incluido 8"/>
          <p:cNvSpPr/>
          <p:nvPr/>
        </p:nvSpPr>
        <p:spPr>
          <a:xfrm>
            <a:off x="3264408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5" name="Visto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18104"/>
            <a:ext cx="310896" cy="310896"/>
          </a:xfrm>
          <a:prstGeom prst="rect">
            <a:avLst/>
          </a:prstGeom>
        </p:spPr>
      </p:pic>
      <p:sp>
        <p:nvSpPr>
          <p:cNvPr id="26" name="Incluido texto 8"/>
          <p:cNvSpPr txBox="1"/>
          <p:nvPr/>
        </p:nvSpPr>
        <p:spPr>
          <a:xfrm>
            <a:off x="3858768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 de meseros y pantalla de cocina</a:t>
            </a:r>
            <a:endParaRPr lang="en-US" sz="1200" dirty="0"/>
          </a:p>
        </p:txBody>
      </p:sp>
      <p:sp>
        <p:nvSpPr>
          <p:cNvPr id="27" name="Incluido 9"/>
          <p:cNvSpPr/>
          <p:nvPr/>
        </p:nvSpPr>
        <p:spPr>
          <a:xfrm>
            <a:off x="5980176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8" name="Visto 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3118104"/>
            <a:ext cx="310896" cy="310896"/>
          </a:xfrm>
          <a:prstGeom prst="rect">
            <a:avLst/>
          </a:prstGeom>
        </p:spPr>
      </p:pic>
      <p:sp>
        <p:nvSpPr>
          <p:cNvPr id="29" name="Incluido texto 9"/>
          <p:cNvSpPr txBox="1"/>
          <p:nvPr/>
        </p:nvSpPr>
        <p:spPr>
          <a:xfrm>
            <a:off x="6574536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Carta digital, domicilios y propinas</a:t>
            </a:r>
            <a:endParaRPr lang="en-US" sz="1200" dirty="0"/>
          </a:p>
        </p:txBody>
      </p:sp>
      <p:sp>
        <p:nvSpPr>
          <p:cNvPr id="30" name="Incluido 10"/>
          <p:cNvSpPr/>
          <p:nvPr/>
        </p:nvSpPr>
        <p:spPr>
          <a:xfrm>
            <a:off x="548640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1" name="Visto 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3959352"/>
            <a:ext cx="310896" cy="310896"/>
          </a:xfrm>
          <a:prstGeom prst="rect">
            <a:avLst/>
          </a:prstGeom>
        </p:spPr>
      </p:pic>
      <p:sp>
        <p:nvSpPr>
          <p:cNvPr id="32" name="Incluido texto 10"/>
          <p:cNvSpPr txBox="1"/>
          <p:nvPr/>
        </p:nvSpPr>
        <p:spPr>
          <a:xfrm>
            <a:off x="1143000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Varios celulares y varias sedes</a:t>
            </a:r>
            <a:endParaRPr lang="en-US" sz="1200" dirty="0"/>
          </a:p>
        </p:txBody>
      </p:sp>
      <p:sp>
        <p:nvSpPr>
          <p:cNvPr id="33" name="Incluido 11"/>
          <p:cNvSpPr/>
          <p:nvPr/>
        </p:nvSpPr>
        <p:spPr>
          <a:xfrm>
            <a:off x="3264408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4" name="Visto 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0" y="3959352"/>
            <a:ext cx="310896" cy="310896"/>
          </a:xfrm>
          <a:prstGeom prst="rect">
            <a:avLst/>
          </a:prstGeom>
        </p:spPr>
      </p:pic>
      <p:sp>
        <p:nvSpPr>
          <p:cNvPr id="35" name="Incluido texto 11"/>
          <p:cNvSpPr txBox="1"/>
          <p:nvPr/>
        </p:nvSpPr>
        <p:spPr>
          <a:xfrm>
            <a:off x="3858768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comprar equipos: solo el celular</a:t>
            </a:r>
            <a:endParaRPr lang="en-US" sz="1200" dirty="0"/>
          </a:p>
        </p:txBody>
      </p:sp>
      <p:sp>
        <p:nvSpPr>
          <p:cNvPr id="36" name="Incluido 12"/>
          <p:cNvSpPr/>
          <p:nvPr/>
        </p:nvSpPr>
        <p:spPr>
          <a:xfrm>
            <a:off x="5980176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7" name="Visto 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68" y="3959352"/>
            <a:ext cx="310896" cy="310896"/>
          </a:xfrm>
          <a:prstGeom prst="rect">
            <a:avLst/>
          </a:prstGeom>
        </p:spPr>
      </p:pic>
      <p:sp>
        <p:nvSpPr>
          <p:cNvPr id="38" name="Incluido texto 12"/>
          <p:cNvSpPr txBox="1"/>
          <p:nvPr/>
        </p:nvSpPr>
        <p:spPr>
          <a:xfrm>
            <a:off x="6574536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Respaldos diarios y en la nube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Antes y después de Vento</a:t>
            </a:r>
            <a:endParaRPr lang="en-US" sz="3000" dirty="0"/>
          </a:p>
        </p:txBody>
      </p:sp>
      <p:graphicFrame>
        <p:nvGraphicFramePr>
          <p:cNvPr id="17" name="Tabla antes y despué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3017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7185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Con Vento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Anotar pedidos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Libreta y memoria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Voz, QR o un toque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Cobrar mesas grandes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Calculadora y discusiones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Cada quien paga lo suyo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Saber qué falta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Contar botellas a mano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Avisos de agotados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Facturas del proveedor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Digitar línea por línea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Foto y la IA las lee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 música del local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Un celular conectado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Suena sola lo que piden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Planes para cada negocio</a:t>
            </a:r>
            <a:endParaRPr lang="en-US" sz="3000" dirty="0"/>
          </a:p>
        </p:txBody>
      </p:sp>
      <p:sp>
        <p:nvSpPr>
          <p:cNvPr id="3" name="Plan Prueba gratis"/>
          <p:cNvSpPr/>
          <p:nvPr/>
        </p:nvSpPr>
        <p:spPr>
          <a:xfrm>
            <a:off x="548640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lan nombre 1"/>
          <p:cNvSpPr txBox="1"/>
          <p:nvPr/>
        </p:nvSpPr>
        <p:spPr>
          <a:xfrm>
            <a:off x="7772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gratis</a:t>
            </a:r>
            <a:endParaRPr lang="en-US" sz="1800" dirty="0"/>
          </a:p>
        </p:txBody>
      </p:sp>
      <p:sp>
        <p:nvSpPr>
          <p:cNvPr id="5" name="Plan modo 1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Para conocer Vento</a:t>
            </a:r>
            <a:endParaRPr lang="en-US" sz="1400" dirty="0"/>
          </a:p>
        </p:txBody>
      </p:sp>
      <p:sp>
        <p:nvSpPr>
          <p:cNvPr id="6" name="Plan incluye 1"/>
          <p:cNvSpPr txBox="1"/>
          <p:nvPr/>
        </p:nvSpPr>
        <p:spPr>
          <a:xfrm>
            <a:off x="7772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Todas las funciones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tarjeta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Tus datos se quedan</a:t>
            </a:r>
            <a:endParaRPr lang="en-US" sz="1400" dirty="0"/>
          </a:p>
        </p:txBody>
      </p:sp>
      <p:sp>
        <p:nvSpPr>
          <p:cNvPr id="7" name="Plan Suscripción"/>
          <p:cNvSpPr/>
          <p:nvPr/>
        </p:nvSpPr>
        <p:spPr>
          <a:xfrm>
            <a:off x="3264408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2A1B55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Plan nombre 2"/>
          <p:cNvSpPr txBox="1"/>
          <p:nvPr/>
        </p:nvSpPr>
        <p:spPr>
          <a:xfrm>
            <a:off x="3493008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</a:t>
            </a:r>
            <a:endParaRPr lang="en-US" sz="1800" dirty="0"/>
          </a:p>
        </p:txBody>
      </p:sp>
      <p:sp>
        <p:nvSpPr>
          <p:cNvPr id="9" name="Plan modo 2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Pago mensual</a:t>
            </a:r>
            <a:endParaRPr lang="en-US" sz="1400" dirty="0"/>
          </a:p>
        </p:txBody>
      </p:sp>
      <p:sp>
        <p:nvSpPr>
          <p:cNvPr id="10" name="Plan incluye 2"/>
          <p:cNvSpPr txBox="1"/>
          <p:nvPr/>
        </p:nvSpPr>
        <p:spPr>
          <a:xfrm>
            <a:off x="3493008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Actualizaciones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IA y nube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Soporte por WhatsApp</a:t>
            </a:r>
            <a:endParaRPr lang="en-US" sz="1400" dirty="0"/>
          </a:p>
        </p:txBody>
      </p:sp>
      <p:sp>
        <p:nvSpPr>
          <p:cNvPr id="11" name="Plan De por vida"/>
          <p:cNvSpPr/>
          <p:nvPr/>
        </p:nvSpPr>
        <p:spPr>
          <a:xfrm>
            <a:off x="5980176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lan nombre 3"/>
          <p:cNvSpPr txBox="1"/>
          <p:nvPr/>
        </p:nvSpPr>
        <p:spPr>
          <a:xfrm>
            <a:off x="6208776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por vida</a:t>
            </a:r>
            <a:endParaRPr lang="en-US" sz="1800" dirty="0"/>
          </a:p>
        </p:txBody>
      </p:sp>
      <p:sp>
        <p:nvSpPr>
          <p:cNvPr id="13" name="Plan modo 3"/>
          <p:cNvSpPr txBox="1"/>
          <p:nvPr/>
        </p:nvSpPr>
        <p:spPr>
          <a:xfrm>
            <a:off x="6208776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Un solo pago</a:t>
            </a:r>
            <a:endParaRPr lang="en-US" sz="1400" dirty="0"/>
          </a:p>
        </p:txBody>
      </p:sp>
      <p:sp>
        <p:nvSpPr>
          <p:cNvPr id="14" name="Plan incluye 3"/>
          <p:cNvSpPr txBox="1"/>
          <p:nvPr/>
        </p:nvSpPr>
        <p:spPr>
          <a:xfrm>
            <a:off x="6208776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mensualidad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Todos tus celulares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Sedes adicionales</a:t>
            </a:r>
            <a:endParaRPr lang="en-US" sz="1400" dirty="0"/>
          </a:p>
        </p:txBody>
      </p:sp>
      <p:sp>
        <p:nvSpPr>
          <p:cNvPr id="15" name="Nota precios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Precios según el tamaño del negocio · consúltanos por WhatsApp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Hacia dónde va Vento</a:t>
            </a:r>
            <a:endParaRPr lang="en-US" sz="3000" dirty="0"/>
          </a:p>
        </p:txBody>
      </p:sp>
      <p:sp>
        <p:nvSpPr>
          <p:cNvPr id="3" name="Línea de tiempo 1"/>
          <p:cNvSpPr/>
          <p:nvPr/>
        </p:nvSpPr>
        <p:spPr>
          <a:xfrm>
            <a:off x="2377440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4" name="Línea de tiempo 2"/>
          <p:cNvSpPr/>
          <p:nvPr/>
        </p:nvSpPr>
        <p:spPr>
          <a:xfrm>
            <a:off x="5093208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5" name="Hito Próximo"/>
          <p:cNvSpPr/>
          <p:nvPr/>
        </p:nvSpPr>
        <p:spPr>
          <a:xfrm>
            <a:off x="685800" y="1325880"/>
            <a:ext cx="310896" cy="31089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6" name="Fase Próximo"/>
          <p:cNvSpPr txBox="1"/>
          <p:nvPr/>
        </p:nvSpPr>
        <p:spPr>
          <a:xfrm>
            <a:off x="1097280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1800" dirty="0"/>
          </a:p>
        </p:txBody>
      </p:sp>
      <p:sp>
        <p:nvSpPr>
          <p:cNvPr id="7" name="Fase Próximo 1"/>
          <p:cNvSpPr/>
          <p:nvPr/>
        </p:nvSpPr>
        <p:spPr>
          <a:xfrm>
            <a:off x="548640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8" name="Meta 00"/>
          <p:cNvSpPr txBox="1"/>
          <p:nvPr/>
        </p:nvSpPr>
        <p:spPr>
          <a:xfrm>
            <a:off x="73152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electrónica</a:t>
            </a:r>
            <a:endParaRPr lang="en-US" sz="1500" dirty="0"/>
          </a:p>
        </p:txBody>
      </p:sp>
      <p:sp>
        <p:nvSpPr>
          <p:cNvPr id="9" name="Meta texto 00"/>
          <p:cNvSpPr txBox="1"/>
          <p:nvPr/>
        </p:nvSpPr>
        <p:spPr>
          <a:xfrm>
            <a:off x="73152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Ante la DIAN, desde la cuenta de la mesa</a:t>
            </a:r>
            <a:endParaRPr lang="en-US" sz="1200" dirty="0"/>
          </a:p>
        </p:txBody>
      </p:sp>
      <p:sp>
        <p:nvSpPr>
          <p:cNvPr id="10" name="Fase Próximo 2"/>
          <p:cNvSpPr/>
          <p:nvPr/>
        </p:nvSpPr>
        <p:spPr>
          <a:xfrm>
            <a:off x="548640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eta 01"/>
          <p:cNvSpPr txBox="1"/>
          <p:nvPr/>
        </p:nvSpPr>
        <p:spPr>
          <a:xfrm>
            <a:off x="73152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en la mesa</a:t>
            </a:r>
            <a:endParaRPr lang="en-US" sz="1500" dirty="0"/>
          </a:p>
        </p:txBody>
      </p:sp>
      <p:sp>
        <p:nvSpPr>
          <p:cNvPr id="12" name="Meta texto 01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paga con Nequi o tarjeta desde el QR</a:t>
            </a:r>
            <a:endParaRPr lang="en-US" sz="1200" dirty="0"/>
          </a:p>
        </p:txBody>
      </p:sp>
      <p:sp>
        <p:nvSpPr>
          <p:cNvPr id="13" name="Hito Luego"/>
          <p:cNvSpPr/>
          <p:nvPr/>
        </p:nvSpPr>
        <p:spPr>
          <a:xfrm>
            <a:off x="3401568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14" name="Fase Luego"/>
          <p:cNvSpPr txBox="1"/>
          <p:nvPr/>
        </p:nvSpPr>
        <p:spPr>
          <a:xfrm>
            <a:off x="3813048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Luego</a:t>
            </a:r>
            <a:endParaRPr lang="en-US" sz="1800" dirty="0"/>
          </a:p>
        </p:txBody>
      </p:sp>
      <p:sp>
        <p:nvSpPr>
          <p:cNvPr id="15" name="Fase Luego 1"/>
          <p:cNvSpPr/>
          <p:nvPr/>
        </p:nvSpPr>
        <p:spPr>
          <a:xfrm>
            <a:off x="3264408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eta 10"/>
          <p:cNvSpPr txBox="1"/>
          <p:nvPr/>
        </p:nvSpPr>
        <p:spPr>
          <a:xfrm>
            <a:off x="3447288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fieles</a:t>
            </a:r>
            <a:endParaRPr lang="en-US" sz="1500" dirty="0"/>
          </a:p>
        </p:txBody>
      </p:sp>
      <p:sp>
        <p:nvSpPr>
          <p:cNvPr id="17" name="Meta texto 10"/>
          <p:cNvSpPr txBox="1"/>
          <p:nvPr/>
        </p:nvSpPr>
        <p:spPr>
          <a:xfrm>
            <a:off x="3447288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Reservas, puntos, cumpleaños y promociones</a:t>
            </a:r>
            <a:endParaRPr lang="en-US" sz="1200" dirty="0"/>
          </a:p>
        </p:txBody>
      </p:sp>
      <p:sp>
        <p:nvSpPr>
          <p:cNvPr id="18" name="Fase Luego 2"/>
          <p:cNvSpPr/>
          <p:nvPr/>
        </p:nvSpPr>
        <p:spPr>
          <a:xfrm>
            <a:off x="3264408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Meta 11"/>
          <p:cNvSpPr txBox="1"/>
          <p:nvPr/>
        </p:nvSpPr>
        <p:spPr>
          <a:xfrm>
            <a:off x="3447288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predice</a:t>
            </a:r>
            <a:endParaRPr lang="en-US" sz="1500" dirty="0"/>
          </a:p>
        </p:txBody>
      </p:sp>
      <p:sp>
        <p:nvSpPr>
          <p:cNvPr id="20" name="Meta texto 11"/>
          <p:cNvSpPr txBox="1"/>
          <p:nvPr/>
        </p:nvSpPr>
        <p:spPr>
          <a:xfrm>
            <a:off x="3447288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Qué comprar y cuánto, antes de que se acabe</a:t>
            </a:r>
            <a:endParaRPr lang="en-US" sz="1200" dirty="0"/>
          </a:p>
        </p:txBody>
      </p:sp>
      <p:sp>
        <p:nvSpPr>
          <p:cNvPr id="21" name="Hito Visión"/>
          <p:cNvSpPr/>
          <p:nvPr/>
        </p:nvSpPr>
        <p:spPr>
          <a:xfrm>
            <a:off x="6117336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22" name="Fase Visión"/>
          <p:cNvSpPr txBox="1"/>
          <p:nvPr/>
        </p:nvSpPr>
        <p:spPr>
          <a:xfrm>
            <a:off x="6528816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800" dirty="0"/>
          </a:p>
        </p:txBody>
      </p:sp>
      <p:sp>
        <p:nvSpPr>
          <p:cNvPr id="23" name="Fase Visión 1"/>
          <p:cNvSpPr/>
          <p:nvPr/>
        </p:nvSpPr>
        <p:spPr>
          <a:xfrm>
            <a:off x="5980176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Meta 20"/>
          <p:cNvSpPr txBox="1"/>
          <p:nvPr/>
        </p:nvSpPr>
        <p:spPr>
          <a:xfrm>
            <a:off x="6163056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a proveedores</a:t>
            </a:r>
            <a:endParaRPr lang="en-US" sz="1500" dirty="0"/>
          </a:p>
        </p:txBody>
      </p:sp>
      <p:sp>
        <p:nvSpPr>
          <p:cNvPr id="25" name="Meta texto 20"/>
          <p:cNvSpPr txBox="1"/>
          <p:nvPr/>
        </p:nvSpPr>
        <p:spPr>
          <a:xfrm>
            <a:off x="6163056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Reponer mercancía desde Vento</a:t>
            </a:r>
            <a:endParaRPr lang="en-US" sz="1200" dirty="0"/>
          </a:p>
        </p:txBody>
      </p:sp>
      <p:sp>
        <p:nvSpPr>
          <p:cNvPr id="26" name="Fase Visión 2"/>
          <p:cNvSpPr/>
          <p:nvPr/>
        </p:nvSpPr>
        <p:spPr>
          <a:xfrm>
            <a:off x="5980176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Meta 21"/>
          <p:cNvSpPr txBox="1"/>
          <p:nvPr/>
        </p:nvSpPr>
        <p:spPr>
          <a:xfrm>
            <a:off x="6163056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países</a:t>
            </a:r>
            <a:endParaRPr lang="en-US" sz="1500" dirty="0"/>
          </a:p>
        </p:txBody>
      </p:sp>
      <p:sp>
        <p:nvSpPr>
          <p:cNvPr id="28" name="Meta texto 21"/>
          <p:cNvSpPr txBox="1"/>
          <p:nvPr/>
        </p:nvSpPr>
        <p:spPr>
          <a:xfrm>
            <a:off x="6163056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 Colombia a Latinoamérica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 cier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Vento trabaja por ti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Pruébalo gratis hoy en tu negocio.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4D399"/>
                </a:solidFill>
              </a:rPr>
              <a:t>WhatsApp: +57 313 895 0277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cristhianlujan45-blip.github.io/cuentas</a:t>
            </a:r>
            <a:endParaRPr lang="en-US" sz="1800" dirty="0"/>
          </a:p>
        </p:txBody>
      </p:sp>
      <p:sp>
        <p:nvSpPr>
          <p:cNvPr id="5" name="Pantalla de cuenta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6" name="Pantalla de cue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nto">
  <a:themeElements>
    <a:clrScheme name="Vento">
      <a:dk1>
        <a:srgbClr val="0F0F16"/>
      </a:dk1>
      <a:lt1>
        <a:srgbClr val="FFFFFF"/>
      </a:lt1>
      <a:dk2>
        <a:srgbClr val="1C1A2B"/>
      </a:dk2>
      <a:lt2>
        <a:srgbClr val="F2F1F7"/>
      </a:lt2>
      <a:accent1>
        <a:srgbClr val="7C3AED"/>
      </a:accent1>
      <a:accent2>
        <a:srgbClr val="C4B5FD"/>
      </a:accent2>
      <a:accent3>
        <a:srgbClr val="34D399"/>
      </a:accent3>
      <a:accent4>
        <a:srgbClr val="A78BFA"/>
      </a:accent4>
      <a:accent5>
        <a:srgbClr val="FB7185"/>
      </a:accent5>
      <a:accent6>
        <a:srgbClr val="9A97AD"/>
      </a:accent6>
      <a:hlink>
        <a:srgbClr val="C4B5FD"/>
      </a:hlink>
      <a:folHlink>
        <a:srgbClr val="A78BFA"/>
      </a:folHlink>
    </a:clrScheme>
    <a:fontScheme name="Vent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Vento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Vento — presentación comercial</dc:title>
  <dc:subject>PptxGenJS Presentation</dc:subject>
  <dc:creator>Vento</dc:creator>
  <cp:lastModifiedBy>Vento</cp:lastModifiedBy>
  <cp:revision>1</cp:revision>
  <dcterms:created xsi:type="dcterms:W3CDTF">2026-10-04T01:27:31Z</dcterms:created>
  <dcterms:modified xsi:type="dcterms:W3CDTF">2026-10-04T01:27:31Z</dcterms:modified>
</cp:coreProperties>
</file>